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instrument, not the app. AeroDex measures how Indian airfares move — daily, by route, and by how far ahead you book. Three numbers to land: the statistical machine is built and tested (148 tests), the panel is real and weighted with DGCA traffic data (60 routes, 420 strata), and the whole thing costs nothing to run. Then say the honest part up front: we do not yet hold real fare data, and slide four explains exactly why — because that is the finding, not the excuse.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beats here. First the instrument: 60 routes, 7 horizons, 3 slots a day, and standard national-statistics methodology — Jevons below, Lowe above. Second, the four properties that separate this from a scraped chart: it re-runs bit-identically, its legal position is compiled rather than promised, it publishes its own coverage and imputation share, and it costs nothing. Close on the dark strip and hand straight to slide 3. Expect the question 'where do the fares come from' — say 'slide four answers that completely'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in one sentence per stage, then stop on the amber box and the navy box — they are the same story told twice. The stack table is the answer to 'is this actually free': every row names what the choice beat and why. If there is time, run `aerodex verify` live: it recomputes an archived panel and diffs the output hash, which is the M6 guarantee in four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Read the matrix as two columns, not seven rows: horizon and automation-permitted never both say yes. That is not bad luck, it is unit economics — the middle card. The right-hand card is the ask: MoSPI performs exactly this collection today under statutory authority, and DGCA has already handed airfare data to MoSPI once. We are not asking for an exception; we are asking to operate under an authority that already exists. If pressed on the tariff-sheet experiment, the honest line is: we proposed it, we tested it against 14 archived sheets, and the data killed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MoSPI, because MoSPI owns the problem statement: the gain is frequency and granularity, plus honest disclosure of coverage. The travellers card is the one a general audience remembers — how far ahead to book, and what Diwali costs. End on the corroboration strip: we did not copy MoSPI's methodology, we converged on it, and the IMF mission recommended the exact panel shape we had already built. That is the strongest credibility line in the deck — do not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slide out. Use it as the answer sheet: point at whichever group the question came from. The one thing worth saying aloud is the italic note on the left — we reversed our own conclusions twice and left both reversals in the record. That is why the compliance position is a finding rather than a claim, and it is the part of this submission a statistics jury will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566928" y="658368"/>
            <a:ext cx="11057839" cy="274320"/>
          </a:xfrm>
          <a:prstGeom prst="rect">
            <a:avLst/>
          </a:prstGeom>
          <a:noFill/>
          <a:ln/>
        </p:spPr>
        <p:txBody>
          <a:bodyPr wrap="square" lIns="0" tIns="0" rIns="0" bIns="0" rtlCol="0" anchor="ctr"/>
          <a:lstStyle/>
          <a:p>
            <a:pPr indent="0" marL="0">
              <a:buNone/>
            </a:pPr>
            <a:r>
              <a:rPr lang="en-US" sz="1050" b="1" spc="130" kern="0" dirty="0">
                <a:solidFill>
                  <a:srgbClr val="7E93AE"/>
                </a:solidFill>
                <a:latin typeface="Calibri" pitchFamily="34" charset="0"/>
                <a:ea typeface="Calibri" pitchFamily="34" charset="-122"/>
                <a:cs typeface="Calibri" pitchFamily="34" charset="-120"/>
              </a:rPr>
              <a:t>SMART INDIA HACKATHON 2026   ·   PROBLEM STATEMENT SIH26056   ·   MINISTRY OF STATISTICS AND PROGRAMME IMPLEMENTATION</a:t>
            </a:r>
            <a:endParaRPr lang="en-US" sz="1050" dirty="0"/>
          </a:p>
        </p:txBody>
      </p:sp>
      <p:sp>
        <p:nvSpPr>
          <p:cNvPr id="3" name="Text 1"/>
          <p:cNvSpPr/>
          <p:nvPr/>
        </p:nvSpPr>
        <p:spPr>
          <a:xfrm>
            <a:off x="566928" y="1005840"/>
            <a:ext cx="7315200" cy="1097280"/>
          </a:xfrm>
          <a:prstGeom prst="rect">
            <a:avLst/>
          </a:prstGeom>
          <a:noFill/>
          <a:ln/>
        </p:spPr>
        <p:txBody>
          <a:bodyPr wrap="square" lIns="0" tIns="0" rIns="0" bIns="0" rtlCol="0" anchor="ctr"/>
          <a:lstStyle/>
          <a:p>
            <a:pPr indent="0" marL="0">
              <a:buNone/>
            </a:pPr>
            <a:r>
              <a:rPr lang="en-US" sz="6800" b="1" dirty="0">
                <a:solidFill>
                  <a:srgbClr val="FFFFFF"/>
                </a:solidFill>
                <a:latin typeface="Cambria" pitchFamily="34" charset="0"/>
                <a:ea typeface="Cambria" pitchFamily="34" charset="-122"/>
                <a:cs typeface="Cambria" pitchFamily="34" charset="-120"/>
              </a:rPr>
              <a:t>AeroDex</a:t>
            </a:r>
            <a:endParaRPr lang="en-US" sz="6800" dirty="0"/>
          </a:p>
        </p:txBody>
      </p:sp>
      <p:sp>
        <p:nvSpPr>
          <p:cNvPr id="4" name="Text 2"/>
          <p:cNvSpPr/>
          <p:nvPr/>
        </p:nvSpPr>
        <p:spPr>
          <a:xfrm>
            <a:off x="566928" y="2212848"/>
            <a:ext cx="8686800" cy="914400"/>
          </a:xfrm>
          <a:prstGeom prst="rect">
            <a:avLst/>
          </a:prstGeom>
          <a:noFill/>
          <a:ln/>
        </p:spPr>
        <p:txBody>
          <a:bodyPr wrap="square" lIns="0" tIns="0" rIns="0" bIns="0" rtlCol="0" anchor="ctr"/>
          <a:lstStyle/>
          <a:p>
            <a:pPr indent="0" marL="0">
              <a:lnSpc>
                <a:spcPts val="2700"/>
              </a:lnSpc>
              <a:buNone/>
            </a:pPr>
            <a:r>
              <a:rPr lang="en-US" sz="1900" dirty="0">
                <a:solidFill>
                  <a:srgbClr val="A9BBD3"/>
                </a:solidFill>
                <a:latin typeface="Calibri" pitchFamily="34" charset="0"/>
                <a:ea typeface="Calibri" pitchFamily="34" charset="-122"/>
                <a:cs typeface="Calibri" pitchFamily="34" charset="-120"/>
              </a:rPr>
              <a:t>A real-time airfare price index for India, built to the standard of an official statistic — reproducible by construction, compliant by design, and ₹0 to run forever.</a:t>
            </a:r>
            <a:endParaRPr lang="en-US" sz="1900" dirty="0"/>
          </a:p>
        </p:txBody>
      </p:sp>
      <p:sp>
        <p:nvSpPr>
          <p:cNvPr id="5" name="Shape 3"/>
          <p:cNvSpPr/>
          <p:nvPr/>
        </p:nvSpPr>
        <p:spPr>
          <a:xfrm>
            <a:off x="566928" y="3383280"/>
            <a:ext cx="2578608" cy="1234440"/>
          </a:xfrm>
          <a:prstGeom prst="roundRect">
            <a:avLst>
              <a:gd name="adj" fmla="val 4444"/>
            </a:avLst>
          </a:prstGeom>
          <a:solidFill>
            <a:srgbClr val="16263D"/>
          </a:solidFill>
          <a:ln w="9525">
            <a:solidFill>
              <a:srgbClr val="26384F"/>
            </a:solidFill>
            <a:prstDash val="solid"/>
          </a:ln>
        </p:spPr>
      </p:sp>
      <p:sp>
        <p:nvSpPr>
          <p:cNvPr id="6" name="Text 4"/>
          <p:cNvSpPr/>
          <p:nvPr/>
        </p:nvSpPr>
        <p:spPr>
          <a:xfrm>
            <a:off x="749808" y="3493008"/>
            <a:ext cx="2212848" cy="5029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148</a:t>
            </a:r>
            <a:endParaRPr lang="en-US" sz="3200" dirty="0"/>
          </a:p>
        </p:txBody>
      </p:sp>
      <p:sp>
        <p:nvSpPr>
          <p:cNvPr id="7" name="Text 5"/>
          <p:cNvSpPr/>
          <p:nvPr/>
        </p:nvSpPr>
        <p:spPr>
          <a:xfrm>
            <a:off x="749808" y="3995928"/>
            <a:ext cx="2240280" cy="530352"/>
          </a:xfrm>
          <a:prstGeom prst="rect">
            <a:avLst/>
          </a:prstGeom>
          <a:noFill/>
          <a:ln/>
        </p:spPr>
        <p:txBody>
          <a:bodyPr wrap="square" lIns="0" tIns="0" rIns="0" bIns="0" rtlCol="0" anchor="ctr"/>
          <a:lstStyle/>
          <a:p>
            <a:pPr indent="0" marL="0">
              <a:lnSpc>
                <a:spcPts val="1200"/>
              </a:lnSpc>
              <a:buNone/>
            </a:pPr>
            <a:r>
              <a:rPr lang="en-US" sz="900" dirty="0">
                <a:solidFill>
                  <a:srgbClr val="7E93AE"/>
                </a:solidFill>
                <a:latin typeface="Calibri" pitchFamily="34" charset="0"/>
                <a:ea typeface="Calibri" pitchFamily="34" charset="-122"/>
                <a:cs typeface="Calibri" pitchFamily="34" charset="-120"/>
              </a:rPr>
              <a:t>tests passing across engine,</a:t>
            </a:r>
            <a:endParaRPr lang="en-US" sz="900" dirty="0"/>
          </a:p>
          <a:p>
            <a:pPr indent="0" marL="0">
              <a:lnSpc>
                <a:spcPts val="1200"/>
              </a:lnSpc>
              <a:buNone/>
            </a:pPr>
            <a:r>
              <a:rPr lang="en-US" sz="900" dirty="0">
                <a:solidFill>
                  <a:srgbClr val="7E93AE"/>
                </a:solidFill>
                <a:latin typeface="Calibri" pitchFamily="34" charset="0"/>
                <a:ea typeface="Calibri" pitchFamily="34" charset="-122"/>
                <a:cs typeface="Calibri" pitchFamily="34" charset="-120"/>
              </a:rPr>
              <a:t>compliance and reproducibility</a:t>
            </a:r>
            <a:endParaRPr lang="en-US" sz="900" dirty="0"/>
          </a:p>
        </p:txBody>
      </p:sp>
      <p:sp>
        <p:nvSpPr>
          <p:cNvPr id="8" name="Shape 6"/>
          <p:cNvSpPr/>
          <p:nvPr/>
        </p:nvSpPr>
        <p:spPr>
          <a:xfrm>
            <a:off x="3351276" y="3383280"/>
            <a:ext cx="2578608" cy="1234440"/>
          </a:xfrm>
          <a:prstGeom prst="roundRect">
            <a:avLst>
              <a:gd name="adj" fmla="val 4444"/>
            </a:avLst>
          </a:prstGeom>
          <a:solidFill>
            <a:srgbClr val="16263D"/>
          </a:solidFill>
          <a:ln w="9525">
            <a:solidFill>
              <a:srgbClr val="26384F"/>
            </a:solidFill>
            <a:prstDash val="solid"/>
          </a:ln>
        </p:spPr>
      </p:sp>
      <p:sp>
        <p:nvSpPr>
          <p:cNvPr id="9" name="Text 7"/>
          <p:cNvSpPr/>
          <p:nvPr/>
        </p:nvSpPr>
        <p:spPr>
          <a:xfrm>
            <a:off x="3534156" y="3493008"/>
            <a:ext cx="2212848" cy="5029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60</a:t>
            </a:r>
            <a:endParaRPr lang="en-US" sz="3200" dirty="0"/>
          </a:p>
        </p:txBody>
      </p:sp>
      <p:sp>
        <p:nvSpPr>
          <p:cNvPr id="10" name="Text 8"/>
          <p:cNvSpPr/>
          <p:nvPr/>
        </p:nvSpPr>
        <p:spPr>
          <a:xfrm>
            <a:off x="3534156" y="3995928"/>
            <a:ext cx="2240280" cy="530352"/>
          </a:xfrm>
          <a:prstGeom prst="rect">
            <a:avLst/>
          </a:prstGeom>
          <a:noFill/>
          <a:ln/>
        </p:spPr>
        <p:txBody>
          <a:bodyPr wrap="square" lIns="0" tIns="0" rIns="0" bIns="0" rtlCol="0" anchor="ctr"/>
          <a:lstStyle/>
          <a:p>
            <a:pPr indent="0" marL="0">
              <a:lnSpc>
                <a:spcPts val="1200"/>
              </a:lnSpc>
              <a:buNone/>
            </a:pPr>
            <a:r>
              <a:rPr lang="en-US" sz="900" dirty="0">
                <a:solidFill>
                  <a:srgbClr val="7E93AE"/>
                </a:solidFill>
                <a:latin typeface="Calibri" pitchFamily="34" charset="0"/>
                <a:ea typeface="Calibri" pitchFamily="34" charset="-122"/>
                <a:cs typeface="Calibri" pitchFamily="34" charset="-120"/>
              </a:rPr>
              <a:t>routes in the panel, each weighted</a:t>
            </a:r>
            <a:endParaRPr lang="en-US" sz="900" dirty="0"/>
          </a:p>
          <a:p>
            <a:pPr indent="0" marL="0">
              <a:lnSpc>
                <a:spcPts val="1200"/>
              </a:lnSpc>
              <a:buNone/>
            </a:pPr>
            <a:r>
              <a:rPr lang="en-US" sz="900" dirty="0">
                <a:solidFill>
                  <a:srgbClr val="7E93AE"/>
                </a:solidFill>
                <a:latin typeface="Calibri" pitchFamily="34" charset="0"/>
                <a:ea typeface="Calibri" pitchFamily="34" charset="-122"/>
                <a:cs typeface="Calibri" pitchFamily="34" charset="-120"/>
              </a:rPr>
              <a:t>by DGCA passenger traffic</a:t>
            </a:r>
            <a:endParaRPr lang="en-US" sz="900" dirty="0"/>
          </a:p>
        </p:txBody>
      </p:sp>
      <p:sp>
        <p:nvSpPr>
          <p:cNvPr id="11" name="Shape 9"/>
          <p:cNvSpPr/>
          <p:nvPr/>
        </p:nvSpPr>
        <p:spPr>
          <a:xfrm>
            <a:off x="6135624" y="3383280"/>
            <a:ext cx="2578608" cy="1234440"/>
          </a:xfrm>
          <a:prstGeom prst="roundRect">
            <a:avLst>
              <a:gd name="adj" fmla="val 4444"/>
            </a:avLst>
          </a:prstGeom>
          <a:solidFill>
            <a:srgbClr val="16263D"/>
          </a:solidFill>
          <a:ln w="9525">
            <a:solidFill>
              <a:srgbClr val="26384F"/>
            </a:solidFill>
            <a:prstDash val="solid"/>
          </a:ln>
        </p:spPr>
      </p:sp>
      <p:sp>
        <p:nvSpPr>
          <p:cNvPr id="12" name="Text 10"/>
          <p:cNvSpPr/>
          <p:nvPr/>
        </p:nvSpPr>
        <p:spPr>
          <a:xfrm>
            <a:off x="6318504" y="3493008"/>
            <a:ext cx="2212848" cy="5029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100%</a:t>
            </a:r>
            <a:endParaRPr lang="en-US" sz="3200" dirty="0"/>
          </a:p>
        </p:txBody>
      </p:sp>
      <p:sp>
        <p:nvSpPr>
          <p:cNvPr id="13" name="Text 11"/>
          <p:cNvSpPr/>
          <p:nvPr/>
        </p:nvSpPr>
        <p:spPr>
          <a:xfrm>
            <a:off x="6318504" y="3995928"/>
            <a:ext cx="2240280" cy="530352"/>
          </a:xfrm>
          <a:prstGeom prst="rect">
            <a:avLst/>
          </a:prstGeom>
          <a:noFill/>
          <a:ln/>
        </p:spPr>
        <p:txBody>
          <a:bodyPr wrap="square" lIns="0" tIns="0" rIns="0" bIns="0" rtlCol="0" anchor="ctr"/>
          <a:lstStyle/>
          <a:p>
            <a:pPr indent="0" marL="0">
              <a:lnSpc>
                <a:spcPts val="1200"/>
              </a:lnSpc>
              <a:buNone/>
            </a:pPr>
            <a:r>
              <a:rPr lang="en-US" sz="900" dirty="0">
                <a:solidFill>
                  <a:srgbClr val="7E93AE"/>
                </a:solidFill>
                <a:latin typeface="Calibri" pitchFamily="34" charset="0"/>
                <a:ea typeface="Calibri" pitchFamily="34" charset="-122"/>
                <a:cs typeface="Calibri" pitchFamily="34" charset="-120"/>
              </a:rPr>
              <a:t>bit-identical index re-runs,</a:t>
            </a:r>
            <a:endParaRPr lang="en-US" sz="900" dirty="0"/>
          </a:p>
          <a:p>
            <a:pPr indent="0" marL="0">
              <a:lnSpc>
                <a:spcPts val="1200"/>
              </a:lnSpc>
              <a:buNone/>
            </a:pPr>
            <a:r>
              <a:rPr lang="en-US" sz="900" dirty="0">
                <a:solidFill>
                  <a:srgbClr val="7E93AE"/>
                </a:solidFill>
                <a:latin typeface="Calibri" pitchFamily="34" charset="0"/>
                <a:ea typeface="Calibri" pitchFamily="34" charset="-122"/>
                <a:cs typeface="Calibri" pitchFamily="34" charset="-120"/>
              </a:rPr>
              <a:t>asserted by 11 golden tests</a:t>
            </a:r>
            <a:endParaRPr lang="en-US" sz="900" dirty="0"/>
          </a:p>
        </p:txBody>
      </p:sp>
      <p:sp>
        <p:nvSpPr>
          <p:cNvPr id="14" name="Shape 12"/>
          <p:cNvSpPr/>
          <p:nvPr/>
        </p:nvSpPr>
        <p:spPr>
          <a:xfrm>
            <a:off x="8919972" y="3383280"/>
            <a:ext cx="2578608" cy="1234440"/>
          </a:xfrm>
          <a:prstGeom prst="roundRect">
            <a:avLst>
              <a:gd name="adj" fmla="val 4444"/>
            </a:avLst>
          </a:prstGeom>
          <a:solidFill>
            <a:srgbClr val="16263D"/>
          </a:solidFill>
          <a:ln w="9525">
            <a:solidFill>
              <a:srgbClr val="26384F"/>
            </a:solidFill>
            <a:prstDash val="solid"/>
          </a:ln>
        </p:spPr>
      </p:sp>
      <p:sp>
        <p:nvSpPr>
          <p:cNvPr id="15" name="Text 13"/>
          <p:cNvSpPr/>
          <p:nvPr/>
        </p:nvSpPr>
        <p:spPr>
          <a:xfrm>
            <a:off x="9102852" y="3493008"/>
            <a:ext cx="2212848" cy="5029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₹0</a:t>
            </a:r>
            <a:endParaRPr lang="en-US" sz="3200" dirty="0"/>
          </a:p>
        </p:txBody>
      </p:sp>
      <p:sp>
        <p:nvSpPr>
          <p:cNvPr id="16" name="Text 14"/>
          <p:cNvSpPr/>
          <p:nvPr/>
        </p:nvSpPr>
        <p:spPr>
          <a:xfrm>
            <a:off x="9102852" y="3995928"/>
            <a:ext cx="2240280" cy="530352"/>
          </a:xfrm>
          <a:prstGeom prst="rect">
            <a:avLst/>
          </a:prstGeom>
          <a:noFill/>
          <a:ln/>
        </p:spPr>
        <p:txBody>
          <a:bodyPr wrap="square" lIns="0" tIns="0" rIns="0" bIns="0" rtlCol="0" anchor="ctr"/>
          <a:lstStyle/>
          <a:p>
            <a:pPr indent="0" marL="0">
              <a:lnSpc>
                <a:spcPts val="1200"/>
              </a:lnSpc>
              <a:buNone/>
            </a:pPr>
            <a:r>
              <a:rPr lang="en-US" sz="900" dirty="0">
                <a:solidFill>
                  <a:srgbClr val="7E93AE"/>
                </a:solidFill>
                <a:latin typeface="Calibri" pitchFamily="34" charset="0"/>
                <a:ea typeface="Calibri" pitchFamily="34" charset="-122"/>
                <a:cs typeface="Calibri" pitchFamily="34" charset="-120"/>
              </a:rPr>
              <a:t>recurring cost — permanent</a:t>
            </a:r>
            <a:endParaRPr lang="en-US" sz="900" dirty="0"/>
          </a:p>
          <a:p>
            <a:pPr indent="0" marL="0">
              <a:lnSpc>
                <a:spcPts val="1200"/>
              </a:lnSpc>
              <a:buNone/>
            </a:pPr>
            <a:r>
              <a:rPr lang="en-US" sz="900" dirty="0">
                <a:solidFill>
                  <a:srgbClr val="7E93AE"/>
                </a:solidFill>
                <a:latin typeface="Calibri" pitchFamily="34" charset="0"/>
                <a:ea typeface="Calibri" pitchFamily="34" charset="-122"/>
                <a:cs typeface="Calibri" pitchFamily="34" charset="-120"/>
              </a:rPr>
              <a:t>free tiers only, no trials</a:t>
            </a:r>
            <a:endParaRPr lang="en-US" sz="900" dirty="0"/>
          </a:p>
        </p:txBody>
      </p:sp>
      <p:sp>
        <p:nvSpPr>
          <p:cNvPr id="17" name="Shape 15"/>
          <p:cNvSpPr/>
          <p:nvPr/>
        </p:nvSpPr>
        <p:spPr>
          <a:xfrm>
            <a:off x="566928" y="4983480"/>
            <a:ext cx="74981" cy="74981"/>
          </a:xfrm>
          <a:prstGeom prst="rect">
            <a:avLst/>
          </a:prstGeom>
          <a:solidFill>
            <a:srgbClr val="24507F"/>
          </a:solidFill>
          <a:ln/>
        </p:spPr>
      </p:sp>
      <p:sp>
        <p:nvSpPr>
          <p:cNvPr id="18" name="Shape 16"/>
          <p:cNvSpPr/>
          <p:nvPr/>
        </p:nvSpPr>
        <p:spPr>
          <a:xfrm>
            <a:off x="751271" y="4983480"/>
            <a:ext cx="74981" cy="74981"/>
          </a:xfrm>
          <a:prstGeom prst="rect">
            <a:avLst/>
          </a:prstGeom>
          <a:solidFill>
            <a:srgbClr val="24507F"/>
          </a:solidFill>
          <a:ln/>
        </p:spPr>
      </p:sp>
      <p:sp>
        <p:nvSpPr>
          <p:cNvPr id="19" name="Shape 17"/>
          <p:cNvSpPr/>
          <p:nvPr/>
        </p:nvSpPr>
        <p:spPr>
          <a:xfrm>
            <a:off x="935614" y="4983480"/>
            <a:ext cx="74981" cy="74981"/>
          </a:xfrm>
          <a:prstGeom prst="rect">
            <a:avLst/>
          </a:prstGeom>
          <a:solidFill>
            <a:srgbClr val="24507F"/>
          </a:solidFill>
          <a:ln/>
        </p:spPr>
      </p:sp>
      <p:sp>
        <p:nvSpPr>
          <p:cNvPr id="20" name="Shape 18"/>
          <p:cNvSpPr/>
          <p:nvPr/>
        </p:nvSpPr>
        <p:spPr>
          <a:xfrm>
            <a:off x="1119957" y="4983480"/>
            <a:ext cx="74981" cy="74981"/>
          </a:xfrm>
          <a:prstGeom prst="rect">
            <a:avLst/>
          </a:prstGeom>
          <a:solidFill>
            <a:srgbClr val="24507F"/>
          </a:solidFill>
          <a:ln/>
        </p:spPr>
      </p:sp>
      <p:sp>
        <p:nvSpPr>
          <p:cNvPr id="21" name="Shape 19"/>
          <p:cNvSpPr/>
          <p:nvPr/>
        </p:nvSpPr>
        <p:spPr>
          <a:xfrm>
            <a:off x="1304300" y="4983480"/>
            <a:ext cx="74981" cy="74981"/>
          </a:xfrm>
          <a:prstGeom prst="rect">
            <a:avLst/>
          </a:prstGeom>
          <a:solidFill>
            <a:srgbClr val="24507F"/>
          </a:solidFill>
          <a:ln/>
        </p:spPr>
      </p:sp>
      <p:sp>
        <p:nvSpPr>
          <p:cNvPr id="22" name="Shape 20"/>
          <p:cNvSpPr/>
          <p:nvPr/>
        </p:nvSpPr>
        <p:spPr>
          <a:xfrm>
            <a:off x="1488643" y="4983480"/>
            <a:ext cx="74981" cy="74981"/>
          </a:xfrm>
          <a:prstGeom prst="rect">
            <a:avLst/>
          </a:prstGeom>
          <a:solidFill>
            <a:srgbClr val="24507F"/>
          </a:solidFill>
          <a:ln/>
        </p:spPr>
      </p:sp>
      <p:sp>
        <p:nvSpPr>
          <p:cNvPr id="23" name="Shape 21"/>
          <p:cNvSpPr/>
          <p:nvPr/>
        </p:nvSpPr>
        <p:spPr>
          <a:xfrm>
            <a:off x="1672986" y="4983480"/>
            <a:ext cx="74981" cy="74981"/>
          </a:xfrm>
          <a:prstGeom prst="rect">
            <a:avLst/>
          </a:prstGeom>
          <a:solidFill>
            <a:srgbClr val="24507F"/>
          </a:solidFill>
          <a:ln/>
        </p:spPr>
      </p:sp>
      <p:sp>
        <p:nvSpPr>
          <p:cNvPr id="24" name="Shape 22"/>
          <p:cNvSpPr/>
          <p:nvPr/>
        </p:nvSpPr>
        <p:spPr>
          <a:xfrm>
            <a:off x="1857329" y="4983480"/>
            <a:ext cx="74981" cy="74981"/>
          </a:xfrm>
          <a:prstGeom prst="rect">
            <a:avLst/>
          </a:prstGeom>
          <a:solidFill>
            <a:srgbClr val="24507F"/>
          </a:solidFill>
          <a:ln/>
        </p:spPr>
      </p:sp>
      <p:sp>
        <p:nvSpPr>
          <p:cNvPr id="25" name="Shape 23"/>
          <p:cNvSpPr/>
          <p:nvPr/>
        </p:nvSpPr>
        <p:spPr>
          <a:xfrm>
            <a:off x="2041672" y="4983480"/>
            <a:ext cx="74981" cy="74981"/>
          </a:xfrm>
          <a:prstGeom prst="rect">
            <a:avLst/>
          </a:prstGeom>
          <a:solidFill>
            <a:srgbClr val="24507F"/>
          </a:solidFill>
          <a:ln/>
        </p:spPr>
      </p:sp>
      <p:sp>
        <p:nvSpPr>
          <p:cNvPr id="26" name="Shape 24"/>
          <p:cNvSpPr/>
          <p:nvPr/>
        </p:nvSpPr>
        <p:spPr>
          <a:xfrm>
            <a:off x="2226015" y="4983480"/>
            <a:ext cx="74981" cy="74981"/>
          </a:xfrm>
          <a:prstGeom prst="rect">
            <a:avLst/>
          </a:prstGeom>
          <a:solidFill>
            <a:srgbClr val="24507F"/>
          </a:solidFill>
          <a:ln/>
        </p:spPr>
      </p:sp>
      <p:sp>
        <p:nvSpPr>
          <p:cNvPr id="27" name="Shape 25"/>
          <p:cNvSpPr/>
          <p:nvPr/>
        </p:nvSpPr>
        <p:spPr>
          <a:xfrm>
            <a:off x="2410358" y="4983480"/>
            <a:ext cx="74981" cy="74981"/>
          </a:xfrm>
          <a:prstGeom prst="rect">
            <a:avLst/>
          </a:prstGeom>
          <a:solidFill>
            <a:srgbClr val="24507F"/>
          </a:solidFill>
          <a:ln/>
        </p:spPr>
      </p:sp>
      <p:sp>
        <p:nvSpPr>
          <p:cNvPr id="28" name="Shape 26"/>
          <p:cNvSpPr/>
          <p:nvPr/>
        </p:nvSpPr>
        <p:spPr>
          <a:xfrm>
            <a:off x="2594701" y="4983480"/>
            <a:ext cx="74981" cy="74981"/>
          </a:xfrm>
          <a:prstGeom prst="rect">
            <a:avLst/>
          </a:prstGeom>
          <a:solidFill>
            <a:srgbClr val="24507F"/>
          </a:solidFill>
          <a:ln/>
        </p:spPr>
      </p:sp>
      <p:sp>
        <p:nvSpPr>
          <p:cNvPr id="29" name="Shape 27"/>
          <p:cNvSpPr/>
          <p:nvPr/>
        </p:nvSpPr>
        <p:spPr>
          <a:xfrm>
            <a:off x="2779044" y="4983480"/>
            <a:ext cx="74981" cy="74981"/>
          </a:xfrm>
          <a:prstGeom prst="rect">
            <a:avLst/>
          </a:prstGeom>
          <a:solidFill>
            <a:srgbClr val="24507F"/>
          </a:solidFill>
          <a:ln/>
        </p:spPr>
      </p:sp>
      <p:sp>
        <p:nvSpPr>
          <p:cNvPr id="30" name="Shape 28"/>
          <p:cNvSpPr/>
          <p:nvPr/>
        </p:nvSpPr>
        <p:spPr>
          <a:xfrm>
            <a:off x="2963388" y="4983480"/>
            <a:ext cx="74981" cy="74981"/>
          </a:xfrm>
          <a:prstGeom prst="rect">
            <a:avLst/>
          </a:prstGeom>
          <a:solidFill>
            <a:srgbClr val="24507F"/>
          </a:solidFill>
          <a:ln/>
        </p:spPr>
      </p:sp>
      <p:sp>
        <p:nvSpPr>
          <p:cNvPr id="31" name="Shape 29"/>
          <p:cNvSpPr/>
          <p:nvPr/>
        </p:nvSpPr>
        <p:spPr>
          <a:xfrm>
            <a:off x="3147731" y="4983480"/>
            <a:ext cx="74981" cy="74981"/>
          </a:xfrm>
          <a:prstGeom prst="rect">
            <a:avLst/>
          </a:prstGeom>
          <a:solidFill>
            <a:srgbClr val="24507F"/>
          </a:solidFill>
          <a:ln/>
        </p:spPr>
      </p:sp>
      <p:sp>
        <p:nvSpPr>
          <p:cNvPr id="32" name="Shape 30"/>
          <p:cNvSpPr/>
          <p:nvPr/>
        </p:nvSpPr>
        <p:spPr>
          <a:xfrm>
            <a:off x="3332074" y="4983480"/>
            <a:ext cx="74981" cy="74981"/>
          </a:xfrm>
          <a:prstGeom prst="rect">
            <a:avLst/>
          </a:prstGeom>
          <a:solidFill>
            <a:srgbClr val="24507F"/>
          </a:solidFill>
          <a:ln/>
        </p:spPr>
      </p:sp>
      <p:sp>
        <p:nvSpPr>
          <p:cNvPr id="33" name="Shape 31"/>
          <p:cNvSpPr/>
          <p:nvPr/>
        </p:nvSpPr>
        <p:spPr>
          <a:xfrm>
            <a:off x="3516417" y="4983480"/>
            <a:ext cx="74981" cy="74981"/>
          </a:xfrm>
          <a:prstGeom prst="rect">
            <a:avLst/>
          </a:prstGeom>
          <a:solidFill>
            <a:srgbClr val="24507F"/>
          </a:solidFill>
          <a:ln/>
        </p:spPr>
      </p:sp>
      <p:sp>
        <p:nvSpPr>
          <p:cNvPr id="34" name="Shape 32"/>
          <p:cNvSpPr/>
          <p:nvPr/>
        </p:nvSpPr>
        <p:spPr>
          <a:xfrm>
            <a:off x="3700760" y="4983480"/>
            <a:ext cx="74981" cy="74981"/>
          </a:xfrm>
          <a:prstGeom prst="rect">
            <a:avLst/>
          </a:prstGeom>
          <a:solidFill>
            <a:srgbClr val="24507F"/>
          </a:solidFill>
          <a:ln/>
        </p:spPr>
      </p:sp>
      <p:sp>
        <p:nvSpPr>
          <p:cNvPr id="35" name="Shape 33"/>
          <p:cNvSpPr/>
          <p:nvPr/>
        </p:nvSpPr>
        <p:spPr>
          <a:xfrm>
            <a:off x="3885103" y="4983480"/>
            <a:ext cx="74981" cy="74981"/>
          </a:xfrm>
          <a:prstGeom prst="rect">
            <a:avLst/>
          </a:prstGeom>
          <a:solidFill>
            <a:srgbClr val="24507F"/>
          </a:solidFill>
          <a:ln/>
        </p:spPr>
      </p:sp>
      <p:sp>
        <p:nvSpPr>
          <p:cNvPr id="36" name="Shape 34"/>
          <p:cNvSpPr/>
          <p:nvPr/>
        </p:nvSpPr>
        <p:spPr>
          <a:xfrm>
            <a:off x="4069446" y="4983480"/>
            <a:ext cx="74981" cy="74981"/>
          </a:xfrm>
          <a:prstGeom prst="rect">
            <a:avLst/>
          </a:prstGeom>
          <a:solidFill>
            <a:srgbClr val="24507F"/>
          </a:solidFill>
          <a:ln/>
        </p:spPr>
      </p:sp>
      <p:sp>
        <p:nvSpPr>
          <p:cNvPr id="37" name="Shape 35"/>
          <p:cNvSpPr/>
          <p:nvPr/>
        </p:nvSpPr>
        <p:spPr>
          <a:xfrm>
            <a:off x="4253789" y="4983480"/>
            <a:ext cx="74981" cy="74981"/>
          </a:xfrm>
          <a:prstGeom prst="rect">
            <a:avLst/>
          </a:prstGeom>
          <a:solidFill>
            <a:srgbClr val="24507F"/>
          </a:solidFill>
          <a:ln/>
        </p:spPr>
      </p:sp>
      <p:sp>
        <p:nvSpPr>
          <p:cNvPr id="38" name="Shape 36"/>
          <p:cNvSpPr/>
          <p:nvPr/>
        </p:nvSpPr>
        <p:spPr>
          <a:xfrm>
            <a:off x="4438132" y="4983480"/>
            <a:ext cx="74981" cy="74981"/>
          </a:xfrm>
          <a:prstGeom prst="rect">
            <a:avLst/>
          </a:prstGeom>
          <a:solidFill>
            <a:srgbClr val="24507F"/>
          </a:solidFill>
          <a:ln/>
        </p:spPr>
      </p:sp>
      <p:sp>
        <p:nvSpPr>
          <p:cNvPr id="39" name="Shape 37"/>
          <p:cNvSpPr/>
          <p:nvPr/>
        </p:nvSpPr>
        <p:spPr>
          <a:xfrm>
            <a:off x="4622475" y="4983480"/>
            <a:ext cx="74981" cy="74981"/>
          </a:xfrm>
          <a:prstGeom prst="rect">
            <a:avLst/>
          </a:prstGeom>
          <a:solidFill>
            <a:srgbClr val="24507F"/>
          </a:solidFill>
          <a:ln/>
        </p:spPr>
      </p:sp>
      <p:sp>
        <p:nvSpPr>
          <p:cNvPr id="40" name="Shape 38"/>
          <p:cNvSpPr/>
          <p:nvPr/>
        </p:nvSpPr>
        <p:spPr>
          <a:xfrm>
            <a:off x="4806818" y="4983480"/>
            <a:ext cx="74981" cy="74981"/>
          </a:xfrm>
          <a:prstGeom prst="rect">
            <a:avLst/>
          </a:prstGeom>
          <a:solidFill>
            <a:srgbClr val="24507F"/>
          </a:solidFill>
          <a:ln/>
        </p:spPr>
      </p:sp>
      <p:sp>
        <p:nvSpPr>
          <p:cNvPr id="41" name="Shape 39"/>
          <p:cNvSpPr/>
          <p:nvPr/>
        </p:nvSpPr>
        <p:spPr>
          <a:xfrm>
            <a:off x="4991161" y="4983480"/>
            <a:ext cx="74981" cy="74981"/>
          </a:xfrm>
          <a:prstGeom prst="rect">
            <a:avLst/>
          </a:prstGeom>
          <a:solidFill>
            <a:srgbClr val="24507F"/>
          </a:solidFill>
          <a:ln/>
        </p:spPr>
      </p:sp>
      <p:sp>
        <p:nvSpPr>
          <p:cNvPr id="42" name="Shape 40"/>
          <p:cNvSpPr/>
          <p:nvPr/>
        </p:nvSpPr>
        <p:spPr>
          <a:xfrm>
            <a:off x="5175504" y="4983480"/>
            <a:ext cx="74981" cy="74981"/>
          </a:xfrm>
          <a:prstGeom prst="rect">
            <a:avLst/>
          </a:prstGeom>
          <a:solidFill>
            <a:srgbClr val="24507F"/>
          </a:solidFill>
          <a:ln/>
        </p:spPr>
      </p:sp>
      <p:sp>
        <p:nvSpPr>
          <p:cNvPr id="43" name="Shape 41"/>
          <p:cNvSpPr/>
          <p:nvPr/>
        </p:nvSpPr>
        <p:spPr>
          <a:xfrm>
            <a:off x="5359847" y="4983480"/>
            <a:ext cx="74981" cy="74981"/>
          </a:xfrm>
          <a:prstGeom prst="rect">
            <a:avLst/>
          </a:prstGeom>
          <a:solidFill>
            <a:srgbClr val="24507F"/>
          </a:solidFill>
          <a:ln/>
        </p:spPr>
      </p:sp>
      <p:sp>
        <p:nvSpPr>
          <p:cNvPr id="44" name="Shape 42"/>
          <p:cNvSpPr/>
          <p:nvPr/>
        </p:nvSpPr>
        <p:spPr>
          <a:xfrm>
            <a:off x="5544190" y="4983480"/>
            <a:ext cx="74981" cy="74981"/>
          </a:xfrm>
          <a:prstGeom prst="rect">
            <a:avLst/>
          </a:prstGeom>
          <a:solidFill>
            <a:srgbClr val="24507F"/>
          </a:solidFill>
          <a:ln/>
        </p:spPr>
      </p:sp>
      <p:sp>
        <p:nvSpPr>
          <p:cNvPr id="45" name="Shape 43"/>
          <p:cNvSpPr/>
          <p:nvPr/>
        </p:nvSpPr>
        <p:spPr>
          <a:xfrm>
            <a:off x="5728533" y="4983480"/>
            <a:ext cx="74981" cy="74981"/>
          </a:xfrm>
          <a:prstGeom prst="rect">
            <a:avLst/>
          </a:prstGeom>
          <a:solidFill>
            <a:srgbClr val="24507F"/>
          </a:solidFill>
          <a:ln/>
        </p:spPr>
      </p:sp>
      <p:sp>
        <p:nvSpPr>
          <p:cNvPr id="46" name="Shape 44"/>
          <p:cNvSpPr/>
          <p:nvPr/>
        </p:nvSpPr>
        <p:spPr>
          <a:xfrm>
            <a:off x="5912876" y="4983480"/>
            <a:ext cx="74981" cy="74981"/>
          </a:xfrm>
          <a:prstGeom prst="rect">
            <a:avLst/>
          </a:prstGeom>
          <a:solidFill>
            <a:srgbClr val="24507F"/>
          </a:solidFill>
          <a:ln/>
        </p:spPr>
      </p:sp>
      <p:sp>
        <p:nvSpPr>
          <p:cNvPr id="47" name="Shape 45"/>
          <p:cNvSpPr/>
          <p:nvPr/>
        </p:nvSpPr>
        <p:spPr>
          <a:xfrm>
            <a:off x="6097219" y="4983480"/>
            <a:ext cx="74981" cy="74981"/>
          </a:xfrm>
          <a:prstGeom prst="rect">
            <a:avLst/>
          </a:prstGeom>
          <a:solidFill>
            <a:srgbClr val="24507F"/>
          </a:solidFill>
          <a:ln/>
        </p:spPr>
      </p:sp>
      <p:sp>
        <p:nvSpPr>
          <p:cNvPr id="48" name="Shape 46"/>
          <p:cNvSpPr/>
          <p:nvPr/>
        </p:nvSpPr>
        <p:spPr>
          <a:xfrm>
            <a:off x="6281562" y="4983480"/>
            <a:ext cx="74981" cy="74981"/>
          </a:xfrm>
          <a:prstGeom prst="rect">
            <a:avLst/>
          </a:prstGeom>
          <a:solidFill>
            <a:srgbClr val="24507F"/>
          </a:solidFill>
          <a:ln/>
        </p:spPr>
      </p:sp>
      <p:sp>
        <p:nvSpPr>
          <p:cNvPr id="49" name="Shape 47"/>
          <p:cNvSpPr/>
          <p:nvPr/>
        </p:nvSpPr>
        <p:spPr>
          <a:xfrm>
            <a:off x="6465905" y="4983480"/>
            <a:ext cx="74981" cy="74981"/>
          </a:xfrm>
          <a:prstGeom prst="rect">
            <a:avLst/>
          </a:prstGeom>
          <a:solidFill>
            <a:srgbClr val="24507F"/>
          </a:solidFill>
          <a:ln/>
        </p:spPr>
      </p:sp>
      <p:sp>
        <p:nvSpPr>
          <p:cNvPr id="50" name="Shape 48"/>
          <p:cNvSpPr/>
          <p:nvPr/>
        </p:nvSpPr>
        <p:spPr>
          <a:xfrm>
            <a:off x="6650248" y="4983480"/>
            <a:ext cx="74981" cy="74981"/>
          </a:xfrm>
          <a:prstGeom prst="rect">
            <a:avLst/>
          </a:prstGeom>
          <a:solidFill>
            <a:srgbClr val="24507F"/>
          </a:solidFill>
          <a:ln/>
        </p:spPr>
      </p:sp>
      <p:sp>
        <p:nvSpPr>
          <p:cNvPr id="51" name="Shape 49"/>
          <p:cNvSpPr/>
          <p:nvPr/>
        </p:nvSpPr>
        <p:spPr>
          <a:xfrm>
            <a:off x="6834591" y="4983480"/>
            <a:ext cx="74981" cy="74981"/>
          </a:xfrm>
          <a:prstGeom prst="rect">
            <a:avLst/>
          </a:prstGeom>
          <a:solidFill>
            <a:srgbClr val="24507F"/>
          </a:solidFill>
          <a:ln/>
        </p:spPr>
      </p:sp>
      <p:sp>
        <p:nvSpPr>
          <p:cNvPr id="52" name="Shape 50"/>
          <p:cNvSpPr/>
          <p:nvPr/>
        </p:nvSpPr>
        <p:spPr>
          <a:xfrm>
            <a:off x="7018934" y="4983480"/>
            <a:ext cx="74981" cy="74981"/>
          </a:xfrm>
          <a:prstGeom prst="rect">
            <a:avLst/>
          </a:prstGeom>
          <a:solidFill>
            <a:srgbClr val="24507F"/>
          </a:solidFill>
          <a:ln/>
        </p:spPr>
      </p:sp>
      <p:sp>
        <p:nvSpPr>
          <p:cNvPr id="53" name="Shape 51"/>
          <p:cNvSpPr/>
          <p:nvPr/>
        </p:nvSpPr>
        <p:spPr>
          <a:xfrm>
            <a:off x="7203277" y="4983480"/>
            <a:ext cx="74981" cy="74981"/>
          </a:xfrm>
          <a:prstGeom prst="rect">
            <a:avLst/>
          </a:prstGeom>
          <a:solidFill>
            <a:srgbClr val="24507F"/>
          </a:solidFill>
          <a:ln/>
        </p:spPr>
      </p:sp>
      <p:sp>
        <p:nvSpPr>
          <p:cNvPr id="54" name="Shape 52"/>
          <p:cNvSpPr/>
          <p:nvPr/>
        </p:nvSpPr>
        <p:spPr>
          <a:xfrm>
            <a:off x="7387620" y="4983480"/>
            <a:ext cx="74981" cy="74981"/>
          </a:xfrm>
          <a:prstGeom prst="rect">
            <a:avLst/>
          </a:prstGeom>
          <a:solidFill>
            <a:srgbClr val="24507F"/>
          </a:solidFill>
          <a:ln/>
        </p:spPr>
      </p:sp>
      <p:sp>
        <p:nvSpPr>
          <p:cNvPr id="55" name="Shape 53"/>
          <p:cNvSpPr/>
          <p:nvPr/>
        </p:nvSpPr>
        <p:spPr>
          <a:xfrm>
            <a:off x="7571964" y="4983480"/>
            <a:ext cx="74981" cy="74981"/>
          </a:xfrm>
          <a:prstGeom prst="rect">
            <a:avLst/>
          </a:prstGeom>
          <a:solidFill>
            <a:srgbClr val="24507F"/>
          </a:solidFill>
          <a:ln/>
        </p:spPr>
      </p:sp>
      <p:sp>
        <p:nvSpPr>
          <p:cNvPr id="56" name="Shape 54"/>
          <p:cNvSpPr/>
          <p:nvPr/>
        </p:nvSpPr>
        <p:spPr>
          <a:xfrm>
            <a:off x="7756307" y="4983480"/>
            <a:ext cx="74981" cy="74981"/>
          </a:xfrm>
          <a:prstGeom prst="rect">
            <a:avLst/>
          </a:prstGeom>
          <a:solidFill>
            <a:srgbClr val="24507F"/>
          </a:solidFill>
          <a:ln/>
        </p:spPr>
      </p:sp>
      <p:sp>
        <p:nvSpPr>
          <p:cNvPr id="57" name="Shape 55"/>
          <p:cNvSpPr/>
          <p:nvPr/>
        </p:nvSpPr>
        <p:spPr>
          <a:xfrm>
            <a:off x="7940650" y="4983480"/>
            <a:ext cx="74981" cy="74981"/>
          </a:xfrm>
          <a:prstGeom prst="rect">
            <a:avLst/>
          </a:prstGeom>
          <a:solidFill>
            <a:srgbClr val="24507F"/>
          </a:solidFill>
          <a:ln/>
        </p:spPr>
      </p:sp>
      <p:sp>
        <p:nvSpPr>
          <p:cNvPr id="58" name="Shape 56"/>
          <p:cNvSpPr/>
          <p:nvPr/>
        </p:nvSpPr>
        <p:spPr>
          <a:xfrm>
            <a:off x="8124993" y="4983480"/>
            <a:ext cx="74981" cy="74981"/>
          </a:xfrm>
          <a:prstGeom prst="rect">
            <a:avLst/>
          </a:prstGeom>
          <a:solidFill>
            <a:srgbClr val="24507F"/>
          </a:solidFill>
          <a:ln/>
        </p:spPr>
      </p:sp>
      <p:sp>
        <p:nvSpPr>
          <p:cNvPr id="59" name="Shape 57"/>
          <p:cNvSpPr/>
          <p:nvPr/>
        </p:nvSpPr>
        <p:spPr>
          <a:xfrm>
            <a:off x="8309336" y="4983480"/>
            <a:ext cx="74981" cy="74981"/>
          </a:xfrm>
          <a:prstGeom prst="rect">
            <a:avLst/>
          </a:prstGeom>
          <a:solidFill>
            <a:srgbClr val="24507F"/>
          </a:solidFill>
          <a:ln/>
        </p:spPr>
      </p:sp>
      <p:sp>
        <p:nvSpPr>
          <p:cNvPr id="60" name="Shape 58"/>
          <p:cNvSpPr/>
          <p:nvPr/>
        </p:nvSpPr>
        <p:spPr>
          <a:xfrm>
            <a:off x="8493679" y="4983480"/>
            <a:ext cx="74981" cy="74981"/>
          </a:xfrm>
          <a:prstGeom prst="rect">
            <a:avLst/>
          </a:prstGeom>
          <a:solidFill>
            <a:srgbClr val="24507F"/>
          </a:solidFill>
          <a:ln/>
        </p:spPr>
      </p:sp>
      <p:sp>
        <p:nvSpPr>
          <p:cNvPr id="61" name="Shape 59"/>
          <p:cNvSpPr/>
          <p:nvPr/>
        </p:nvSpPr>
        <p:spPr>
          <a:xfrm>
            <a:off x="8678022" y="4983480"/>
            <a:ext cx="74981" cy="74981"/>
          </a:xfrm>
          <a:prstGeom prst="rect">
            <a:avLst/>
          </a:prstGeom>
          <a:solidFill>
            <a:srgbClr val="24507F"/>
          </a:solidFill>
          <a:ln/>
        </p:spPr>
      </p:sp>
      <p:sp>
        <p:nvSpPr>
          <p:cNvPr id="62" name="Shape 60"/>
          <p:cNvSpPr/>
          <p:nvPr/>
        </p:nvSpPr>
        <p:spPr>
          <a:xfrm>
            <a:off x="8862365" y="4983480"/>
            <a:ext cx="74981" cy="74981"/>
          </a:xfrm>
          <a:prstGeom prst="rect">
            <a:avLst/>
          </a:prstGeom>
          <a:solidFill>
            <a:srgbClr val="24507F"/>
          </a:solidFill>
          <a:ln/>
        </p:spPr>
      </p:sp>
      <p:sp>
        <p:nvSpPr>
          <p:cNvPr id="63" name="Shape 61"/>
          <p:cNvSpPr/>
          <p:nvPr/>
        </p:nvSpPr>
        <p:spPr>
          <a:xfrm>
            <a:off x="9046708" y="4983480"/>
            <a:ext cx="74981" cy="74981"/>
          </a:xfrm>
          <a:prstGeom prst="rect">
            <a:avLst/>
          </a:prstGeom>
          <a:solidFill>
            <a:srgbClr val="24507F"/>
          </a:solidFill>
          <a:ln/>
        </p:spPr>
      </p:sp>
      <p:sp>
        <p:nvSpPr>
          <p:cNvPr id="64" name="Shape 62"/>
          <p:cNvSpPr/>
          <p:nvPr/>
        </p:nvSpPr>
        <p:spPr>
          <a:xfrm>
            <a:off x="9231051" y="4983480"/>
            <a:ext cx="74981" cy="74981"/>
          </a:xfrm>
          <a:prstGeom prst="rect">
            <a:avLst/>
          </a:prstGeom>
          <a:solidFill>
            <a:srgbClr val="24507F"/>
          </a:solidFill>
          <a:ln/>
        </p:spPr>
      </p:sp>
      <p:sp>
        <p:nvSpPr>
          <p:cNvPr id="65" name="Shape 63"/>
          <p:cNvSpPr/>
          <p:nvPr/>
        </p:nvSpPr>
        <p:spPr>
          <a:xfrm>
            <a:off x="9415394" y="4983480"/>
            <a:ext cx="74981" cy="74981"/>
          </a:xfrm>
          <a:prstGeom prst="rect">
            <a:avLst/>
          </a:prstGeom>
          <a:solidFill>
            <a:srgbClr val="24507F"/>
          </a:solidFill>
          <a:ln/>
        </p:spPr>
      </p:sp>
      <p:sp>
        <p:nvSpPr>
          <p:cNvPr id="66" name="Shape 64"/>
          <p:cNvSpPr/>
          <p:nvPr/>
        </p:nvSpPr>
        <p:spPr>
          <a:xfrm>
            <a:off x="9599737" y="4983480"/>
            <a:ext cx="74981" cy="74981"/>
          </a:xfrm>
          <a:prstGeom prst="rect">
            <a:avLst/>
          </a:prstGeom>
          <a:solidFill>
            <a:srgbClr val="24507F"/>
          </a:solidFill>
          <a:ln/>
        </p:spPr>
      </p:sp>
      <p:sp>
        <p:nvSpPr>
          <p:cNvPr id="67" name="Shape 65"/>
          <p:cNvSpPr/>
          <p:nvPr/>
        </p:nvSpPr>
        <p:spPr>
          <a:xfrm>
            <a:off x="9784080" y="4983480"/>
            <a:ext cx="74981" cy="74981"/>
          </a:xfrm>
          <a:prstGeom prst="rect">
            <a:avLst/>
          </a:prstGeom>
          <a:solidFill>
            <a:srgbClr val="24507F"/>
          </a:solidFill>
          <a:ln/>
        </p:spPr>
      </p:sp>
      <p:sp>
        <p:nvSpPr>
          <p:cNvPr id="68" name="Shape 66"/>
          <p:cNvSpPr/>
          <p:nvPr/>
        </p:nvSpPr>
        <p:spPr>
          <a:xfrm>
            <a:off x="9968423" y="4983480"/>
            <a:ext cx="74981" cy="74981"/>
          </a:xfrm>
          <a:prstGeom prst="rect">
            <a:avLst/>
          </a:prstGeom>
          <a:solidFill>
            <a:srgbClr val="24507F"/>
          </a:solidFill>
          <a:ln/>
        </p:spPr>
      </p:sp>
      <p:sp>
        <p:nvSpPr>
          <p:cNvPr id="69" name="Shape 67"/>
          <p:cNvSpPr/>
          <p:nvPr/>
        </p:nvSpPr>
        <p:spPr>
          <a:xfrm>
            <a:off x="10152766" y="4983480"/>
            <a:ext cx="74981" cy="74981"/>
          </a:xfrm>
          <a:prstGeom prst="rect">
            <a:avLst/>
          </a:prstGeom>
          <a:solidFill>
            <a:srgbClr val="24507F"/>
          </a:solidFill>
          <a:ln/>
        </p:spPr>
      </p:sp>
      <p:sp>
        <p:nvSpPr>
          <p:cNvPr id="70" name="Shape 68"/>
          <p:cNvSpPr/>
          <p:nvPr/>
        </p:nvSpPr>
        <p:spPr>
          <a:xfrm>
            <a:off x="10337109" y="4983480"/>
            <a:ext cx="74981" cy="74981"/>
          </a:xfrm>
          <a:prstGeom prst="rect">
            <a:avLst/>
          </a:prstGeom>
          <a:solidFill>
            <a:srgbClr val="24507F"/>
          </a:solidFill>
          <a:ln/>
        </p:spPr>
      </p:sp>
      <p:sp>
        <p:nvSpPr>
          <p:cNvPr id="71" name="Shape 69"/>
          <p:cNvSpPr/>
          <p:nvPr/>
        </p:nvSpPr>
        <p:spPr>
          <a:xfrm>
            <a:off x="10521452" y="4983480"/>
            <a:ext cx="74981" cy="74981"/>
          </a:xfrm>
          <a:prstGeom prst="rect">
            <a:avLst/>
          </a:prstGeom>
          <a:solidFill>
            <a:srgbClr val="24507F"/>
          </a:solidFill>
          <a:ln/>
        </p:spPr>
      </p:sp>
      <p:sp>
        <p:nvSpPr>
          <p:cNvPr id="72" name="Shape 70"/>
          <p:cNvSpPr/>
          <p:nvPr/>
        </p:nvSpPr>
        <p:spPr>
          <a:xfrm>
            <a:off x="10705795" y="4983480"/>
            <a:ext cx="74981" cy="74981"/>
          </a:xfrm>
          <a:prstGeom prst="rect">
            <a:avLst/>
          </a:prstGeom>
          <a:solidFill>
            <a:srgbClr val="24507F"/>
          </a:solidFill>
          <a:ln/>
        </p:spPr>
      </p:sp>
      <p:sp>
        <p:nvSpPr>
          <p:cNvPr id="73" name="Shape 71"/>
          <p:cNvSpPr/>
          <p:nvPr/>
        </p:nvSpPr>
        <p:spPr>
          <a:xfrm>
            <a:off x="10890138" y="4983480"/>
            <a:ext cx="74981" cy="74981"/>
          </a:xfrm>
          <a:prstGeom prst="rect">
            <a:avLst/>
          </a:prstGeom>
          <a:solidFill>
            <a:srgbClr val="24507F"/>
          </a:solidFill>
          <a:ln/>
        </p:spPr>
      </p:sp>
      <p:sp>
        <p:nvSpPr>
          <p:cNvPr id="74" name="Shape 72"/>
          <p:cNvSpPr/>
          <p:nvPr/>
        </p:nvSpPr>
        <p:spPr>
          <a:xfrm>
            <a:off x="11074481" y="4983480"/>
            <a:ext cx="74981" cy="74981"/>
          </a:xfrm>
          <a:prstGeom prst="rect">
            <a:avLst/>
          </a:prstGeom>
          <a:solidFill>
            <a:srgbClr val="24507F"/>
          </a:solidFill>
          <a:ln/>
        </p:spPr>
      </p:sp>
      <p:sp>
        <p:nvSpPr>
          <p:cNvPr id="75" name="Shape 73"/>
          <p:cNvSpPr/>
          <p:nvPr/>
        </p:nvSpPr>
        <p:spPr>
          <a:xfrm>
            <a:off x="11258824" y="4983480"/>
            <a:ext cx="74981" cy="74981"/>
          </a:xfrm>
          <a:prstGeom prst="rect">
            <a:avLst/>
          </a:prstGeom>
          <a:solidFill>
            <a:srgbClr val="24507F"/>
          </a:solidFill>
          <a:ln/>
        </p:spPr>
      </p:sp>
      <p:sp>
        <p:nvSpPr>
          <p:cNvPr id="76" name="Shape 74"/>
          <p:cNvSpPr/>
          <p:nvPr/>
        </p:nvSpPr>
        <p:spPr>
          <a:xfrm>
            <a:off x="11443167" y="4983480"/>
            <a:ext cx="74981" cy="74981"/>
          </a:xfrm>
          <a:prstGeom prst="rect">
            <a:avLst/>
          </a:prstGeom>
          <a:solidFill>
            <a:srgbClr val="24507F"/>
          </a:solidFill>
          <a:ln/>
        </p:spPr>
      </p:sp>
      <p:sp>
        <p:nvSpPr>
          <p:cNvPr id="77" name="Shape 75"/>
          <p:cNvSpPr/>
          <p:nvPr/>
        </p:nvSpPr>
        <p:spPr>
          <a:xfrm>
            <a:off x="566928" y="5100523"/>
            <a:ext cx="74981" cy="74981"/>
          </a:xfrm>
          <a:prstGeom prst="rect">
            <a:avLst/>
          </a:prstGeom>
          <a:solidFill>
            <a:srgbClr val="2A5789"/>
          </a:solidFill>
          <a:ln/>
        </p:spPr>
      </p:sp>
      <p:sp>
        <p:nvSpPr>
          <p:cNvPr id="78" name="Shape 76"/>
          <p:cNvSpPr/>
          <p:nvPr/>
        </p:nvSpPr>
        <p:spPr>
          <a:xfrm>
            <a:off x="751271" y="5100523"/>
            <a:ext cx="74981" cy="74981"/>
          </a:xfrm>
          <a:prstGeom prst="rect">
            <a:avLst/>
          </a:prstGeom>
          <a:solidFill>
            <a:srgbClr val="2A5789"/>
          </a:solidFill>
          <a:ln/>
        </p:spPr>
      </p:sp>
      <p:sp>
        <p:nvSpPr>
          <p:cNvPr id="79" name="Shape 77"/>
          <p:cNvSpPr/>
          <p:nvPr/>
        </p:nvSpPr>
        <p:spPr>
          <a:xfrm>
            <a:off x="935614" y="5100523"/>
            <a:ext cx="74981" cy="74981"/>
          </a:xfrm>
          <a:prstGeom prst="rect">
            <a:avLst/>
          </a:prstGeom>
          <a:solidFill>
            <a:srgbClr val="2A5789"/>
          </a:solidFill>
          <a:ln/>
        </p:spPr>
      </p:sp>
      <p:sp>
        <p:nvSpPr>
          <p:cNvPr id="80" name="Shape 78"/>
          <p:cNvSpPr/>
          <p:nvPr/>
        </p:nvSpPr>
        <p:spPr>
          <a:xfrm>
            <a:off x="1119957" y="5100523"/>
            <a:ext cx="74981" cy="74981"/>
          </a:xfrm>
          <a:prstGeom prst="rect">
            <a:avLst/>
          </a:prstGeom>
          <a:solidFill>
            <a:srgbClr val="2A5789"/>
          </a:solidFill>
          <a:ln/>
        </p:spPr>
      </p:sp>
      <p:sp>
        <p:nvSpPr>
          <p:cNvPr id="81" name="Shape 79"/>
          <p:cNvSpPr/>
          <p:nvPr/>
        </p:nvSpPr>
        <p:spPr>
          <a:xfrm>
            <a:off x="1304300" y="5100523"/>
            <a:ext cx="74981" cy="74981"/>
          </a:xfrm>
          <a:prstGeom prst="rect">
            <a:avLst/>
          </a:prstGeom>
          <a:solidFill>
            <a:srgbClr val="2A5789"/>
          </a:solidFill>
          <a:ln/>
        </p:spPr>
      </p:sp>
      <p:sp>
        <p:nvSpPr>
          <p:cNvPr id="82" name="Shape 80"/>
          <p:cNvSpPr/>
          <p:nvPr/>
        </p:nvSpPr>
        <p:spPr>
          <a:xfrm>
            <a:off x="1488643" y="5100523"/>
            <a:ext cx="74981" cy="74981"/>
          </a:xfrm>
          <a:prstGeom prst="rect">
            <a:avLst/>
          </a:prstGeom>
          <a:solidFill>
            <a:srgbClr val="2A5789"/>
          </a:solidFill>
          <a:ln/>
        </p:spPr>
      </p:sp>
      <p:sp>
        <p:nvSpPr>
          <p:cNvPr id="83" name="Shape 81"/>
          <p:cNvSpPr/>
          <p:nvPr/>
        </p:nvSpPr>
        <p:spPr>
          <a:xfrm>
            <a:off x="1672986" y="5100523"/>
            <a:ext cx="74981" cy="74981"/>
          </a:xfrm>
          <a:prstGeom prst="rect">
            <a:avLst/>
          </a:prstGeom>
          <a:solidFill>
            <a:srgbClr val="2A5789"/>
          </a:solidFill>
          <a:ln/>
        </p:spPr>
      </p:sp>
      <p:sp>
        <p:nvSpPr>
          <p:cNvPr id="84" name="Shape 82"/>
          <p:cNvSpPr/>
          <p:nvPr/>
        </p:nvSpPr>
        <p:spPr>
          <a:xfrm>
            <a:off x="1857329" y="5100523"/>
            <a:ext cx="74981" cy="74981"/>
          </a:xfrm>
          <a:prstGeom prst="rect">
            <a:avLst/>
          </a:prstGeom>
          <a:solidFill>
            <a:srgbClr val="2A5789"/>
          </a:solidFill>
          <a:ln/>
        </p:spPr>
      </p:sp>
      <p:sp>
        <p:nvSpPr>
          <p:cNvPr id="85" name="Shape 83"/>
          <p:cNvSpPr/>
          <p:nvPr/>
        </p:nvSpPr>
        <p:spPr>
          <a:xfrm>
            <a:off x="2041672" y="5100523"/>
            <a:ext cx="74981" cy="74981"/>
          </a:xfrm>
          <a:prstGeom prst="rect">
            <a:avLst/>
          </a:prstGeom>
          <a:solidFill>
            <a:srgbClr val="2A5789"/>
          </a:solidFill>
          <a:ln/>
        </p:spPr>
      </p:sp>
      <p:sp>
        <p:nvSpPr>
          <p:cNvPr id="86" name="Shape 84"/>
          <p:cNvSpPr/>
          <p:nvPr/>
        </p:nvSpPr>
        <p:spPr>
          <a:xfrm>
            <a:off x="2226015" y="5100523"/>
            <a:ext cx="74981" cy="74981"/>
          </a:xfrm>
          <a:prstGeom prst="rect">
            <a:avLst/>
          </a:prstGeom>
          <a:solidFill>
            <a:srgbClr val="2A5789"/>
          </a:solidFill>
          <a:ln/>
        </p:spPr>
      </p:sp>
      <p:sp>
        <p:nvSpPr>
          <p:cNvPr id="87" name="Shape 85"/>
          <p:cNvSpPr/>
          <p:nvPr/>
        </p:nvSpPr>
        <p:spPr>
          <a:xfrm>
            <a:off x="2410358" y="5100523"/>
            <a:ext cx="74981" cy="74981"/>
          </a:xfrm>
          <a:prstGeom prst="rect">
            <a:avLst/>
          </a:prstGeom>
          <a:solidFill>
            <a:srgbClr val="2A5789"/>
          </a:solidFill>
          <a:ln/>
        </p:spPr>
      </p:sp>
      <p:sp>
        <p:nvSpPr>
          <p:cNvPr id="88" name="Shape 86"/>
          <p:cNvSpPr/>
          <p:nvPr/>
        </p:nvSpPr>
        <p:spPr>
          <a:xfrm>
            <a:off x="2594701" y="5100523"/>
            <a:ext cx="74981" cy="74981"/>
          </a:xfrm>
          <a:prstGeom prst="rect">
            <a:avLst/>
          </a:prstGeom>
          <a:solidFill>
            <a:srgbClr val="2A5789"/>
          </a:solidFill>
          <a:ln/>
        </p:spPr>
      </p:sp>
      <p:sp>
        <p:nvSpPr>
          <p:cNvPr id="89" name="Shape 87"/>
          <p:cNvSpPr/>
          <p:nvPr/>
        </p:nvSpPr>
        <p:spPr>
          <a:xfrm>
            <a:off x="2779044" y="5100523"/>
            <a:ext cx="74981" cy="74981"/>
          </a:xfrm>
          <a:prstGeom prst="rect">
            <a:avLst/>
          </a:prstGeom>
          <a:solidFill>
            <a:srgbClr val="2A5789"/>
          </a:solidFill>
          <a:ln/>
        </p:spPr>
      </p:sp>
      <p:sp>
        <p:nvSpPr>
          <p:cNvPr id="90" name="Shape 88"/>
          <p:cNvSpPr/>
          <p:nvPr/>
        </p:nvSpPr>
        <p:spPr>
          <a:xfrm>
            <a:off x="2963388" y="5100523"/>
            <a:ext cx="74981" cy="74981"/>
          </a:xfrm>
          <a:prstGeom prst="rect">
            <a:avLst/>
          </a:prstGeom>
          <a:solidFill>
            <a:srgbClr val="2A5789"/>
          </a:solidFill>
          <a:ln/>
        </p:spPr>
      </p:sp>
      <p:sp>
        <p:nvSpPr>
          <p:cNvPr id="91" name="Shape 89"/>
          <p:cNvSpPr/>
          <p:nvPr/>
        </p:nvSpPr>
        <p:spPr>
          <a:xfrm>
            <a:off x="3147731" y="5100523"/>
            <a:ext cx="74981" cy="74981"/>
          </a:xfrm>
          <a:prstGeom prst="rect">
            <a:avLst/>
          </a:prstGeom>
          <a:solidFill>
            <a:srgbClr val="2A5789"/>
          </a:solidFill>
          <a:ln/>
        </p:spPr>
      </p:sp>
      <p:sp>
        <p:nvSpPr>
          <p:cNvPr id="92" name="Shape 90"/>
          <p:cNvSpPr/>
          <p:nvPr/>
        </p:nvSpPr>
        <p:spPr>
          <a:xfrm>
            <a:off x="3332074" y="5100523"/>
            <a:ext cx="74981" cy="74981"/>
          </a:xfrm>
          <a:prstGeom prst="rect">
            <a:avLst/>
          </a:prstGeom>
          <a:solidFill>
            <a:srgbClr val="2A5789"/>
          </a:solidFill>
          <a:ln/>
        </p:spPr>
      </p:sp>
      <p:sp>
        <p:nvSpPr>
          <p:cNvPr id="93" name="Shape 91"/>
          <p:cNvSpPr/>
          <p:nvPr/>
        </p:nvSpPr>
        <p:spPr>
          <a:xfrm>
            <a:off x="3516417" y="5100523"/>
            <a:ext cx="74981" cy="74981"/>
          </a:xfrm>
          <a:prstGeom prst="rect">
            <a:avLst/>
          </a:prstGeom>
          <a:solidFill>
            <a:srgbClr val="2A5789"/>
          </a:solidFill>
          <a:ln/>
        </p:spPr>
      </p:sp>
      <p:sp>
        <p:nvSpPr>
          <p:cNvPr id="94" name="Shape 92"/>
          <p:cNvSpPr/>
          <p:nvPr/>
        </p:nvSpPr>
        <p:spPr>
          <a:xfrm>
            <a:off x="3700760" y="5100523"/>
            <a:ext cx="74981" cy="74981"/>
          </a:xfrm>
          <a:prstGeom prst="rect">
            <a:avLst/>
          </a:prstGeom>
          <a:solidFill>
            <a:srgbClr val="2A5789"/>
          </a:solidFill>
          <a:ln/>
        </p:spPr>
      </p:sp>
      <p:sp>
        <p:nvSpPr>
          <p:cNvPr id="95" name="Shape 93"/>
          <p:cNvSpPr/>
          <p:nvPr/>
        </p:nvSpPr>
        <p:spPr>
          <a:xfrm>
            <a:off x="3885103" y="5100523"/>
            <a:ext cx="74981" cy="74981"/>
          </a:xfrm>
          <a:prstGeom prst="rect">
            <a:avLst/>
          </a:prstGeom>
          <a:solidFill>
            <a:srgbClr val="2A5789"/>
          </a:solidFill>
          <a:ln/>
        </p:spPr>
      </p:sp>
      <p:sp>
        <p:nvSpPr>
          <p:cNvPr id="96" name="Shape 94"/>
          <p:cNvSpPr/>
          <p:nvPr/>
        </p:nvSpPr>
        <p:spPr>
          <a:xfrm>
            <a:off x="4069446" y="5100523"/>
            <a:ext cx="74981" cy="74981"/>
          </a:xfrm>
          <a:prstGeom prst="rect">
            <a:avLst/>
          </a:prstGeom>
          <a:solidFill>
            <a:srgbClr val="2A5789"/>
          </a:solidFill>
          <a:ln/>
        </p:spPr>
      </p:sp>
      <p:sp>
        <p:nvSpPr>
          <p:cNvPr id="97" name="Shape 95"/>
          <p:cNvSpPr/>
          <p:nvPr/>
        </p:nvSpPr>
        <p:spPr>
          <a:xfrm>
            <a:off x="4253789" y="5100523"/>
            <a:ext cx="74981" cy="74981"/>
          </a:xfrm>
          <a:prstGeom prst="rect">
            <a:avLst/>
          </a:prstGeom>
          <a:solidFill>
            <a:srgbClr val="2A5789"/>
          </a:solidFill>
          <a:ln/>
        </p:spPr>
      </p:sp>
      <p:sp>
        <p:nvSpPr>
          <p:cNvPr id="98" name="Shape 96"/>
          <p:cNvSpPr/>
          <p:nvPr/>
        </p:nvSpPr>
        <p:spPr>
          <a:xfrm>
            <a:off x="4438132" y="5100523"/>
            <a:ext cx="74981" cy="74981"/>
          </a:xfrm>
          <a:prstGeom prst="rect">
            <a:avLst/>
          </a:prstGeom>
          <a:solidFill>
            <a:srgbClr val="2A5789"/>
          </a:solidFill>
          <a:ln/>
        </p:spPr>
      </p:sp>
      <p:sp>
        <p:nvSpPr>
          <p:cNvPr id="99" name="Shape 97"/>
          <p:cNvSpPr/>
          <p:nvPr/>
        </p:nvSpPr>
        <p:spPr>
          <a:xfrm>
            <a:off x="4622475" y="5100523"/>
            <a:ext cx="74981" cy="74981"/>
          </a:xfrm>
          <a:prstGeom prst="rect">
            <a:avLst/>
          </a:prstGeom>
          <a:solidFill>
            <a:srgbClr val="2A5789"/>
          </a:solidFill>
          <a:ln/>
        </p:spPr>
      </p:sp>
      <p:sp>
        <p:nvSpPr>
          <p:cNvPr id="100" name="Shape 98"/>
          <p:cNvSpPr/>
          <p:nvPr/>
        </p:nvSpPr>
        <p:spPr>
          <a:xfrm>
            <a:off x="4806818" y="5100523"/>
            <a:ext cx="74981" cy="74981"/>
          </a:xfrm>
          <a:prstGeom prst="rect">
            <a:avLst/>
          </a:prstGeom>
          <a:solidFill>
            <a:srgbClr val="2A5789"/>
          </a:solidFill>
          <a:ln/>
        </p:spPr>
      </p:sp>
      <p:sp>
        <p:nvSpPr>
          <p:cNvPr id="101" name="Shape 99"/>
          <p:cNvSpPr/>
          <p:nvPr/>
        </p:nvSpPr>
        <p:spPr>
          <a:xfrm>
            <a:off x="4991161" y="5100523"/>
            <a:ext cx="74981" cy="74981"/>
          </a:xfrm>
          <a:prstGeom prst="rect">
            <a:avLst/>
          </a:prstGeom>
          <a:solidFill>
            <a:srgbClr val="2A5789"/>
          </a:solidFill>
          <a:ln/>
        </p:spPr>
      </p:sp>
      <p:sp>
        <p:nvSpPr>
          <p:cNvPr id="102" name="Shape 100"/>
          <p:cNvSpPr/>
          <p:nvPr/>
        </p:nvSpPr>
        <p:spPr>
          <a:xfrm>
            <a:off x="5175504" y="5100523"/>
            <a:ext cx="74981" cy="74981"/>
          </a:xfrm>
          <a:prstGeom prst="rect">
            <a:avLst/>
          </a:prstGeom>
          <a:solidFill>
            <a:srgbClr val="2A5789"/>
          </a:solidFill>
          <a:ln/>
        </p:spPr>
      </p:sp>
      <p:sp>
        <p:nvSpPr>
          <p:cNvPr id="103" name="Shape 101"/>
          <p:cNvSpPr/>
          <p:nvPr/>
        </p:nvSpPr>
        <p:spPr>
          <a:xfrm>
            <a:off x="5359847" y="5100523"/>
            <a:ext cx="74981" cy="74981"/>
          </a:xfrm>
          <a:prstGeom prst="rect">
            <a:avLst/>
          </a:prstGeom>
          <a:solidFill>
            <a:srgbClr val="2A5789"/>
          </a:solidFill>
          <a:ln/>
        </p:spPr>
      </p:sp>
      <p:sp>
        <p:nvSpPr>
          <p:cNvPr id="104" name="Shape 102"/>
          <p:cNvSpPr/>
          <p:nvPr/>
        </p:nvSpPr>
        <p:spPr>
          <a:xfrm>
            <a:off x="5544190" y="5100523"/>
            <a:ext cx="74981" cy="74981"/>
          </a:xfrm>
          <a:prstGeom prst="rect">
            <a:avLst/>
          </a:prstGeom>
          <a:solidFill>
            <a:srgbClr val="2A5789"/>
          </a:solidFill>
          <a:ln/>
        </p:spPr>
      </p:sp>
      <p:sp>
        <p:nvSpPr>
          <p:cNvPr id="105" name="Shape 103"/>
          <p:cNvSpPr/>
          <p:nvPr/>
        </p:nvSpPr>
        <p:spPr>
          <a:xfrm>
            <a:off x="5728533" y="5100523"/>
            <a:ext cx="74981" cy="74981"/>
          </a:xfrm>
          <a:prstGeom prst="rect">
            <a:avLst/>
          </a:prstGeom>
          <a:solidFill>
            <a:srgbClr val="2A5789"/>
          </a:solidFill>
          <a:ln/>
        </p:spPr>
      </p:sp>
      <p:sp>
        <p:nvSpPr>
          <p:cNvPr id="106" name="Shape 104"/>
          <p:cNvSpPr/>
          <p:nvPr/>
        </p:nvSpPr>
        <p:spPr>
          <a:xfrm>
            <a:off x="5912876" y="5100523"/>
            <a:ext cx="74981" cy="74981"/>
          </a:xfrm>
          <a:prstGeom prst="rect">
            <a:avLst/>
          </a:prstGeom>
          <a:solidFill>
            <a:srgbClr val="2A5789"/>
          </a:solidFill>
          <a:ln/>
        </p:spPr>
      </p:sp>
      <p:sp>
        <p:nvSpPr>
          <p:cNvPr id="107" name="Shape 105"/>
          <p:cNvSpPr/>
          <p:nvPr/>
        </p:nvSpPr>
        <p:spPr>
          <a:xfrm>
            <a:off x="6097219" y="5100523"/>
            <a:ext cx="74981" cy="74981"/>
          </a:xfrm>
          <a:prstGeom prst="rect">
            <a:avLst/>
          </a:prstGeom>
          <a:solidFill>
            <a:srgbClr val="2A5789"/>
          </a:solidFill>
          <a:ln/>
        </p:spPr>
      </p:sp>
      <p:sp>
        <p:nvSpPr>
          <p:cNvPr id="108" name="Shape 106"/>
          <p:cNvSpPr/>
          <p:nvPr/>
        </p:nvSpPr>
        <p:spPr>
          <a:xfrm>
            <a:off x="6281562" y="5100523"/>
            <a:ext cx="74981" cy="74981"/>
          </a:xfrm>
          <a:prstGeom prst="rect">
            <a:avLst/>
          </a:prstGeom>
          <a:solidFill>
            <a:srgbClr val="2A5789"/>
          </a:solidFill>
          <a:ln/>
        </p:spPr>
      </p:sp>
      <p:sp>
        <p:nvSpPr>
          <p:cNvPr id="109" name="Shape 107"/>
          <p:cNvSpPr/>
          <p:nvPr/>
        </p:nvSpPr>
        <p:spPr>
          <a:xfrm>
            <a:off x="6465905" y="5100523"/>
            <a:ext cx="74981" cy="74981"/>
          </a:xfrm>
          <a:prstGeom prst="rect">
            <a:avLst/>
          </a:prstGeom>
          <a:solidFill>
            <a:srgbClr val="2A5789"/>
          </a:solidFill>
          <a:ln/>
        </p:spPr>
      </p:sp>
      <p:sp>
        <p:nvSpPr>
          <p:cNvPr id="110" name="Shape 108"/>
          <p:cNvSpPr/>
          <p:nvPr/>
        </p:nvSpPr>
        <p:spPr>
          <a:xfrm>
            <a:off x="6650248" y="5100523"/>
            <a:ext cx="74981" cy="74981"/>
          </a:xfrm>
          <a:prstGeom prst="rect">
            <a:avLst/>
          </a:prstGeom>
          <a:solidFill>
            <a:srgbClr val="2A5789"/>
          </a:solidFill>
          <a:ln/>
        </p:spPr>
      </p:sp>
      <p:sp>
        <p:nvSpPr>
          <p:cNvPr id="111" name="Shape 109"/>
          <p:cNvSpPr/>
          <p:nvPr/>
        </p:nvSpPr>
        <p:spPr>
          <a:xfrm>
            <a:off x="6834591" y="5100523"/>
            <a:ext cx="74981" cy="74981"/>
          </a:xfrm>
          <a:prstGeom prst="rect">
            <a:avLst/>
          </a:prstGeom>
          <a:solidFill>
            <a:srgbClr val="2A5789"/>
          </a:solidFill>
          <a:ln/>
        </p:spPr>
      </p:sp>
      <p:sp>
        <p:nvSpPr>
          <p:cNvPr id="112" name="Shape 110"/>
          <p:cNvSpPr/>
          <p:nvPr/>
        </p:nvSpPr>
        <p:spPr>
          <a:xfrm>
            <a:off x="7018934" y="5100523"/>
            <a:ext cx="74981" cy="74981"/>
          </a:xfrm>
          <a:prstGeom prst="rect">
            <a:avLst/>
          </a:prstGeom>
          <a:solidFill>
            <a:srgbClr val="2A5789"/>
          </a:solidFill>
          <a:ln/>
        </p:spPr>
      </p:sp>
      <p:sp>
        <p:nvSpPr>
          <p:cNvPr id="113" name="Shape 111"/>
          <p:cNvSpPr/>
          <p:nvPr/>
        </p:nvSpPr>
        <p:spPr>
          <a:xfrm>
            <a:off x="7203277" y="5100523"/>
            <a:ext cx="74981" cy="74981"/>
          </a:xfrm>
          <a:prstGeom prst="rect">
            <a:avLst/>
          </a:prstGeom>
          <a:solidFill>
            <a:srgbClr val="2A5789"/>
          </a:solidFill>
          <a:ln/>
        </p:spPr>
      </p:sp>
      <p:sp>
        <p:nvSpPr>
          <p:cNvPr id="114" name="Shape 112"/>
          <p:cNvSpPr/>
          <p:nvPr/>
        </p:nvSpPr>
        <p:spPr>
          <a:xfrm>
            <a:off x="7387620" y="5100523"/>
            <a:ext cx="74981" cy="74981"/>
          </a:xfrm>
          <a:prstGeom prst="rect">
            <a:avLst/>
          </a:prstGeom>
          <a:solidFill>
            <a:srgbClr val="2A5789"/>
          </a:solidFill>
          <a:ln/>
        </p:spPr>
      </p:sp>
      <p:sp>
        <p:nvSpPr>
          <p:cNvPr id="115" name="Shape 113"/>
          <p:cNvSpPr/>
          <p:nvPr/>
        </p:nvSpPr>
        <p:spPr>
          <a:xfrm>
            <a:off x="7571964" y="5100523"/>
            <a:ext cx="74981" cy="74981"/>
          </a:xfrm>
          <a:prstGeom prst="rect">
            <a:avLst/>
          </a:prstGeom>
          <a:solidFill>
            <a:srgbClr val="2A5789"/>
          </a:solidFill>
          <a:ln/>
        </p:spPr>
      </p:sp>
      <p:sp>
        <p:nvSpPr>
          <p:cNvPr id="116" name="Shape 114"/>
          <p:cNvSpPr/>
          <p:nvPr/>
        </p:nvSpPr>
        <p:spPr>
          <a:xfrm>
            <a:off x="7756307" y="5100523"/>
            <a:ext cx="74981" cy="74981"/>
          </a:xfrm>
          <a:prstGeom prst="rect">
            <a:avLst/>
          </a:prstGeom>
          <a:solidFill>
            <a:srgbClr val="2A5789"/>
          </a:solidFill>
          <a:ln/>
        </p:spPr>
      </p:sp>
      <p:sp>
        <p:nvSpPr>
          <p:cNvPr id="117" name="Shape 115"/>
          <p:cNvSpPr/>
          <p:nvPr/>
        </p:nvSpPr>
        <p:spPr>
          <a:xfrm>
            <a:off x="7940650" y="5100523"/>
            <a:ext cx="74981" cy="74981"/>
          </a:xfrm>
          <a:prstGeom prst="rect">
            <a:avLst/>
          </a:prstGeom>
          <a:solidFill>
            <a:srgbClr val="2A5789"/>
          </a:solidFill>
          <a:ln/>
        </p:spPr>
      </p:sp>
      <p:sp>
        <p:nvSpPr>
          <p:cNvPr id="118" name="Shape 116"/>
          <p:cNvSpPr/>
          <p:nvPr/>
        </p:nvSpPr>
        <p:spPr>
          <a:xfrm>
            <a:off x="8124993" y="5100523"/>
            <a:ext cx="74981" cy="74981"/>
          </a:xfrm>
          <a:prstGeom prst="rect">
            <a:avLst/>
          </a:prstGeom>
          <a:solidFill>
            <a:srgbClr val="2A5789"/>
          </a:solidFill>
          <a:ln/>
        </p:spPr>
      </p:sp>
      <p:sp>
        <p:nvSpPr>
          <p:cNvPr id="119" name="Shape 117"/>
          <p:cNvSpPr/>
          <p:nvPr/>
        </p:nvSpPr>
        <p:spPr>
          <a:xfrm>
            <a:off x="8309336" y="5100523"/>
            <a:ext cx="74981" cy="74981"/>
          </a:xfrm>
          <a:prstGeom prst="rect">
            <a:avLst/>
          </a:prstGeom>
          <a:solidFill>
            <a:srgbClr val="2A5789"/>
          </a:solidFill>
          <a:ln/>
        </p:spPr>
      </p:sp>
      <p:sp>
        <p:nvSpPr>
          <p:cNvPr id="120" name="Shape 118"/>
          <p:cNvSpPr/>
          <p:nvPr/>
        </p:nvSpPr>
        <p:spPr>
          <a:xfrm>
            <a:off x="8493679" y="5100523"/>
            <a:ext cx="74981" cy="74981"/>
          </a:xfrm>
          <a:prstGeom prst="rect">
            <a:avLst/>
          </a:prstGeom>
          <a:solidFill>
            <a:srgbClr val="2A5789"/>
          </a:solidFill>
          <a:ln/>
        </p:spPr>
      </p:sp>
      <p:sp>
        <p:nvSpPr>
          <p:cNvPr id="121" name="Shape 119"/>
          <p:cNvSpPr/>
          <p:nvPr/>
        </p:nvSpPr>
        <p:spPr>
          <a:xfrm>
            <a:off x="8678022" y="5100523"/>
            <a:ext cx="74981" cy="74981"/>
          </a:xfrm>
          <a:prstGeom prst="rect">
            <a:avLst/>
          </a:prstGeom>
          <a:solidFill>
            <a:srgbClr val="2A5789"/>
          </a:solidFill>
          <a:ln/>
        </p:spPr>
      </p:sp>
      <p:sp>
        <p:nvSpPr>
          <p:cNvPr id="122" name="Shape 120"/>
          <p:cNvSpPr/>
          <p:nvPr/>
        </p:nvSpPr>
        <p:spPr>
          <a:xfrm>
            <a:off x="8862365" y="5100523"/>
            <a:ext cx="74981" cy="74981"/>
          </a:xfrm>
          <a:prstGeom prst="rect">
            <a:avLst/>
          </a:prstGeom>
          <a:solidFill>
            <a:srgbClr val="2A5789"/>
          </a:solidFill>
          <a:ln/>
        </p:spPr>
      </p:sp>
      <p:sp>
        <p:nvSpPr>
          <p:cNvPr id="123" name="Shape 121"/>
          <p:cNvSpPr/>
          <p:nvPr/>
        </p:nvSpPr>
        <p:spPr>
          <a:xfrm>
            <a:off x="9046708" y="5100523"/>
            <a:ext cx="74981" cy="74981"/>
          </a:xfrm>
          <a:prstGeom prst="rect">
            <a:avLst/>
          </a:prstGeom>
          <a:solidFill>
            <a:srgbClr val="2A5789"/>
          </a:solidFill>
          <a:ln/>
        </p:spPr>
      </p:sp>
      <p:sp>
        <p:nvSpPr>
          <p:cNvPr id="124" name="Shape 122"/>
          <p:cNvSpPr/>
          <p:nvPr/>
        </p:nvSpPr>
        <p:spPr>
          <a:xfrm>
            <a:off x="9231051" y="5100523"/>
            <a:ext cx="74981" cy="74981"/>
          </a:xfrm>
          <a:prstGeom prst="rect">
            <a:avLst/>
          </a:prstGeom>
          <a:solidFill>
            <a:srgbClr val="2A5789"/>
          </a:solidFill>
          <a:ln/>
        </p:spPr>
      </p:sp>
      <p:sp>
        <p:nvSpPr>
          <p:cNvPr id="125" name="Shape 123"/>
          <p:cNvSpPr/>
          <p:nvPr/>
        </p:nvSpPr>
        <p:spPr>
          <a:xfrm>
            <a:off x="9415394" y="5100523"/>
            <a:ext cx="74981" cy="74981"/>
          </a:xfrm>
          <a:prstGeom prst="rect">
            <a:avLst/>
          </a:prstGeom>
          <a:solidFill>
            <a:srgbClr val="2A5789"/>
          </a:solidFill>
          <a:ln/>
        </p:spPr>
      </p:sp>
      <p:sp>
        <p:nvSpPr>
          <p:cNvPr id="126" name="Shape 124"/>
          <p:cNvSpPr/>
          <p:nvPr/>
        </p:nvSpPr>
        <p:spPr>
          <a:xfrm>
            <a:off x="9599737" y="5100523"/>
            <a:ext cx="74981" cy="74981"/>
          </a:xfrm>
          <a:prstGeom prst="rect">
            <a:avLst/>
          </a:prstGeom>
          <a:solidFill>
            <a:srgbClr val="2A5789"/>
          </a:solidFill>
          <a:ln/>
        </p:spPr>
      </p:sp>
      <p:sp>
        <p:nvSpPr>
          <p:cNvPr id="127" name="Shape 125"/>
          <p:cNvSpPr/>
          <p:nvPr/>
        </p:nvSpPr>
        <p:spPr>
          <a:xfrm>
            <a:off x="9784080" y="5100523"/>
            <a:ext cx="74981" cy="74981"/>
          </a:xfrm>
          <a:prstGeom prst="rect">
            <a:avLst/>
          </a:prstGeom>
          <a:solidFill>
            <a:srgbClr val="2A5789"/>
          </a:solidFill>
          <a:ln/>
        </p:spPr>
      </p:sp>
      <p:sp>
        <p:nvSpPr>
          <p:cNvPr id="128" name="Shape 126"/>
          <p:cNvSpPr/>
          <p:nvPr/>
        </p:nvSpPr>
        <p:spPr>
          <a:xfrm>
            <a:off x="9968423" y="5100523"/>
            <a:ext cx="74981" cy="74981"/>
          </a:xfrm>
          <a:prstGeom prst="rect">
            <a:avLst/>
          </a:prstGeom>
          <a:solidFill>
            <a:srgbClr val="2A5789"/>
          </a:solidFill>
          <a:ln/>
        </p:spPr>
      </p:sp>
      <p:sp>
        <p:nvSpPr>
          <p:cNvPr id="129" name="Shape 127"/>
          <p:cNvSpPr/>
          <p:nvPr/>
        </p:nvSpPr>
        <p:spPr>
          <a:xfrm>
            <a:off x="10152766" y="5100523"/>
            <a:ext cx="74981" cy="74981"/>
          </a:xfrm>
          <a:prstGeom prst="rect">
            <a:avLst/>
          </a:prstGeom>
          <a:solidFill>
            <a:srgbClr val="2A5789"/>
          </a:solidFill>
          <a:ln/>
        </p:spPr>
      </p:sp>
      <p:sp>
        <p:nvSpPr>
          <p:cNvPr id="130" name="Shape 128"/>
          <p:cNvSpPr/>
          <p:nvPr/>
        </p:nvSpPr>
        <p:spPr>
          <a:xfrm>
            <a:off x="10337109" y="5100523"/>
            <a:ext cx="74981" cy="74981"/>
          </a:xfrm>
          <a:prstGeom prst="rect">
            <a:avLst/>
          </a:prstGeom>
          <a:solidFill>
            <a:srgbClr val="2A5789"/>
          </a:solidFill>
          <a:ln/>
        </p:spPr>
      </p:sp>
      <p:sp>
        <p:nvSpPr>
          <p:cNvPr id="131" name="Shape 129"/>
          <p:cNvSpPr/>
          <p:nvPr/>
        </p:nvSpPr>
        <p:spPr>
          <a:xfrm>
            <a:off x="10521452" y="5100523"/>
            <a:ext cx="74981" cy="74981"/>
          </a:xfrm>
          <a:prstGeom prst="rect">
            <a:avLst/>
          </a:prstGeom>
          <a:solidFill>
            <a:srgbClr val="2A5789"/>
          </a:solidFill>
          <a:ln/>
        </p:spPr>
      </p:sp>
      <p:sp>
        <p:nvSpPr>
          <p:cNvPr id="132" name="Shape 130"/>
          <p:cNvSpPr/>
          <p:nvPr/>
        </p:nvSpPr>
        <p:spPr>
          <a:xfrm>
            <a:off x="10705795" y="5100523"/>
            <a:ext cx="74981" cy="74981"/>
          </a:xfrm>
          <a:prstGeom prst="rect">
            <a:avLst/>
          </a:prstGeom>
          <a:solidFill>
            <a:srgbClr val="2A5789"/>
          </a:solidFill>
          <a:ln/>
        </p:spPr>
      </p:sp>
      <p:sp>
        <p:nvSpPr>
          <p:cNvPr id="133" name="Shape 131"/>
          <p:cNvSpPr/>
          <p:nvPr/>
        </p:nvSpPr>
        <p:spPr>
          <a:xfrm>
            <a:off x="10890138" y="5100523"/>
            <a:ext cx="74981" cy="74981"/>
          </a:xfrm>
          <a:prstGeom prst="rect">
            <a:avLst/>
          </a:prstGeom>
          <a:solidFill>
            <a:srgbClr val="2A5789"/>
          </a:solidFill>
          <a:ln/>
        </p:spPr>
      </p:sp>
      <p:sp>
        <p:nvSpPr>
          <p:cNvPr id="134" name="Shape 132"/>
          <p:cNvSpPr/>
          <p:nvPr/>
        </p:nvSpPr>
        <p:spPr>
          <a:xfrm>
            <a:off x="11074481" y="5100523"/>
            <a:ext cx="74981" cy="74981"/>
          </a:xfrm>
          <a:prstGeom prst="rect">
            <a:avLst/>
          </a:prstGeom>
          <a:solidFill>
            <a:srgbClr val="2A5789"/>
          </a:solidFill>
          <a:ln/>
        </p:spPr>
      </p:sp>
      <p:sp>
        <p:nvSpPr>
          <p:cNvPr id="135" name="Shape 133"/>
          <p:cNvSpPr/>
          <p:nvPr/>
        </p:nvSpPr>
        <p:spPr>
          <a:xfrm>
            <a:off x="11258824" y="5100523"/>
            <a:ext cx="74981" cy="74981"/>
          </a:xfrm>
          <a:prstGeom prst="rect">
            <a:avLst/>
          </a:prstGeom>
          <a:solidFill>
            <a:srgbClr val="2A5789"/>
          </a:solidFill>
          <a:ln/>
        </p:spPr>
      </p:sp>
      <p:sp>
        <p:nvSpPr>
          <p:cNvPr id="136" name="Shape 134"/>
          <p:cNvSpPr/>
          <p:nvPr/>
        </p:nvSpPr>
        <p:spPr>
          <a:xfrm>
            <a:off x="11443167" y="5100523"/>
            <a:ext cx="74981" cy="74981"/>
          </a:xfrm>
          <a:prstGeom prst="rect">
            <a:avLst/>
          </a:prstGeom>
          <a:solidFill>
            <a:srgbClr val="2A5789"/>
          </a:solidFill>
          <a:ln/>
        </p:spPr>
      </p:sp>
      <p:sp>
        <p:nvSpPr>
          <p:cNvPr id="137" name="Shape 135"/>
          <p:cNvSpPr/>
          <p:nvPr/>
        </p:nvSpPr>
        <p:spPr>
          <a:xfrm>
            <a:off x="566928" y="5217566"/>
            <a:ext cx="74981" cy="74981"/>
          </a:xfrm>
          <a:prstGeom prst="rect">
            <a:avLst/>
          </a:prstGeom>
          <a:solidFill>
            <a:srgbClr val="305F94"/>
          </a:solidFill>
          <a:ln/>
        </p:spPr>
      </p:sp>
      <p:sp>
        <p:nvSpPr>
          <p:cNvPr id="138" name="Shape 136"/>
          <p:cNvSpPr/>
          <p:nvPr/>
        </p:nvSpPr>
        <p:spPr>
          <a:xfrm>
            <a:off x="751271" y="5217566"/>
            <a:ext cx="74981" cy="74981"/>
          </a:xfrm>
          <a:prstGeom prst="rect">
            <a:avLst/>
          </a:prstGeom>
          <a:solidFill>
            <a:srgbClr val="305F94"/>
          </a:solidFill>
          <a:ln/>
        </p:spPr>
      </p:sp>
      <p:sp>
        <p:nvSpPr>
          <p:cNvPr id="139" name="Shape 137"/>
          <p:cNvSpPr/>
          <p:nvPr/>
        </p:nvSpPr>
        <p:spPr>
          <a:xfrm>
            <a:off x="935614" y="5217566"/>
            <a:ext cx="74981" cy="74981"/>
          </a:xfrm>
          <a:prstGeom prst="rect">
            <a:avLst/>
          </a:prstGeom>
          <a:solidFill>
            <a:srgbClr val="305F94"/>
          </a:solidFill>
          <a:ln/>
        </p:spPr>
      </p:sp>
      <p:sp>
        <p:nvSpPr>
          <p:cNvPr id="140" name="Shape 138"/>
          <p:cNvSpPr/>
          <p:nvPr/>
        </p:nvSpPr>
        <p:spPr>
          <a:xfrm>
            <a:off x="1119957" y="5217566"/>
            <a:ext cx="74981" cy="74981"/>
          </a:xfrm>
          <a:prstGeom prst="rect">
            <a:avLst/>
          </a:prstGeom>
          <a:solidFill>
            <a:srgbClr val="305F94"/>
          </a:solidFill>
          <a:ln/>
        </p:spPr>
      </p:sp>
      <p:sp>
        <p:nvSpPr>
          <p:cNvPr id="141" name="Shape 139"/>
          <p:cNvSpPr/>
          <p:nvPr/>
        </p:nvSpPr>
        <p:spPr>
          <a:xfrm>
            <a:off x="1304300" y="5217566"/>
            <a:ext cx="74981" cy="74981"/>
          </a:xfrm>
          <a:prstGeom prst="rect">
            <a:avLst/>
          </a:prstGeom>
          <a:solidFill>
            <a:srgbClr val="305F94"/>
          </a:solidFill>
          <a:ln/>
        </p:spPr>
      </p:sp>
      <p:sp>
        <p:nvSpPr>
          <p:cNvPr id="142" name="Shape 140"/>
          <p:cNvSpPr/>
          <p:nvPr/>
        </p:nvSpPr>
        <p:spPr>
          <a:xfrm>
            <a:off x="1488643" y="5217566"/>
            <a:ext cx="74981" cy="74981"/>
          </a:xfrm>
          <a:prstGeom prst="rect">
            <a:avLst/>
          </a:prstGeom>
          <a:solidFill>
            <a:srgbClr val="305F94"/>
          </a:solidFill>
          <a:ln/>
        </p:spPr>
      </p:sp>
      <p:sp>
        <p:nvSpPr>
          <p:cNvPr id="143" name="Shape 141"/>
          <p:cNvSpPr/>
          <p:nvPr/>
        </p:nvSpPr>
        <p:spPr>
          <a:xfrm>
            <a:off x="1672986" y="5217566"/>
            <a:ext cx="74981" cy="74981"/>
          </a:xfrm>
          <a:prstGeom prst="rect">
            <a:avLst/>
          </a:prstGeom>
          <a:solidFill>
            <a:srgbClr val="305F94"/>
          </a:solidFill>
          <a:ln/>
        </p:spPr>
      </p:sp>
      <p:sp>
        <p:nvSpPr>
          <p:cNvPr id="144" name="Shape 142"/>
          <p:cNvSpPr/>
          <p:nvPr/>
        </p:nvSpPr>
        <p:spPr>
          <a:xfrm>
            <a:off x="1857329" y="5217566"/>
            <a:ext cx="74981" cy="74981"/>
          </a:xfrm>
          <a:prstGeom prst="rect">
            <a:avLst/>
          </a:prstGeom>
          <a:solidFill>
            <a:srgbClr val="305F94"/>
          </a:solidFill>
          <a:ln/>
        </p:spPr>
      </p:sp>
      <p:sp>
        <p:nvSpPr>
          <p:cNvPr id="145" name="Shape 143"/>
          <p:cNvSpPr/>
          <p:nvPr/>
        </p:nvSpPr>
        <p:spPr>
          <a:xfrm>
            <a:off x="2041672" y="5217566"/>
            <a:ext cx="74981" cy="74981"/>
          </a:xfrm>
          <a:prstGeom prst="rect">
            <a:avLst/>
          </a:prstGeom>
          <a:solidFill>
            <a:srgbClr val="305F94"/>
          </a:solidFill>
          <a:ln/>
        </p:spPr>
      </p:sp>
      <p:sp>
        <p:nvSpPr>
          <p:cNvPr id="146" name="Shape 144"/>
          <p:cNvSpPr/>
          <p:nvPr/>
        </p:nvSpPr>
        <p:spPr>
          <a:xfrm>
            <a:off x="2226015" y="5217566"/>
            <a:ext cx="74981" cy="74981"/>
          </a:xfrm>
          <a:prstGeom prst="rect">
            <a:avLst/>
          </a:prstGeom>
          <a:solidFill>
            <a:srgbClr val="305F94"/>
          </a:solidFill>
          <a:ln/>
        </p:spPr>
      </p:sp>
      <p:sp>
        <p:nvSpPr>
          <p:cNvPr id="147" name="Shape 145"/>
          <p:cNvSpPr/>
          <p:nvPr/>
        </p:nvSpPr>
        <p:spPr>
          <a:xfrm>
            <a:off x="2410358" y="5217566"/>
            <a:ext cx="74981" cy="74981"/>
          </a:xfrm>
          <a:prstGeom prst="rect">
            <a:avLst/>
          </a:prstGeom>
          <a:solidFill>
            <a:srgbClr val="305F94"/>
          </a:solidFill>
          <a:ln/>
        </p:spPr>
      </p:sp>
      <p:sp>
        <p:nvSpPr>
          <p:cNvPr id="148" name="Shape 146"/>
          <p:cNvSpPr/>
          <p:nvPr/>
        </p:nvSpPr>
        <p:spPr>
          <a:xfrm>
            <a:off x="2594701" y="5217566"/>
            <a:ext cx="74981" cy="74981"/>
          </a:xfrm>
          <a:prstGeom prst="rect">
            <a:avLst/>
          </a:prstGeom>
          <a:solidFill>
            <a:srgbClr val="305F94"/>
          </a:solidFill>
          <a:ln/>
        </p:spPr>
      </p:sp>
      <p:sp>
        <p:nvSpPr>
          <p:cNvPr id="149" name="Shape 147"/>
          <p:cNvSpPr/>
          <p:nvPr/>
        </p:nvSpPr>
        <p:spPr>
          <a:xfrm>
            <a:off x="2779044" y="5217566"/>
            <a:ext cx="74981" cy="74981"/>
          </a:xfrm>
          <a:prstGeom prst="rect">
            <a:avLst/>
          </a:prstGeom>
          <a:solidFill>
            <a:srgbClr val="305F94"/>
          </a:solidFill>
          <a:ln/>
        </p:spPr>
      </p:sp>
      <p:sp>
        <p:nvSpPr>
          <p:cNvPr id="150" name="Shape 148"/>
          <p:cNvSpPr/>
          <p:nvPr/>
        </p:nvSpPr>
        <p:spPr>
          <a:xfrm>
            <a:off x="2963388" y="5217566"/>
            <a:ext cx="74981" cy="74981"/>
          </a:xfrm>
          <a:prstGeom prst="rect">
            <a:avLst/>
          </a:prstGeom>
          <a:solidFill>
            <a:srgbClr val="305F94"/>
          </a:solidFill>
          <a:ln/>
        </p:spPr>
      </p:sp>
      <p:sp>
        <p:nvSpPr>
          <p:cNvPr id="151" name="Shape 149"/>
          <p:cNvSpPr/>
          <p:nvPr/>
        </p:nvSpPr>
        <p:spPr>
          <a:xfrm>
            <a:off x="3147731" y="5217566"/>
            <a:ext cx="74981" cy="74981"/>
          </a:xfrm>
          <a:prstGeom prst="rect">
            <a:avLst/>
          </a:prstGeom>
          <a:solidFill>
            <a:srgbClr val="305F94"/>
          </a:solidFill>
          <a:ln/>
        </p:spPr>
      </p:sp>
      <p:sp>
        <p:nvSpPr>
          <p:cNvPr id="152" name="Shape 150"/>
          <p:cNvSpPr/>
          <p:nvPr/>
        </p:nvSpPr>
        <p:spPr>
          <a:xfrm>
            <a:off x="3332074" y="5217566"/>
            <a:ext cx="74981" cy="74981"/>
          </a:xfrm>
          <a:prstGeom prst="rect">
            <a:avLst/>
          </a:prstGeom>
          <a:solidFill>
            <a:srgbClr val="305F94"/>
          </a:solidFill>
          <a:ln/>
        </p:spPr>
      </p:sp>
      <p:sp>
        <p:nvSpPr>
          <p:cNvPr id="153" name="Shape 151"/>
          <p:cNvSpPr/>
          <p:nvPr/>
        </p:nvSpPr>
        <p:spPr>
          <a:xfrm>
            <a:off x="3516417" y="5217566"/>
            <a:ext cx="74981" cy="74981"/>
          </a:xfrm>
          <a:prstGeom prst="rect">
            <a:avLst/>
          </a:prstGeom>
          <a:solidFill>
            <a:srgbClr val="305F94"/>
          </a:solidFill>
          <a:ln/>
        </p:spPr>
      </p:sp>
      <p:sp>
        <p:nvSpPr>
          <p:cNvPr id="154" name="Shape 152"/>
          <p:cNvSpPr/>
          <p:nvPr/>
        </p:nvSpPr>
        <p:spPr>
          <a:xfrm>
            <a:off x="3700760" y="5217566"/>
            <a:ext cx="74981" cy="74981"/>
          </a:xfrm>
          <a:prstGeom prst="rect">
            <a:avLst/>
          </a:prstGeom>
          <a:solidFill>
            <a:srgbClr val="305F94"/>
          </a:solidFill>
          <a:ln/>
        </p:spPr>
      </p:sp>
      <p:sp>
        <p:nvSpPr>
          <p:cNvPr id="155" name="Shape 153"/>
          <p:cNvSpPr/>
          <p:nvPr/>
        </p:nvSpPr>
        <p:spPr>
          <a:xfrm>
            <a:off x="3885103" y="5217566"/>
            <a:ext cx="74981" cy="74981"/>
          </a:xfrm>
          <a:prstGeom prst="rect">
            <a:avLst/>
          </a:prstGeom>
          <a:solidFill>
            <a:srgbClr val="305F94"/>
          </a:solidFill>
          <a:ln/>
        </p:spPr>
      </p:sp>
      <p:sp>
        <p:nvSpPr>
          <p:cNvPr id="156" name="Shape 154"/>
          <p:cNvSpPr/>
          <p:nvPr/>
        </p:nvSpPr>
        <p:spPr>
          <a:xfrm>
            <a:off x="4069446" y="5217566"/>
            <a:ext cx="74981" cy="74981"/>
          </a:xfrm>
          <a:prstGeom prst="rect">
            <a:avLst/>
          </a:prstGeom>
          <a:solidFill>
            <a:srgbClr val="305F94"/>
          </a:solidFill>
          <a:ln/>
        </p:spPr>
      </p:sp>
      <p:sp>
        <p:nvSpPr>
          <p:cNvPr id="157" name="Shape 155"/>
          <p:cNvSpPr/>
          <p:nvPr/>
        </p:nvSpPr>
        <p:spPr>
          <a:xfrm>
            <a:off x="4253789" y="5217566"/>
            <a:ext cx="74981" cy="74981"/>
          </a:xfrm>
          <a:prstGeom prst="rect">
            <a:avLst/>
          </a:prstGeom>
          <a:solidFill>
            <a:srgbClr val="305F94"/>
          </a:solidFill>
          <a:ln/>
        </p:spPr>
      </p:sp>
      <p:sp>
        <p:nvSpPr>
          <p:cNvPr id="158" name="Shape 156"/>
          <p:cNvSpPr/>
          <p:nvPr/>
        </p:nvSpPr>
        <p:spPr>
          <a:xfrm>
            <a:off x="4438132" y="5217566"/>
            <a:ext cx="74981" cy="74981"/>
          </a:xfrm>
          <a:prstGeom prst="rect">
            <a:avLst/>
          </a:prstGeom>
          <a:solidFill>
            <a:srgbClr val="305F94"/>
          </a:solidFill>
          <a:ln/>
        </p:spPr>
      </p:sp>
      <p:sp>
        <p:nvSpPr>
          <p:cNvPr id="159" name="Shape 157"/>
          <p:cNvSpPr/>
          <p:nvPr/>
        </p:nvSpPr>
        <p:spPr>
          <a:xfrm>
            <a:off x="4622475" y="5217566"/>
            <a:ext cx="74981" cy="74981"/>
          </a:xfrm>
          <a:prstGeom prst="rect">
            <a:avLst/>
          </a:prstGeom>
          <a:solidFill>
            <a:srgbClr val="305F94"/>
          </a:solidFill>
          <a:ln/>
        </p:spPr>
      </p:sp>
      <p:sp>
        <p:nvSpPr>
          <p:cNvPr id="160" name="Shape 158"/>
          <p:cNvSpPr/>
          <p:nvPr/>
        </p:nvSpPr>
        <p:spPr>
          <a:xfrm>
            <a:off x="4806818" y="5217566"/>
            <a:ext cx="74981" cy="74981"/>
          </a:xfrm>
          <a:prstGeom prst="rect">
            <a:avLst/>
          </a:prstGeom>
          <a:solidFill>
            <a:srgbClr val="305F94"/>
          </a:solidFill>
          <a:ln/>
        </p:spPr>
      </p:sp>
      <p:sp>
        <p:nvSpPr>
          <p:cNvPr id="161" name="Shape 159"/>
          <p:cNvSpPr/>
          <p:nvPr/>
        </p:nvSpPr>
        <p:spPr>
          <a:xfrm>
            <a:off x="4991161" y="5217566"/>
            <a:ext cx="74981" cy="74981"/>
          </a:xfrm>
          <a:prstGeom prst="rect">
            <a:avLst/>
          </a:prstGeom>
          <a:solidFill>
            <a:srgbClr val="305F94"/>
          </a:solidFill>
          <a:ln/>
        </p:spPr>
      </p:sp>
      <p:sp>
        <p:nvSpPr>
          <p:cNvPr id="162" name="Shape 160"/>
          <p:cNvSpPr/>
          <p:nvPr/>
        </p:nvSpPr>
        <p:spPr>
          <a:xfrm>
            <a:off x="5175504" y="5217566"/>
            <a:ext cx="74981" cy="74981"/>
          </a:xfrm>
          <a:prstGeom prst="rect">
            <a:avLst/>
          </a:prstGeom>
          <a:solidFill>
            <a:srgbClr val="305F94"/>
          </a:solidFill>
          <a:ln/>
        </p:spPr>
      </p:sp>
      <p:sp>
        <p:nvSpPr>
          <p:cNvPr id="163" name="Shape 161"/>
          <p:cNvSpPr/>
          <p:nvPr/>
        </p:nvSpPr>
        <p:spPr>
          <a:xfrm>
            <a:off x="5359847" y="5217566"/>
            <a:ext cx="74981" cy="74981"/>
          </a:xfrm>
          <a:prstGeom prst="rect">
            <a:avLst/>
          </a:prstGeom>
          <a:solidFill>
            <a:srgbClr val="305F94"/>
          </a:solidFill>
          <a:ln/>
        </p:spPr>
      </p:sp>
      <p:sp>
        <p:nvSpPr>
          <p:cNvPr id="164" name="Shape 162"/>
          <p:cNvSpPr/>
          <p:nvPr/>
        </p:nvSpPr>
        <p:spPr>
          <a:xfrm>
            <a:off x="5544190" y="5217566"/>
            <a:ext cx="74981" cy="74981"/>
          </a:xfrm>
          <a:prstGeom prst="rect">
            <a:avLst/>
          </a:prstGeom>
          <a:solidFill>
            <a:srgbClr val="305F94"/>
          </a:solidFill>
          <a:ln/>
        </p:spPr>
      </p:sp>
      <p:sp>
        <p:nvSpPr>
          <p:cNvPr id="165" name="Shape 163"/>
          <p:cNvSpPr/>
          <p:nvPr/>
        </p:nvSpPr>
        <p:spPr>
          <a:xfrm>
            <a:off x="5728533" y="5217566"/>
            <a:ext cx="74981" cy="74981"/>
          </a:xfrm>
          <a:prstGeom prst="rect">
            <a:avLst/>
          </a:prstGeom>
          <a:solidFill>
            <a:srgbClr val="305F94"/>
          </a:solidFill>
          <a:ln/>
        </p:spPr>
      </p:sp>
      <p:sp>
        <p:nvSpPr>
          <p:cNvPr id="166" name="Shape 164"/>
          <p:cNvSpPr/>
          <p:nvPr/>
        </p:nvSpPr>
        <p:spPr>
          <a:xfrm>
            <a:off x="5912876" y="5217566"/>
            <a:ext cx="74981" cy="74981"/>
          </a:xfrm>
          <a:prstGeom prst="rect">
            <a:avLst/>
          </a:prstGeom>
          <a:solidFill>
            <a:srgbClr val="305F94"/>
          </a:solidFill>
          <a:ln/>
        </p:spPr>
      </p:sp>
      <p:sp>
        <p:nvSpPr>
          <p:cNvPr id="167" name="Shape 165"/>
          <p:cNvSpPr/>
          <p:nvPr/>
        </p:nvSpPr>
        <p:spPr>
          <a:xfrm>
            <a:off x="6097219" y="5217566"/>
            <a:ext cx="74981" cy="74981"/>
          </a:xfrm>
          <a:prstGeom prst="rect">
            <a:avLst/>
          </a:prstGeom>
          <a:solidFill>
            <a:srgbClr val="305F94"/>
          </a:solidFill>
          <a:ln/>
        </p:spPr>
      </p:sp>
      <p:sp>
        <p:nvSpPr>
          <p:cNvPr id="168" name="Shape 166"/>
          <p:cNvSpPr/>
          <p:nvPr/>
        </p:nvSpPr>
        <p:spPr>
          <a:xfrm>
            <a:off x="6281562" y="5217566"/>
            <a:ext cx="74981" cy="74981"/>
          </a:xfrm>
          <a:prstGeom prst="rect">
            <a:avLst/>
          </a:prstGeom>
          <a:solidFill>
            <a:srgbClr val="305F94"/>
          </a:solidFill>
          <a:ln/>
        </p:spPr>
      </p:sp>
      <p:sp>
        <p:nvSpPr>
          <p:cNvPr id="169" name="Shape 167"/>
          <p:cNvSpPr/>
          <p:nvPr/>
        </p:nvSpPr>
        <p:spPr>
          <a:xfrm>
            <a:off x="6465905" y="5217566"/>
            <a:ext cx="74981" cy="74981"/>
          </a:xfrm>
          <a:prstGeom prst="rect">
            <a:avLst/>
          </a:prstGeom>
          <a:solidFill>
            <a:srgbClr val="305F94"/>
          </a:solidFill>
          <a:ln/>
        </p:spPr>
      </p:sp>
      <p:sp>
        <p:nvSpPr>
          <p:cNvPr id="170" name="Shape 168"/>
          <p:cNvSpPr/>
          <p:nvPr/>
        </p:nvSpPr>
        <p:spPr>
          <a:xfrm>
            <a:off x="6650248" y="5217566"/>
            <a:ext cx="74981" cy="74981"/>
          </a:xfrm>
          <a:prstGeom prst="rect">
            <a:avLst/>
          </a:prstGeom>
          <a:solidFill>
            <a:srgbClr val="305F94"/>
          </a:solidFill>
          <a:ln/>
        </p:spPr>
      </p:sp>
      <p:sp>
        <p:nvSpPr>
          <p:cNvPr id="171" name="Shape 169"/>
          <p:cNvSpPr/>
          <p:nvPr/>
        </p:nvSpPr>
        <p:spPr>
          <a:xfrm>
            <a:off x="6834591" y="5217566"/>
            <a:ext cx="74981" cy="74981"/>
          </a:xfrm>
          <a:prstGeom prst="rect">
            <a:avLst/>
          </a:prstGeom>
          <a:solidFill>
            <a:srgbClr val="305F94"/>
          </a:solidFill>
          <a:ln/>
        </p:spPr>
      </p:sp>
      <p:sp>
        <p:nvSpPr>
          <p:cNvPr id="172" name="Shape 170"/>
          <p:cNvSpPr/>
          <p:nvPr/>
        </p:nvSpPr>
        <p:spPr>
          <a:xfrm>
            <a:off x="7018934" y="5217566"/>
            <a:ext cx="74981" cy="74981"/>
          </a:xfrm>
          <a:prstGeom prst="rect">
            <a:avLst/>
          </a:prstGeom>
          <a:solidFill>
            <a:srgbClr val="305F94"/>
          </a:solidFill>
          <a:ln/>
        </p:spPr>
      </p:sp>
      <p:sp>
        <p:nvSpPr>
          <p:cNvPr id="173" name="Shape 171"/>
          <p:cNvSpPr/>
          <p:nvPr/>
        </p:nvSpPr>
        <p:spPr>
          <a:xfrm>
            <a:off x="7203277" y="5217566"/>
            <a:ext cx="74981" cy="74981"/>
          </a:xfrm>
          <a:prstGeom prst="rect">
            <a:avLst/>
          </a:prstGeom>
          <a:solidFill>
            <a:srgbClr val="305F94"/>
          </a:solidFill>
          <a:ln/>
        </p:spPr>
      </p:sp>
      <p:sp>
        <p:nvSpPr>
          <p:cNvPr id="174" name="Shape 172"/>
          <p:cNvSpPr/>
          <p:nvPr/>
        </p:nvSpPr>
        <p:spPr>
          <a:xfrm>
            <a:off x="7387620" y="5217566"/>
            <a:ext cx="74981" cy="74981"/>
          </a:xfrm>
          <a:prstGeom prst="rect">
            <a:avLst/>
          </a:prstGeom>
          <a:solidFill>
            <a:srgbClr val="305F94"/>
          </a:solidFill>
          <a:ln/>
        </p:spPr>
      </p:sp>
      <p:sp>
        <p:nvSpPr>
          <p:cNvPr id="175" name="Shape 173"/>
          <p:cNvSpPr/>
          <p:nvPr/>
        </p:nvSpPr>
        <p:spPr>
          <a:xfrm>
            <a:off x="7571964" y="5217566"/>
            <a:ext cx="74981" cy="74981"/>
          </a:xfrm>
          <a:prstGeom prst="rect">
            <a:avLst/>
          </a:prstGeom>
          <a:solidFill>
            <a:srgbClr val="305F94"/>
          </a:solidFill>
          <a:ln/>
        </p:spPr>
      </p:sp>
      <p:sp>
        <p:nvSpPr>
          <p:cNvPr id="176" name="Shape 174"/>
          <p:cNvSpPr/>
          <p:nvPr/>
        </p:nvSpPr>
        <p:spPr>
          <a:xfrm>
            <a:off x="7756307" y="5217566"/>
            <a:ext cx="74981" cy="74981"/>
          </a:xfrm>
          <a:prstGeom prst="rect">
            <a:avLst/>
          </a:prstGeom>
          <a:solidFill>
            <a:srgbClr val="305F94"/>
          </a:solidFill>
          <a:ln/>
        </p:spPr>
      </p:sp>
      <p:sp>
        <p:nvSpPr>
          <p:cNvPr id="177" name="Shape 175"/>
          <p:cNvSpPr/>
          <p:nvPr/>
        </p:nvSpPr>
        <p:spPr>
          <a:xfrm>
            <a:off x="7940650" y="5217566"/>
            <a:ext cx="74981" cy="74981"/>
          </a:xfrm>
          <a:prstGeom prst="rect">
            <a:avLst/>
          </a:prstGeom>
          <a:solidFill>
            <a:srgbClr val="305F94"/>
          </a:solidFill>
          <a:ln/>
        </p:spPr>
      </p:sp>
      <p:sp>
        <p:nvSpPr>
          <p:cNvPr id="178" name="Shape 176"/>
          <p:cNvSpPr/>
          <p:nvPr/>
        </p:nvSpPr>
        <p:spPr>
          <a:xfrm>
            <a:off x="8124993" y="5217566"/>
            <a:ext cx="74981" cy="74981"/>
          </a:xfrm>
          <a:prstGeom prst="rect">
            <a:avLst/>
          </a:prstGeom>
          <a:solidFill>
            <a:srgbClr val="305F94"/>
          </a:solidFill>
          <a:ln/>
        </p:spPr>
      </p:sp>
      <p:sp>
        <p:nvSpPr>
          <p:cNvPr id="179" name="Shape 177"/>
          <p:cNvSpPr/>
          <p:nvPr/>
        </p:nvSpPr>
        <p:spPr>
          <a:xfrm>
            <a:off x="8309336" y="5217566"/>
            <a:ext cx="74981" cy="74981"/>
          </a:xfrm>
          <a:prstGeom prst="rect">
            <a:avLst/>
          </a:prstGeom>
          <a:solidFill>
            <a:srgbClr val="305F94"/>
          </a:solidFill>
          <a:ln/>
        </p:spPr>
      </p:sp>
      <p:sp>
        <p:nvSpPr>
          <p:cNvPr id="180" name="Shape 178"/>
          <p:cNvSpPr/>
          <p:nvPr/>
        </p:nvSpPr>
        <p:spPr>
          <a:xfrm>
            <a:off x="8493679" y="5217566"/>
            <a:ext cx="74981" cy="74981"/>
          </a:xfrm>
          <a:prstGeom prst="rect">
            <a:avLst/>
          </a:prstGeom>
          <a:solidFill>
            <a:srgbClr val="305F94"/>
          </a:solidFill>
          <a:ln/>
        </p:spPr>
      </p:sp>
      <p:sp>
        <p:nvSpPr>
          <p:cNvPr id="181" name="Shape 179"/>
          <p:cNvSpPr/>
          <p:nvPr/>
        </p:nvSpPr>
        <p:spPr>
          <a:xfrm>
            <a:off x="8678022" y="5217566"/>
            <a:ext cx="74981" cy="74981"/>
          </a:xfrm>
          <a:prstGeom prst="rect">
            <a:avLst/>
          </a:prstGeom>
          <a:solidFill>
            <a:srgbClr val="305F94"/>
          </a:solidFill>
          <a:ln/>
        </p:spPr>
      </p:sp>
      <p:sp>
        <p:nvSpPr>
          <p:cNvPr id="182" name="Shape 180"/>
          <p:cNvSpPr/>
          <p:nvPr/>
        </p:nvSpPr>
        <p:spPr>
          <a:xfrm>
            <a:off x="8862365" y="5217566"/>
            <a:ext cx="74981" cy="74981"/>
          </a:xfrm>
          <a:prstGeom prst="rect">
            <a:avLst/>
          </a:prstGeom>
          <a:solidFill>
            <a:srgbClr val="305F94"/>
          </a:solidFill>
          <a:ln/>
        </p:spPr>
      </p:sp>
      <p:sp>
        <p:nvSpPr>
          <p:cNvPr id="183" name="Shape 181"/>
          <p:cNvSpPr/>
          <p:nvPr/>
        </p:nvSpPr>
        <p:spPr>
          <a:xfrm>
            <a:off x="9046708" y="5217566"/>
            <a:ext cx="74981" cy="74981"/>
          </a:xfrm>
          <a:prstGeom prst="rect">
            <a:avLst/>
          </a:prstGeom>
          <a:solidFill>
            <a:srgbClr val="305F94"/>
          </a:solidFill>
          <a:ln/>
        </p:spPr>
      </p:sp>
      <p:sp>
        <p:nvSpPr>
          <p:cNvPr id="184" name="Shape 182"/>
          <p:cNvSpPr/>
          <p:nvPr/>
        </p:nvSpPr>
        <p:spPr>
          <a:xfrm>
            <a:off x="9231051" y="5217566"/>
            <a:ext cx="74981" cy="74981"/>
          </a:xfrm>
          <a:prstGeom prst="rect">
            <a:avLst/>
          </a:prstGeom>
          <a:solidFill>
            <a:srgbClr val="305F94"/>
          </a:solidFill>
          <a:ln/>
        </p:spPr>
      </p:sp>
      <p:sp>
        <p:nvSpPr>
          <p:cNvPr id="185" name="Shape 183"/>
          <p:cNvSpPr/>
          <p:nvPr/>
        </p:nvSpPr>
        <p:spPr>
          <a:xfrm>
            <a:off x="9415394" y="5217566"/>
            <a:ext cx="74981" cy="74981"/>
          </a:xfrm>
          <a:prstGeom prst="rect">
            <a:avLst/>
          </a:prstGeom>
          <a:solidFill>
            <a:srgbClr val="305F94"/>
          </a:solidFill>
          <a:ln/>
        </p:spPr>
      </p:sp>
      <p:sp>
        <p:nvSpPr>
          <p:cNvPr id="186" name="Shape 184"/>
          <p:cNvSpPr/>
          <p:nvPr/>
        </p:nvSpPr>
        <p:spPr>
          <a:xfrm>
            <a:off x="9599737" y="5217566"/>
            <a:ext cx="74981" cy="74981"/>
          </a:xfrm>
          <a:prstGeom prst="rect">
            <a:avLst/>
          </a:prstGeom>
          <a:solidFill>
            <a:srgbClr val="305F94"/>
          </a:solidFill>
          <a:ln/>
        </p:spPr>
      </p:sp>
      <p:sp>
        <p:nvSpPr>
          <p:cNvPr id="187" name="Shape 185"/>
          <p:cNvSpPr/>
          <p:nvPr/>
        </p:nvSpPr>
        <p:spPr>
          <a:xfrm>
            <a:off x="9784080" y="5217566"/>
            <a:ext cx="74981" cy="74981"/>
          </a:xfrm>
          <a:prstGeom prst="rect">
            <a:avLst/>
          </a:prstGeom>
          <a:solidFill>
            <a:srgbClr val="305F94"/>
          </a:solidFill>
          <a:ln/>
        </p:spPr>
      </p:sp>
      <p:sp>
        <p:nvSpPr>
          <p:cNvPr id="188" name="Shape 186"/>
          <p:cNvSpPr/>
          <p:nvPr/>
        </p:nvSpPr>
        <p:spPr>
          <a:xfrm>
            <a:off x="9968423" y="5217566"/>
            <a:ext cx="74981" cy="74981"/>
          </a:xfrm>
          <a:prstGeom prst="rect">
            <a:avLst/>
          </a:prstGeom>
          <a:solidFill>
            <a:srgbClr val="305F94"/>
          </a:solidFill>
          <a:ln/>
        </p:spPr>
      </p:sp>
      <p:sp>
        <p:nvSpPr>
          <p:cNvPr id="189" name="Shape 187"/>
          <p:cNvSpPr/>
          <p:nvPr/>
        </p:nvSpPr>
        <p:spPr>
          <a:xfrm>
            <a:off x="10152766" y="5217566"/>
            <a:ext cx="74981" cy="74981"/>
          </a:xfrm>
          <a:prstGeom prst="rect">
            <a:avLst/>
          </a:prstGeom>
          <a:solidFill>
            <a:srgbClr val="305F94"/>
          </a:solidFill>
          <a:ln/>
        </p:spPr>
      </p:sp>
      <p:sp>
        <p:nvSpPr>
          <p:cNvPr id="190" name="Shape 188"/>
          <p:cNvSpPr/>
          <p:nvPr/>
        </p:nvSpPr>
        <p:spPr>
          <a:xfrm>
            <a:off x="10337109" y="5217566"/>
            <a:ext cx="74981" cy="74981"/>
          </a:xfrm>
          <a:prstGeom prst="rect">
            <a:avLst/>
          </a:prstGeom>
          <a:solidFill>
            <a:srgbClr val="305F94"/>
          </a:solidFill>
          <a:ln/>
        </p:spPr>
      </p:sp>
      <p:sp>
        <p:nvSpPr>
          <p:cNvPr id="191" name="Shape 189"/>
          <p:cNvSpPr/>
          <p:nvPr/>
        </p:nvSpPr>
        <p:spPr>
          <a:xfrm>
            <a:off x="10521452" y="5217566"/>
            <a:ext cx="74981" cy="74981"/>
          </a:xfrm>
          <a:prstGeom prst="rect">
            <a:avLst/>
          </a:prstGeom>
          <a:solidFill>
            <a:srgbClr val="305F94"/>
          </a:solidFill>
          <a:ln/>
        </p:spPr>
      </p:sp>
      <p:sp>
        <p:nvSpPr>
          <p:cNvPr id="192" name="Shape 190"/>
          <p:cNvSpPr/>
          <p:nvPr/>
        </p:nvSpPr>
        <p:spPr>
          <a:xfrm>
            <a:off x="10705795" y="5217566"/>
            <a:ext cx="74981" cy="74981"/>
          </a:xfrm>
          <a:prstGeom prst="rect">
            <a:avLst/>
          </a:prstGeom>
          <a:solidFill>
            <a:srgbClr val="305F94"/>
          </a:solidFill>
          <a:ln/>
        </p:spPr>
      </p:sp>
      <p:sp>
        <p:nvSpPr>
          <p:cNvPr id="193" name="Shape 191"/>
          <p:cNvSpPr/>
          <p:nvPr/>
        </p:nvSpPr>
        <p:spPr>
          <a:xfrm>
            <a:off x="10890138" y="5217566"/>
            <a:ext cx="74981" cy="74981"/>
          </a:xfrm>
          <a:prstGeom prst="rect">
            <a:avLst/>
          </a:prstGeom>
          <a:solidFill>
            <a:srgbClr val="305F94"/>
          </a:solidFill>
          <a:ln/>
        </p:spPr>
      </p:sp>
      <p:sp>
        <p:nvSpPr>
          <p:cNvPr id="194" name="Shape 192"/>
          <p:cNvSpPr/>
          <p:nvPr/>
        </p:nvSpPr>
        <p:spPr>
          <a:xfrm>
            <a:off x="11074481" y="5217566"/>
            <a:ext cx="74981" cy="74981"/>
          </a:xfrm>
          <a:prstGeom prst="rect">
            <a:avLst/>
          </a:prstGeom>
          <a:solidFill>
            <a:srgbClr val="305F94"/>
          </a:solidFill>
          <a:ln/>
        </p:spPr>
      </p:sp>
      <p:sp>
        <p:nvSpPr>
          <p:cNvPr id="195" name="Shape 193"/>
          <p:cNvSpPr/>
          <p:nvPr/>
        </p:nvSpPr>
        <p:spPr>
          <a:xfrm>
            <a:off x="11258824" y="5217566"/>
            <a:ext cx="74981" cy="74981"/>
          </a:xfrm>
          <a:prstGeom prst="rect">
            <a:avLst/>
          </a:prstGeom>
          <a:solidFill>
            <a:srgbClr val="305F94"/>
          </a:solidFill>
          <a:ln/>
        </p:spPr>
      </p:sp>
      <p:sp>
        <p:nvSpPr>
          <p:cNvPr id="196" name="Shape 194"/>
          <p:cNvSpPr/>
          <p:nvPr/>
        </p:nvSpPr>
        <p:spPr>
          <a:xfrm>
            <a:off x="11443167" y="5217566"/>
            <a:ext cx="74981" cy="74981"/>
          </a:xfrm>
          <a:prstGeom prst="rect">
            <a:avLst/>
          </a:prstGeom>
          <a:solidFill>
            <a:srgbClr val="305F94"/>
          </a:solidFill>
          <a:ln/>
        </p:spPr>
      </p:sp>
      <p:sp>
        <p:nvSpPr>
          <p:cNvPr id="197" name="Shape 195"/>
          <p:cNvSpPr/>
          <p:nvPr/>
        </p:nvSpPr>
        <p:spPr>
          <a:xfrm>
            <a:off x="566928" y="5334610"/>
            <a:ext cx="74981" cy="74981"/>
          </a:xfrm>
          <a:prstGeom prst="rect">
            <a:avLst/>
          </a:prstGeom>
          <a:solidFill>
            <a:srgbClr val="36679E"/>
          </a:solidFill>
          <a:ln/>
        </p:spPr>
      </p:sp>
      <p:sp>
        <p:nvSpPr>
          <p:cNvPr id="198" name="Shape 196"/>
          <p:cNvSpPr/>
          <p:nvPr/>
        </p:nvSpPr>
        <p:spPr>
          <a:xfrm>
            <a:off x="751271" y="5334610"/>
            <a:ext cx="74981" cy="74981"/>
          </a:xfrm>
          <a:prstGeom prst="rect">
            <a:avLst/>
          </a:prstGeom>
          <a:solidFill>
            <a:srgbClr val="36679E"/>
          </a:solidFill>
          <a:ln/>
        </p:spPr>
      </p:sp>
      <p:sp>
        <p:nvSpPr>
          <p:cNvPr id="199" name="Shape 197"/>
          <p:cNvSpPr/>
          <p:nvPr/>
        </p:nvSpPr>
        <p:spPr>
          <a:xfrm>
            <a:off x="935614" y="5334610"/>
            <a:ext cx="74981" cy="74981"/>
          </a:xfrm>
          <a:prstGeom prst="rect">
            <a:avLst/>
          </a:prstGeom>
          <a:solidFill>
            <a:srgbClr val="36679E"/>
          </a:solidFill>
          <a:ln/>
        </p:spPr>
      </p:sp>
      <p:sp>
        <p:nvSpPr>
          <p:cNvPr id="200" name="Shape 198"/>
          <p:cNvSpPr/>
          <p:nvPr/>
        </p:nvSpPr>
        <p:spPr>
          <a:xfrm>
            <a:off x="1119957" y="5334610"/>
            <a:ext cx="74981" cy="74981"/>
          </a:xfrm>
          <a:prstGeom prst="rect">
            <a:avLst/>
          </a:prstGeom>
          <a:solidFill>
            <a:srgbClr val="36679E"/>
          </a:solidFill>
          <a:ln/>
        </p:spPr>
      </p:sp>
      <p:sp>
        <p:nvSpPr>
          <p:cNvPr id="201" name="Shape 199"/>
          <p:cNvSpPr/>
          <p:nvPr/>
        </p:nvSpPr>
        <p:spPr>
          <a:xfrm>
            <a:off x="1304300" y="5334610"/>
            <a:ext cx="74981" cy="74981"/>
          </a:xfrm>
          <a:prstGeom prst="rect">
            <a:avLst/>
          </a:prstGeom>
          <a:solidFill>
            <a:srgbClr val="36679E"/>
          </a:solidFill>
          <a:ln/>
        </p:spPr>
      </p:sp>
      <p:sp>
        <p:nvSpPr>
          <p:cNvPr id="202" name="Shape 200"/>
          <p:cNvSpPr/>
          <p:nvPr/>
        </p:nvSpPr>
        <p:spPr>
          <a:xfrm>
            <a:off x="1488643" y="5334610"/>
            <a:ext cx="74981" cy="74981"/>
          </a:xfrm>
          <a:prstGeom prst="rect">
            <a:avLst/>
          </a:prstGeom>
          <a:solidFill>
            <a:srgbClr val="36679E"/>
          </a:solidFill>
          <a:ln/>
        </p:spPr>
      </p:sp>
      <p:sp>
        <p:nvSpPr>
          <p:cNvPr id="203" name="Shape 201"/>
          <p:cNvSpPr/>
          <p:nvPr/>
        </p:nvSpPr>
        <p:spPr>
          <a:xfrm>
            <a:off x="1672986" y="5334610"/>
            <a:ext cx="74981" cy="74981"/>
          </a:xfrm>
          <a:prstGeom prst="rect">
            <a:avLst/>
          </a:prstGeom>
          <a:solidFill>
            <a:srgbClr val="36679E"/>
          </a:solidFill>
          <a:ln/>
        </p:spPr>
      </p:sp>
      <p:sp>
        <p:nvSpPr>
          <p:cNvPr id="204" name="Shape 202"/>
          <p:cNvSpPr/>
          <p:nvPr/>
        </p:nvSpPr>
        <p:spPr>
          <a:xfrm>
            <a:off x="1857329" y="5334610"/>
            <a:ext cx="74981" cy="74981"/>
          </a:xfrm>
          <a:prstGeom prst="rect">
            <a:avLst/>
          </a:prstGeom>
          <a:solidFill>
            <a:srgbClr val="36679E"/>
          </a:solidFill>
          <a:ln/>
        </p:spPr>
      </p:sp>
      <p:sp>
        <p:nvSpPr>
          <p:cNvPr id="205" name="Shape 203"/>
          <p:cNvSpPr/>
          <p:nvPr/>
        </p:nvSpPr>
        <p:spPr>
          <a:xfrm>
            <a:off x="2041672" y="5334610"/>
            <a:ext cx="74981" cy="74981"/>
          </a:xfrm>
          <a:prstGeom prst="rect">
            <a:avLst/>
          </a:prstGeom>
          <a:solidFill>
            <a:srgbClr val="36679E"/>
          </a:solidFill>
          <a:ln/>
        </p:spPr>
      </p:sp>
      <p:sp>
        <p:nvSpPr>
          <p:cNvPr id="206" name="Shape 204"/>
          <p:cNvSpPr/>
          <p:nvPr/>
        </p:nvSpPr>
        <p:spPr>
          <a:xfrm>
            <a:off x="2226015" y="5334610"/>
            <a:ext cx="74981" cy="74981"/>
          </a:xfrm>
          <a:prstGeom prst="rect">
            <a:avLst/>
          </a:prstGeom>
          <a:solidFill>
            <a:srgbClr val="36679E"/>
          </a:solidFill>
          <a:ln/>
        </p:spPr>
      </p:sp>
      <p:sp>
        <p:nvSpPr>
          <p:cNvPr id="207" name="Shape 205"/>
          <p:cNvSpPr/>
          <p:nvPr/>
        </p:nvSpPr>
        <p:spPr>
          <a:xfrm>
            <a:off x="2410358" y="5334610"/>
            <a:ext cx="74981" cy="74981"/>
          </a:xfrm>
          <a:prstGeom prst="rect">
            <a:avLst/>
          </a:prstGeom>
          <a:solidFill>
            <a:srgbClr val="36679E"/>
          </a:solidFill>
          <a:ln/>
        </p:spPr>
      </p:sp>
      <p:sp>
        <p:nvSpPr>
          <p:cNvPr id="208" name="Shape 206"/>
          <p:cNvSpPr/>
          <p:nvPr/>
        </p:nvSpPr>
        <p:spPr>
          <a:xfrm>
            <a:off x="2594701" y="5334610"/>
            <a:ext cx="74981" cy="74981"/>
          </a:xfrm>
          <a:prstGeom prst="rect">
            <a:avLst/>
          </a:prstGeom>
          <a:solidFill>
            <a:srgbClr val="36679E"/>
          </a:solidFill>
          <a:ln/>
        </p:spPr>
      </p:sp>
      <p:sp>
        <p:nvSpPr>
          <p:cNvPr id="209" name="Shape 207"/>
          <p:cNvSpPr/>
          <p:nvPr/>
        </p:nvSpPr>
        <p:spPr>
          <a:xfrm>
            <a:off x="2779044" y="5334610"/>
            <a:ext cx="74981" cy="74981"/>
          </a:xfrm>
          <a:prstGeom prst="rect">
            <a:avLst/>
          </a:prstGeom>
          <a:solidFill>
            <a:srgbClr val="36679E"/>
          </a:solidFill>
          <a:ln/>
        </p:spPr>
      </p:sp>
      <p:sp>
        <p:nvSpPr>
          <p:cNvPr id="210" name="Shape 208"/>
          <p:cNvSpPr/>
          <p:nvPr/>
        </p:nvSpPr>
        <p:spPr>
          <a:xfrm>
            <a:off x="2963388" y="5334610"/>
            <a:ext cx="74981" cy="74981"/>
          </a:xfrm>
          <a:prstGeom prst="rect">
            <a:avLst/>
          </a:prstGeom>
          <a:solidFill>
            <a:srgbClr val="36679E"/>
          </a:solidFill>
          <a:ln/>
        </p:spPr>
      </p:sp>
      <p:sp>
        <p:nvSpPr>
          <p:cNvPr id="211" name="Shape 209"/>
          <p:cNvSpPr/>
          <p:nvPr/>
        </p:nvSpPr>
        <p:spPr>
          <a:xfrm>
            <a:off x="3147731" y="5334610"/>
            <a:ext cx="74981" cy="74981"/>
          </a:xfrm>
          <a:prstGeom prst="rect">
            <a:avLst/>
          </a:prstGeom>
          <a:solidFill>
            <a:srgbClr val="36679E"/>
          </a:solidFill>
          <a:ln/>
        </p:spPr>
      </p:sp>
      <p:sp>
        <p:nvSpPr>
          <p:cNvPr id="212" name="Shape 210"/>
          <p:cNvSpPr/>
          <p:nvPr/>
        </p:nvSpPr>
        <p:spPr>
          <a:xfrm>
            <a:off x="3332074" y="5334610"/>
            <a:ext cx="74981" cy="74981"/>
          </a:xfrm>
          <a:prstGeom prst="rect">
            <a:avLst/>
          </a:prstGeom>
          <a:solidFill>
            <a:srgbClr val="36679E"/>
          </a:solidFill>
          <a:ln/>
        </p:spPr>
      </p:sp>
      <p:sp>
        <p:nvSpPr>
          <p:cNvPr id="213" name="Shape 211"/>
          <p:cNvSpPr/>
          <p:nvPr/>
        </p:nvSpPr>
        <p:spPr>
          <a:xfrm>
            <a:off x="3516417" y="5334610"/>
            <a:ext cx="74981" cy="74981"/>
          </a:xfrm>
          <a:prstGeom prst="rect">
            <a:avLst/>
          </a:prstGeom>
          <a:solidFill>
            <a:srgbClr val="36679E"/>
          </a:solidFill>
          <a:ln/>
        </p:spPr>
      </p:sp>
      <p:sp>
        <p:nvSpPr>
          <p:cNvPr id="214" name="Shape 212"/>
          <p:cNvSpPr/>
          <p:nvPr/>
        </p:nvSpPr>
        <p:spPr>
          <a:xfrm>
            <a:off x="3700760" y="5334610"/>
            <a:ext cx="74981" cy="74981"/>
          </a:xfrm>
          <a:prstGeom prst="rect">
            <a:avLst/>
          </a:prstGeom>
          <a:solidFill>
            <a:srgbClr val="36679E"/>
          </a:solidFill>
          <a:ln/>
        </p:spPr>
      </p:sp>
      <p:sp>
        <p:nvSpPr>
          <p:cNvPr id="215" name="Shape 213"/>
          <p:cNvSpPr/>
          <p:nvPr/>
        </p:nvSpPr>
        <p:spPr>
          <a:xfrm>
            <a:off x="3885103" y="5334610"/>
            <a:ext cx="74981" cy="74981"/>
          </a:xfrm>
          <a:prstGeom prst="rect">
            <a:avLst/>
          </a:prstGeom>
          <a:solidFill>
            <a:srgbClr val="36679E"/>
          </a:solidFill>
          <a:ln/>
        </p:spPr>
      </p:sp>
      <p:sp>
        <p:nvSpPr>
          <p:cNvPr id="216" name="Shape 214"/>
          <p:cNvSpPr/>
          <p:nvPr/>
        </p:nvSpPr>
        <p:spPr>
          <a:xfrm>
            <a:off x="4069446" y="5334610"/>
            <a:ext cx="74981" cy="74981"/>
          </a:xfrm>
          <a:prstGeom prst="rect">
            <a:avLst/>
          </a:prstGeom>
          <a:solidFill>
            <a:srgbClr val="36679E"/>
          </a:solidFill>
          <a:ln/>
        </p:spPr>
      </p:sp>
      <p:sp>
        <p:nvSpPr>
          <p:cNvPr id="217" name="Shape 215"/>
          <p:cNvSpPr/>
          <p:nvPr/>
        </p:nvSpPr>
        <p:spPr>
          <a:xfrm>
            <a:off x="4253789" y="5334610"/>
            <a:ext cx="74981" cy="74981"/>
          </a:xfrm>
          <a:prstGeom prst="rect">
            <a:avLst/>
          </a:prstGeom>
          <a:solidFill>
            <a:srgbClr val="36679E"/>
          </a:solidFill>
          <a:ln/>
        </p:spPr>
      </p:sp>
      <p:sp>
        <p:nvSpPr>
          <p:cNvPr id="218" name="Shape 216"/>
          <p:cNvSpPr/>
          <p:nvPr/>
        </p:nvSpPr>
        <p:spPr>
          <a:xfrm>
            <a:off x="4438132" y="5334610"/>
            <a:ext cx="74981" cy="74981"/>
          </a:xfrm>
          <a:prstGeom prst="rect">
            <a:avLst/>
          </a:prstGeom>
          <a:solidFill>
            <a:srgbClr val="36679E"/>
          </a:solidFill>
          <a:ln/>
        </p:spPr>
      </p:sp>
      <p:sp>
        <p:nvSpPr>
          <p:cNvPr id="219" name="Shape 217"/>
          <p:cNvSpPr/>
          <p:nvPr/>
        </p:nvSpPr>
        <p:spPr>
          <a:xfrm>
            <a:off x="4622475" y="5334610"/>
            <a:ext cx="74981" cy="74981"/>
          </a:xfrm>
          <a:prstGeom prst="rect">
            <a:avLst/>
          </a:prstGeom>
          <a:solidFill>
            <a:srgbClr val="36679E"/>
          </a:solidFill>
          <a:ln/>
        </p:spPr>
      </p:sp>
      <p:sp>
        <p:nvSpPr>
          <p:cNvPr id="220" name="Shape 218"/>
          <p:cNvSpPr/>
          <p:nvPr/>
        </p:nvSpPr>
        <p:spPr>
          <a:xfrm>
            <a:off x="4806818" y="5334610"/>
            <a:ext cx="74981" cy="74981"/>
          </a:xfrm>
          <a:prstGeom prst="rect">
            <a:avLst/>
          </a:prstGeom>
          <a:solidFill>
            <a:srgbClr val="36679E"/>
          </a:solidFill>
          <a:ln/>
        </p:spPr>
      </p:sp>
      <p:sp>
        <p:nvSpPr>
          <p:cNvPr id="221" name="Shape 219"/>
          <p:cNvSpPr/>
          <p:nvPr/>
        </p:nvSpPr>
        <p:spPr>
          <a:xfrm>
            <a:off x="4991161" y="5334610"/>
            <a:ext cx="74981" cy="74981"/>
          </a:xfrm>
          <a:prstGeom prst="rect">
            <a:avLst/>
          </a:prstGeom>
          <a:solidFill>
            <a:srgbClr val="36679E"/>
          </a:solidFill>
          <a:ln/>
        </p:spPr>
      </p:sp>
      <p:sp>
        <p:nvSpPr>
          <p:cNvPr id="222" name="Shape 220"/>
          <p:cNvSpPr/>
          <p:nvPr/>
        </p:nvSpPr>
        <p:spPr>
          <a:xfrm>
            <a:off x="5175504" y="5334610"/>
            <a:ext cx="74981" cy="74981"/>
          </a:xfrm>
          <a:prstGeom prst="rect">
            <a:avLst/>
          </a:prstGeom>
          <a:solidFill>
            <a:srgbClr val="36679E"/>
          </a:solidFill>
          <a:ln/>
        </p:spPr>
      </p:sp>
      <p:sp>
        <p:nvSpPr>
          <p:cNvPr id="223" name="Shape 221"/>
          <p:cNvSpPr/>
          <p:nvPr/>
        </p:nvSpPr>
        <p:spPr>
          <a:xfrm>
            <a:off x="5359847" y="5334610"/>
            <a:ext cx="74981" cy="74981"/>
          </a:xfrm>
          <a:prstGeom prst="rect">
            <a:avLst/>
          </a:prstGeom>
          <a:solidFill>
            <a:srgbClr val="36679E"/>
          </a:solidFill>
          <a:ln/>
        </p:spPr>
      </p:sp>
      <p:sp>
        <p:nvSpPr>
          <p:cNvPr id="224" name="Shape 222"/>
          <p:cNvSpPr/>
          <p:nvPr/>
        </p:nvSpPr>
        <p:spPr>
          <a:xfrm>
            <a:off x="5544190" y="5334610"/>
            <a:ext cx="74981" cy="74981"/>
          </a:xfrm>
          <a:prstGeom prst="rect">
            <a:avLst/>
          </a:prstGeom>
          <a:solidFill>
            <a:srgbClr val="36679E"/>
          </a:solidFill>
          <a:ln/>
        </p:spPr>
      </p:sp>
      <p:sp>
        <p:nvSpPr>
          <p:cNvPr id="225" name="Shape 223"/>
          <p:cNvSpPr/>
          <p:nvPr/>
        </p:nvSpPr>
        <p:spPr>
          <a:xfrm>
            <a:off x="5728533" y="5334610"/>
            <a:ext cx="74981" cy="74981"/>
          </a:xfrm>
          <a:prstGeom prst="rect">
            <a:avLst/>
          </a:prstGeom>
          <a:solidFill>
            <a:srgbClr val="36679E"/>
          </a:solidFill>
          <a:ln/>
        </p:spPr>
      </p:sp>
      <p:sp>
        <p:nvSpPr>
          <p:cNvPr id="226" name="Shape 224"/>
          <p:cNvSpPr/>
          <p:nvPr/>
        </p:nvSpPr>
        <p:spPr>
          <a:xfrm>
            <a:off x="5912876" y="5334610"/>
            <a:ext cx="74981" cy="74981"/>
          </a:xfrm>
          <a:prstGeom prst="rect">
            <a:avLst/>
          </a:prstGeom>
          <a:solidFill>
            <a:srgbClr val="36679E"/>
          </a:solidFill>
          <a:ln/>
        </p:spPr>
      </p:sp>
      <p:sp>
        <p:nvSpPr>
          <p:cNvPr id="227" name="Shape 225"/>
          <p:cNvSpPr/>
          <p:nvPr/>
        </p:nvSpPr>
        <p:spPr>
          <a:xfrm>
            <a:off x="6097219" y="5334610"/>
            <a:ext cx="74981" cy="74981"/>
          </a:xfrm>
          <a:prstGeom prst="rect">
            <a:avLst/>
          </a:prstGeom>
          <a:solidFill>
            <a:srgbClr val="36679E"/>
          </a:solidFill>
          <a:ln/>
        </p:spPr>
      </p:sp>
      <p:sp>
        <p:nvSpPr>
          <p:cNvPr id="228" name="Shape 226"/>
          <p:cNvSpPr/>
          <p:nvPr/>
        </p:nvSpPr>
        <p:spPr>
          <a:xfrm>
            <a:off x="6281562" y="5334610"/>
            <a:ext cx="74981" cy="74981"/>
          </a:xfrm>
          <a:prstGeom prst="rect">
            <a:avLst/>
          </a:prstGeom>
          <a:solidFill>
            <a:srgbClr val="36679E"/>
          </a:solidFill>
          <a:ln/>
        </p:spPr>
      </p:sp>
      <p:sp>
        <p:nvSpPr>
          <p:cNvPr id="229" name="Shape 227"/>
          <p:cNvSpPr/>
          <p:nvPr/>
        </p:nvSpPr>
        <p:spPr>
          <a:xfrm>
            <a:off x="6465905" y="5334610"/>
            <a:ext cx="74981" cy="74981"/>
          </a:xfrm>
          <a:prstGeom prst="rect">
            <a:avLst/>
          </a:prstGeom>
          <a:solidFill>
            <a:srgbClr val="36679E"/>
          </a:solidFill>
          <a:ln/>
        </p:spPr>
      </p:sp>
      <p:sp>
        <p:nvSpPr>
          <p:cNvPr id="230" name="Shape 228"/>
          <p:cNvSpPr/>
          <p:nvPr/>
        </p:nvSpPr>
        <p:spPr>
          <a:xfrm>
            <a:off x="6650248" y="5334610"/>
            <a:ext cx="74981" cy="74981"/>
          </a:xfrm>
          <a:prstGeom prst="rect">
            <a:avLst/>
          </a:prstGeom>
          <a:solidFill>
            <a:srgbClr val="36679E"/>
          </a:solidFill>
          <a:ln/>
        </p:spPr>
      </p:sp>
      <p:sp>
        <p:nvSpPr>
          <p:cNvPr id="231" name="Shape 229"/>
          <p:cNvSpPr/>
          <p:nvPr/>
        </p:nvSpPr>
        <p:spPr>
          <a:xfrm>
            <a:off x="6834591" y="5334610"/>
            <a:ext cx="74981" cy="74981"/>
          </a:xfrm>
          <a:prstGeom prst="rect">
            <a:avLst/>
          </a:prstGeom>
          <a:solidFill>
            <a:srgbClr val="36679E"/>
          </a:solidFill>
          <a:ln/>
        </p:spPr>
      </p:sp>
      <p:sp>
        <p:nvSpPr>
          <p:cNvPr id="232" name="Shape 230"/>
          <p:cNvSpPr/>
          <p:nvPr/>
        </p:nvSpPr>
        <p:spPr>
          <a:xfrm>
            <a:off x="7018934" y="5334610"/>
            <a:ext cx="74981" cy="74981"/>
          </a:xfrm>
          <a:prstGeom prst="rect">
            <a:avLst/>
          </a:prstGeom>
          <a:solidFill>
            <a:srgbClr val="36679E"/>
          </a:solidFill>
          <a:ln/>
        </p:spPr>
      </p:sp>
      <p:sp>
        <p:nvSpPr>
          <p:cNvPr id="233" name="Shape 231"/>
          <p:cNvSpPr/>
          <p:nvPr/>
        </p:nvSpPr>
        <p:spPr>
          <a:xfrm>
            <a:off x="7203277" y="5334610"/>
            <a:ext cx="74981" cy="74981"/>
          </a:xfrm>
          <a:prstGeom prst="rect">
            <a:avLst/>
          </a:prstGeom>
          <a:solidFill>
            <a:srgbClr val="36679E"/>
          </a:solidFill>
          <a:ln/>
        </p:spPr>
      </p:sp>
      <p:sp>
        <p:nvSpPr>
          <p:cNvPr id="234" name="Shape 232"/>
          <p:cNvSpPr/>
          <p:nvPr/>
        </p:nvSpPr>
        <p:spPr>
          <a:xfrm>
            <a:off x="7387620" y="5334610"/>
            <a:ext cx="74981" cy="74981"/>
          </a:xfrm>
          <a:prstGeom prst="rect">
            <a:avLst/>
          </a:prstGeom>
          <a:solidFill>
            <a:srgbClr val="36679E"/>
          </a:solidFill>
          <a:ln/>
        </p:spPr>
      </p:sp>
      <p:sp>
        <p:nvSpPr>
          <p:cNvPr id="235" name="Shape 233"/>
          <p:cNvSpPr/>
          <p:nvPr/>
        </p:nvSpPr>
        <p:spPr>
          <a:xfrm>
            <a:off x="7571964" y="5334610"/>
            <a:ext cx="74981" cy="74981"/>
          </a:xfrm>
          <a:prstGeom prst="rect">
            <a:avLst/>
          </a:prstGeom>
          <a:solidFill>
            <a:srgbClr val="36679E"/>
          </a:solidFill>
          <a:ln/>
        </p:spPr>
      </p:sp>
      <p:sp>
        <p:nvSpPr>
          <p:cNvPr id="236" name="Shape 234"/>
          <p:cNvSpPr/>
          <p:nvPr/>
        </p:nvSpPr>
        <p:spPr>
          <a:xfrm>
            <a:off x="7756307" y="5334610"/>
            <a:ext cx="74981" cy="74981"/>
          </a:xfrm>
          <a:prstGeom prst="rect">
            <a:avLst/>
          </a:prstGeom>
          <a:solidFill>
            <a:srgbClr val="36679E"/>
          </a:solidFill>
          <a:ln/>
        </p:spPr>
      </p:sp>
      <p:sp>
        <p:nvSpPr>
          <p:cNvPr id="237" name="Shape 235"/>
          <p:cNvSpPr/>
          <p:nvPr/>
        </p:nvSpPr>
        <p:spPr>
          <a:xfrm>
            <a:off x="7940650" y="5334610"/>
            <a:ext cx="74981" cy="74981"/>
          </a:xfrm>
          <a:prstGeom prst="rect">
            <a:avLst/>
          </a:prstGeom>
          <a:solidFill>
            <a:srgbClr val="36679E"/>
          </a:solidFill>
          <a:ln/>
        </p:spPr>
      </p:sp>
      <p:sp>
        <p:nvSpPr>
          <p:cNvPr id="238" name="Shape 236"/>
          <p:cNvSpPr/>
          <p:nvPr/>
        </p:nvSpPr>
        <p:spPr>
          <a:xfrm>
            <a:off x="8124993" y="5334610"/>
            <a:ext cx="74981" cy="74981"/>
          </a:xfrm>
          <a:prstGeom prst="rect">
            <a:avLst/>
          </a:prstGeom>
          <a:solidFill>
            <a:srgbClr val="36679E"/>
          </a:solidFill>
          <a:ln/>
        </p:spPr>
      </p:sp>
      <p:sp>
        <p:nvSpPr>
          <p:cNvPr id="239" name="Shape 237"/>
          <p:cNvSpPr/>
          <p:nvPr/>
        </p:nvSpPr>
        <p:spPr>
          <a:xfrm>
            <a:off x="8309336" y="5334610"/>
            <a:ext cx="74981" cy="74981"/>
          </a:xfrm>
          <a:prstGeom prst="rect">
            <a:avLst/>
          </a:prstGeom>
          <a:solidFill>
            <a:srgbClr val="36679E"/>
          </a:solidFill>
          <a:ln/>
        </p:spPr>
      </p:sp>
      <p:sp>
        <p:nvSpPr>
          <p:cNvPr id="240" name="Shape 238"/>
          <p:cNvSpPr/>
          <p:nvPr/>
        </p:nvSpPr>
        <p:spPr>
          <a:xfrm>
            <a:off x="8493679" y="5334610"/>
            <a:ext cx="74981" cy="74981"/>
          </a:xfrm>
          <a:prstGeom prst="rect">
            <a:avLst/>
          </a:prstGeom>
          <a:solidFill>
            <a:srgbClr val="36679E"/>
          </a:solidFill>
          <a:ln/>
        </p:spPr>
      </p:sp>
      <p:sp>
        <p:nvSpPr>
          <p:cNvPr id="241" name="Shape 239"/>
          <p:cNvSpPr/>
          <p:nvPr/>
        </p:nvSpPr>
        <p:spPr>
          <a:xfrm>
            <a:off x="8678022" y="5334610"/>
            <a:ext cx="74981" cy="74981"/>
          </a:xfrm>
          <a:prstGeom prst="rect">
            <a:avLst/>
          </a:prstGeom>
          <a:solidFill>
            <a:srgbClr val="36679E"/>
          </a:solidFill>
          <a:ln/>
        </p:spPr>
      </p:sp>
      <p:sp>
        <p:nvSpPr>
          <p:cNvPr id="242" name="Shape 240"/>
          <p:cNvSpPr/>
          <p:nvPr/>
        </p:nvSpPr>
        <p:spPr>
          <a:xfrm>
            <a:off x="8862365" y="5334610"/>
            <a:ext cx="74981" cy="74981"/>
          </a:xfrm>
          <a:prstGeom prst="rect">
            <a:avLst/>
          </a:prstGeom>
          <a:solidFill>
            <a:srgbClr val="36679E"/>
          </a:solidFill>
          <a:ln/>
        </p:spPr>
      </p:sp>
      <p:sp>
        <p:nvSpPr>
          <p:cNvPr id="243" name="Shape 241"/>
          <p:cNvSpPr/>
          <p:nvPr/>
        </p:nvSpPr>
        <p:spPr>
          <a:xfrm>
            <a:off x="9046708" y="5334610"/>
            <a:ext cx="74981" cy="74981"/>
          </a:xfrm>
          <a:prstGeom prst="rect">
            <a:avLst/>
          </a:prstGeom>
          <a:solidFill>
            <a:srgbClr val="36679E"/>
          </a:solidFill>
          <a:ln/>
        </p:spPr>
      </p:sp>
      <p:sp>
        <p:nvSpPr>
          <p:cNvPr id="244" name="Shape 242"/>
          <p:cNvSpPr/>
          <p:nvPr/>
        </p:nvSpPr>
        <p:spPr>
          <a:xfrm>
            <a:off x="9231051" y="5334610"/>
            <a:ext cx="74981" cy="74981"/>
          </a:xfrm>
          <a:prstGeom prst="rect">
            <a:avLst/>
          </a:prstGeom>
          <a:solidFill>
            <a:srgbClr val="36679E"/>
          </a:solidFill>
          <a:ln/>
        </p:spPr>
      </p:sp>
      <p:sp>
        <p:nvSpPr>
          <p:cNvPr id="245" name="Shape 243"/>
          <p:cNvSpPr/>
          <p:nvPr/>
        </p:nvSpPr>
        <p:spPr>
          <a:xfrm>
            <a:off x="9415394" y="5334610"/>
            <a:ext cx="74981" cy="74981"/>
          </a:xfrm>
          <a:prstGeom prst="rect">
            <a:avLst/>
          </a:prstGeom>
          <a:solidFill>
            <a:srgbClr val="36679E"/>
          </a:solidFill>
          <a:ln/>
        </p:spPr>
      </p:sp>
      <p:sp>
        <p:nvSpPr>
          <p:cNvPr id="246" name="Shape 244"/>
          <p:cNvSpPr/>
          <p:nvPr/>
        </p:nvSpPr>
        <p:spPr>
          <a:xfrm>
            <a:off x="9599737" y="5334610"/>
            <a:ext cx="74981" cy="74981"/>
          </a:xfrm>
          <a:prstGeom prst="rect">
            <a:avLst/>
          </a:prstGeom>
          <a:solidFill>
            <a:srgbClr val="36679E"/>
          </a:solidFill>
          <a:ln/>
        </p:spPr>
      </p:sp>
      <p:sp>
        <p:nvSpPr>
          <p:cNvPr id="247" name="Shape 245"/>
          <p:cNvSpPr/>
          <p:nvPr/>
        </p:nvSpPr>
        <p:spPr>
          <a:xfrm>
            <a:off x="9784080" y="5334610"/>
            <a:ext cx="74981" cy="74981"/>
          </a:xfrm>
          <a:prstGeom prst="rect">
            <a:avLst/>
          </a:prstGeom>
          <a:solidFill>
            <a:srgbClr val="36679E"/>
          </a:solidFill>
          <a:ln/>
        </p:spPr>
      </p:sp>
      <p:sp>
        <p:nvSpPr>
          <p:cNvPr id="248" name="Shape 246"/>
          <p:cNvSpPr/>
          <p:nvPr/>
        </p:nvSpPr>
        <p:spPr>
          <a:xfrm>
            <a:off x="9968423" y="5334610"/>
            <a:ext cx="74981" cy="74981"/>
          </a:xfrm>
          <a:prstGeom prst="rect">
            <a:avLst/>
          </a:prstGeom>
          <a:solidFill>
            <a:srgbClr val="36679E"/>
          </a:solidFill>
          <a:ln/>
        </p:spPr>
      </p:sp>
      <p:sp>
        <p:nvSpPr>
          <p:cNvPr id="249" name="Shape 247"/>
          <p:cNvSpPr/>
          <p:nvPr/>
        </p:nvSpPr>
        <p:spPr>
          <a:xfrm>
            <a:off x="10152766" y="5334610"/>
            <a:ext cx="74981" cy="74981"/>
          </a:xfrm>
          <a:prstGeom prst="rect">
            <a:avLst/>
          </a:prstGeom>
          <a:solidFill>
            <a:srgbClr val="36679E"/>
          </a:solidFill>
          <a:ln/>
        </p:spPr>
      </p:sp>
      <p:sp>
        <p:nvSpPr>
          <p:cNvPr id="250" name="Shape 248"/>
          <p:cNvSpPr/>
          <p:nvPr/>
        </p:nvSpPr>
        <p:spPr>
          <a:xfrm>
            <a:off x="10337109" y="5334610"/>
            <a:ext cx="74981" cy="74981"/>
          </a:xfrm>
          <a:prstGeom prst="rect">
            <a:avLst/>
          </a:prstGeom>
          <a:solidFill>
            <a:srgbClr val="36679E"/>
          </a:solidFill>
          <a:ln/>
        </p:spPr>
      </p:sp>
      <p:sp>
        <p:nvSpPr>
          <p:cNvPr id="251" name="Shape 249"/>
          <p:cNvSpPr/>
          <p:nvPr/>
        </p:nvSpPr>
        <p:spPr>
          <a:xfrm>
            <a:off x="10521452" y="5334610"/>
            <a:ext cx="74981" cy="74981"/>
          </a:xfrm>
          <a:prstGeom prst="rect">
            <a:avLst/>
          </a:prstGeom>
          <a:solidFill>
            <a:srgbClr val="36679E"/>
          </a:solidFill>
          <a:ln/>
        </p:spPr>
      </p:sp>
      <p:sp>
        <p:nvSpPr>
          <p:cNvPr id="252" name="Shape 250"/>
          <p:cNvSpPr/>
          <p:nvPr/>
        </p:nvSpPr>
        <p:spPr>
          <a:xfrm>
            <a:off x="10705795" y="5334610"/>
            <a:ext cx="74981" cy="74981"/>
          </a:xfrm>
          <a:prstGeom prst="rect">
            <a:avLst/>
          </a:prstGeom>
          <a:solidFill>
            <a:srgbClr val="36679E"/>
          </a:solidFill>
          <a:ln/>
        </p:spPr>
      </p:sp>
      <p:sp>
        <p:nvSpPr>
          <p:cNvPr id="253" name="Shape 251"/>
          <p:cNvSpPr/>
          <p:nvPr/>
        </p:nvSpPr>
        <p:spPr>
          <a:xfrm>
            <a:off x="10890138" y="5334610"/>
            <a:ext cx="74981" cy="74981"/>
          </a:xfrm>
          <a:prstGeom prst="rect">
            <a:avLst/>
          </a:prstGeom>
          <a:solidFill>
            <a:srgbClr val="36679E"/>
          </a:solidFill>
          <a:ln/>
        </p:spPr>
      </p:sp>
      <p:sp>
        <p:nvSpPr>
          <p:cNvPr id="254" name="Shape 252"/>
          <p:cNvSpPr/>
          <p:nvPr/>
        </p:nvSpPr>
        <p:spPr>
          <a:xfrm>
            <a:off x="11074481" y="5334610"/>
            <a:ext cx="74981" cy="74981"/>
          </a:xfrm>
          <a:prstGeom prst="rect">
            <a:avLst/>
          </a:prstGeom>
          <a:solidFill>
            <a:srgbClr val="36679E"/>
          </a:solidFill>
          <a:ln/>
        </p:spPr>
      </p:sp>
      <p:sp>
        <p:nvSpPr>
          <p:cNvPr id="255" name="Shape 253"/>
          <p:cNvSpPr/>
          <p:nvPr/>
        </p:nvSpPr>
        <p:spPr>
          <a:xfrm>
            <a:off x="11258824" y="5334610"/>
            <a:ext cx="74981" cy="74981"/>
          </a:xfrm>
          <a:prstGeom prst="rect">
            <a:avLst/>
          </a:prstGeom>
          <a:solidFill>
            <a:srgbClr val="36679E"/>
          </a:solidFill>
          <a:ln/>
        </p:spPr>
      </p:sp>
      <p:sp>
        <p:nvSpPr>
          <p:cNvPr id="256" name="Shape 254"/>
          <p:cNvSpPr/>
          <p:nvPr/>
        </p:nvSpPr>
        <p:spPr>
          <a:xfrm>
            <a:off x="11443167" y="5334610"/>
            <a:ext cx="74981" cy="74981"/>
          </a:xfrm>
          <a:prstGeom prst="rect">
            <a:avLst/>
          </a:prstGeom>
          <a:solidFill>
            <a:srgbClr val="36679E"/>
          </a:solidFill>
          <a:ln/>
        </p:spPr>
      </p:sp>
      <p:sp>
        <p:nvSpPr>
          <p:cNvPr id="257" name="Shape 255"/>
          <p:cNvSpPr/>
          <p:nvPr/>
        </p:nvSpPr>
        <p:spPr>
          <a:xfrm>
            <a:off x="566928" y="5451653"/>
            <a:ext cx="74981" cy="74981"/>
          </a:xfrm>
          <a:prstGeom prst="rect">
            <a:avLst/>
          </a:prstGeom>
          <a:solidFill>
            <a:srgbClr val="3D70A9"/>
          </a:solidFill>
          <a:ln/>
        </p:spPr>
      </p:sp>
      <p:sp>
        <p:nvSpPr>
          <p:cNvPr id="258" name="Shape 256"/>
          <p:cNvSpPr/>
          <p:nvPr/>
        </p:nvSpPr>
        <p:spPr>
          <a:xfrm>
            <a:off x="751271" y="5451653"/>
            <a:ext cx="74981" cy="74981"/>
          </a:xfrm>
          <a:prstGeom prst="rect">
            <a:avLst/>
          </a:prstGeom>
          <a:solidFill>
            <a:srgbClr val="3D70A9"/>
          </a:solidFill>
          <a:ln/>
        </p:spPr>
      </p:sp>
      <p:sp>
        <p:nvSpPr>
          <p:cNvPr id="259" name="Shape 257"/>
          <p:cNvSpPr/>
          <p:nvPr/>
        </p:nvSpPr>
        <p:spPr>
          <a:xfrm>
            <a:off x="935614" y="5451653"/>
            <a:ext cx="74981" cy="74981"/>
          </a:xfrm>
          <a:prstGeom prst="rect">
            <a:avLst/>
          </a:prstGeom>
          <a:solidFill>
            <a:srgbClr val="3D70A9"/>
          </a:solidFill>
          <a:ln/>
        </p:spPr>
      </p:sp>
      <p:sp>
        <p:nvSpPr>
          <p:cNvPr id="260" name="Shape 258"/>
          <p:cNvSpPr/>
          <p:nvPr/>
        </p:nvSpPr>
        <p:spPr>
          <a:xfrm>
            <a:off x="1119957" y="5451653"/>
            <a:ext cx="74981" cy="74981"/>
          </a:xfrm>
          <a:prstGeom prst="rect">
            <a:avLst/>
          </a:prstGeom>
          <a:solidFill>
            <a:srgbClr val="3D70A9"/>
          </a:solidFill>
          <a:ln/>
        </p:spPr>
      </p:sp>
      <p:sp>
        <p:nvSpPr>
          <p:cNvPr id="261" name="Shape 259"/>
          <p:cNvSpPr/>
          <p:nvPr/>
        </p:nvSpPr>
        <p:spPr>
          <a:xfrm>
            <a:off x="1304300" y="5451653"/>
            <a:ext cx="74981" cy="74981"/>
          </a:xfrm>
          <a:prstGeom prst="rect">
            <a:avLst/>
          </a:prstGeom>
          <a:solidFill>
            <a:srgbClr val="3D70A9"/>
          </a:solidFill>
          <a:ln/>
        </p:spPr>
      </p:sp>
      <p:sp>
        <p:nvSpPr>
          <p:cNvPr id="262" name="Shape 260"/>
          <p:cNvSpPr/>
          <p:nvPr/>
        </p:nvSpPr>
        <p:spPr>
          <a:xfrm>
            <a:off x="1488643" y="5451653"/>
            <a:ext cx="74981" cy="74981"/>
          </a:xfrm>
          <a:prstGeom prst="rect">
            <a:avLst/>
          </a:prstGeom>
          <a:solidFill>
            <a:srgbClr val="3D70A9"/>
          </a:solidFill>
          <a:ln/>
        </p:spPr>
      </p:sp>
      <p:sp>
        <p:nvSpPr>
          <p:cNvPr id="263" name="Shape 261"/>
          <p:cNvSpPr/>
          <p:nvPr/>
        </p:nvSpPr>
        <p:spPr>
          <a:xfrm>
            <a:off x="1672986" y="5451653"/>
            <a:ext cx="74981" cy="74981"/>
          </a:xfrm>
          <a:prstGeom prst="rect">
            <a:avLst/>
          </a:prstGeom>
          <a:solidFill>
            <a:srgbClr val="3D70A9"/>
          </a:solidFill>
          <a:ln/>
        </p:spPr>
      </p:sp>
      <p:sp>
        <p:nvSpPr>
          <p:cNvPr id="264" name="Shape 262"/>
          <p:cNvSpPr/>
          <p:nvPr/>
        </p:nvSpPr>
        <p:spPr>
          <a:xfrm>
            <a:off x="1857329" y="5451653"/>
            <a:ext cx="74981" cy="74981"/>
          </a:xfrm>
          <a:prstGeom prst="rect">
            <a:avLst/>
          </a:prstGeom>
          <a:solidFill>
            <a:srgbClr val="3D70A9"/>
          </a:solidFill>
          <a:ln/>
        </p:spPr>
      </p:sp>
      <p:sp>
        <p:nvSpPr>
          <p:cNvPr id="265" name="Shape 263"/>
          <p:cNvSpPr/>
          <p:nvPr/>
        </p:nvSpPr>
        <p:spPr>
          <a:xfrm>
            <a:off x="2041672" y="5451653"/>
            <a:ext cx="74981" cy="74981"/>
          </a:xfrm>
          <a:prstGeom prst="rect">
            <a:avLst/>
          </a:prstGeom>
          <a:solidFill>
            <a:srgbClr val="3D70A9"/>
          </a:solidFill>
          <a:ln/>
        </p:spPr>
      </p:sp>
      <p:sp>
        <p:nvSpPr>
          <p:cNvPr id="266" name="Shape 264"/>
          <p:cNvSpPr/>
          <p:nvPr/>
        </p:nvSpPr>
        <p:spPr>
          <a:xfrm>
            <a:off x="2226015" y="5451653"/>
            <a:ext cx="74981" cy="74981"/>
          </a:xfrm>
          <a:prstGeom prst="rect">
            <a:avLst/>
          </a:prstGeom>
          <a:solidFill>
            <a:srgbClr val="3D70A9"/>
          </a:solidFill>
          <a:ln/>
        </p:spPr>
      </p:sp>
      <p:sp>
        <p:nvSpPr>
          <p:cNvPr id="267" name="Shape 265"/>
          <p:cNvSpPr/>
          <p:nvPr/>
        </p:nvSpPr>
        <p:spPr>
          <a:xfrm>
            <a:off x="2410358" y="5451653"/>
            <a:ext cx="74981" cy="74981"/>
          </a:xfrm>
          <a:prstGeom prst="rect">
            <a:avLst/>
          </a:prstGeom>
          <a:solidFill>
            <a:srgbClr val="3D70A9"/>
          </a:solidFill>
          <a:ln/>
        </p:spPr>
      </p:sp>
      <p:sp>
        <p:nvSpPr>
          <p:cNvPr id="268" name="Shape 266"/>
          <p:cNvSpPr/>
          <p:nvPr/>
        </p:nvSpPr>
        <p:spPr>
          <a:xfrm>
            <a:off x="2594701" y="5451653"/>
            <a:ext cx="74981" cy="74981"/>
          </a:xfrm>
          <a:prstGeom prst="rect">
            <a:avLst/>
          </a:prstGeom>
          <a:solidFill>
            <a:srgbClr val="3D70A9"/>
          </a:solidFill>
          <a:ln/>
        </p:spPr>
      </p:sp>
      <p:sp>
        <p:nvSpPr>
          <p:cNvPr id="269" name="Shape 267"/>
          <p:cNvSpPr/>
          <p:nvPr/>
        </p:nvSpPr>
        <p:spPr>
          <a:xfrm>
            <a:off x="2779044" y="5451653"/>
            <a:ext cx="74981" cy="74981"/>
          </a:xfrm>
          <a:prstGeom prst="rect">
            <a:avLst/>
          </a:prstGeom>
          <a:solidFill>
            <a:srgbClr val="3D70A9"/>
          </a:solidFill>
          <a:ln/>
        </p:spPr>
      </p:sp>
      <p:sp>
        <p:nvSpPr>
          <p:cNvPr id="270" name="Shape 268"/>
          <p:cNvSpPr/>
          <p:nvPr/>
        </p:nvSpPr>
        <p:spPr>
          <a:xfrm>
            <a:off x="2963388" y="5451653"/>
            <a:ext cx="74981" cy="74981"/>
          </a:xfrm>
          <a:prstGeom prst="rect">
            <a:avLst/>
          </a:prstGeom>
          <a:solidFill>
            <a:srgbClr val="3D70A9"/>
          </a:solidFill>
          <a:ln/>
        </p:spPr>
      </p:sp>
      <p:sp>
        <p:nvSpPr>
          <p:cNvPr id="271" name="Shape 269"/>
          <p:cNvSpPr/>
          <p:nvPr/>
        </p:nvSpPr>
        <p:spPr>
          <a:xfrm>
            <a:off x="3147731" y="5451653"/>
            <a:ext cx="74981" cy="74981"/>
          </a:xfrm>
          <a:prstGeom prst="rect">
            <a:avLst/>
          </a:prstGeom>
          <a:solidFill>
            <a:srgbClr val="3D70A9"/>
          </a:solidFill>
          <a:ln/>
        </p:spPr>
      </p:sp>
      <p:sp>
        <p:nvSpPr>
          <p:cNvPr id="272" name="Shape 270"/>
          <p:cNvSpPr/>
          <p:nvPr/>
        </p:nvSpPr>
        <p:spPr>
          <a:xfrm>
            <a:off x="3332074" y="5451653"/>
            <a:ext cx="74981" cy="74981"/>
          </a:xfrm>
          <a:prstGeom prst="rect">
            <a:avLst/>
          </a:prstGeom>
          <a:solidFill>
            <a:srgbClr val="3D70A9"/>
          </a:solidFill>
          <a:ln/>
        </p:spPr>
      </p:sp>
      <p:sp>
        <p:nvSpPr>
          <p:cNvPr id="273" name="Shape 271"/>
          <p:cNvSpPr/>
          <p:nvPr/>
        </p:nvSpPr>
        <p:spPr>
          <a:xfrm>
            <a:off x="3516417" y="5451653"/>
            <a:ext cx="74981" cy="74981"/>
          </a:xfrm>
          <a:prstGeom prst="rect">
            <a:avLst/>
          </a:prstGeom>
          <a:solidFill>
            <a:srgbClr val="3D70A9"/>
          </a:solidFill>
          <a:ln/>
        </p:spPr>
      </p:sp>
      <p:sp>
        <p:nvSpPr>
          <p:cNvPr id="274" name="Shape 272"/>
          <p:cNvSpPr/>
          <p:nvPr/>
        </p:nvSpPr>
        <p:spPr>
          <a:xfrm>
            <a:off x="3700760" y="5451653"/>
            <a:ext cx="74981" cy="74981"/>
          </a:xfrm>
          <a:prstGeom prst="rect">
            <a:avLst/>
          </a:prstGeom>
          <a:solidFill>
            <a:srgbClr val="3D70A9"/>
          </a:solidFill>
          <a:ln/>
        </p:spPr>
      </p:sp>
      <p:sp>
        <p:nvSpPr>
          <p:cNvPr id="275" name="Shape 273"/>
          <p:cNvSpPr/>
          <p:nvPr/>
        </p:nvSpPr>
        <p:spPr>
          <a:xfrm>
            <a:off x="3885103" y="5451653"/>
            <a:ext cx="74981" cy="74981"/>
          </a:xfrm>
          <a:prstGeom prst="rect">
            <a:avLst/>
          </a:prstGeom>
          <a:solidFill>
            <a:srgbClr val="3D70A9"/>
          </a:solidFill>
          <a:ln/>
        </p:spPr>
      </p:sp>
      <p:sp>
        <p:nvSpPr>
          <p:cNvPr id="276" name="Shape 274"/>
          <p:cNvSpPr/>
          <p:nvPr/>
        </p:nvSpPr>
        <p:spPr>
          <a:xfrm>
            <a:off x="4069446" y="5451653"/>
            <a:ext cx="74981" cy="74981"/>
          </a:xfrm>
          <a:prstGeom prst="rect">
            <a:avLst/>
          </a:prstGeom>
          <a:solidFill>
            <a:srgbClr val="3D70A9"/>
          </a:solidFill>
          <a:ln/>
        </p:spPr>
      </p:sp>
      <p:sp>
        <p:nvSpPr>
          <p:cNvPr id="277" name="Shape 275"/>
          <p:cNvSpPr/>
          <p:nvPr/>
        </p:nvSpPr>
        <p:spPr>
          <a:xfrm>
            <a:off x="4253789" y="5451653"/>
            <a:ext cx="74981" cy="74981"/>
          </a:xfrm>
          <a:prstGeom prst="rect">
            <a:avLst/>
          </a:prstGeom>
          <a:solidFill>
            <a:srgbClr val="3D70A9"/>
          </a:solidFill>
          <a:ln/>
        </p:spPr>
      </p:sp>
      <p:sp>
        <p:nvSpPr>
          <p:cNvPr id="278" name="Shape 276"/>
          <p:cNvSpPr/>
          <p:nvPr/>
        </p:nvSpPr>
        <p:spPr>
          <a:xfrm>
            <a:off x="4438132" y="5451653"/>
            <a:ext cx="74981" cy="74981"/>
          </a:xfrm>
          <a:prstGeom prst="rect">
            <a:avLst/>
          </a:prstGeom>
          <a:solidFill>
            <a:srgbClr val="3D70A9"/>
          </a:solidFill>
          <a:ln/>
        </p:spPr>
      </p:sp>
      <p:sp>
        <p:nvSpPr>
          <p:cNvPr id="279" name="Shape 277"/>
          <p:cNvSpPr/>
          <p:nvPr/>
        </p:nvSpPr>
        <p:spPr>
          <a:xfrm>
            <a:off x="4622475" y="5451653"/>
            <a:ext cx="74981" cy="74981"/>
          </a:xfrm>
          <a:prstGeom prst="rect">
            <a:avLst/>
          </a:prstGeom>
          <a:solidFill>
            <a:srgbClr val="3D70A9"/>
          </a:solidFill>
          <a:ln/>
        </p:spPr>
      </p:sp>
      <p:sp>
        <p:nvSpPr>
          <p:cNvPr id="280" name="Shape 278"/>
          <p:cNvSpPr/>
          <p:nvPr/>
        </p:nvSpPr>
        <p:spPr>
          <a:xfrm>
            <a:off x="4806818" y="5451653"/>
            <a:ext cx="74981" cy="74981"/>
          </a:xfrm>
          <a:prstGeom prst="rect">
            <a:avLst/>
          </a:prstGeom>
          <a:solidFill>
            <a:srgbClr val="3D70A9"/>
          </a:solidFill>
          <a:ln/>
        </p:spPr>
      </p:sp>
      <p:sp>
        <p:nvSpPr>
          <p:cNvPr id="281" name="Shape 279"/>
          <p:cNvSpPr/>
          <p:nvPr/>
        </p:nvSpPr>
        <p:spPr>
          <a:xfrm>
            <a:off x="4991161" y="5451653"/>
            <a:ext cx="74981" cy="74981"/>
          </a:xfrm>
          <a:prstGeom prst="rect">
            <a:avLst/>
          </a:prstGeom>
          <a:solidFill>
            <a:srgbClr val="3D70A9"/>
          </a:solidFill>
          <a:ln/>
        </p:spPr>
      </p:sp>
      <p:sp>
        <p:nvSpPr>
          <p:cNvPr id="282" name="Shape 280"/>
          <p:cNvSpPr/>
          <p:nvPr/>
        </p:nvSpPr>
        <p:spPr>
          <a:xfrm>
            <a:off x="5175504" y="5451653"/>
            <a:ext cx="74981" cy="74981"/>
          </a:xfrm>
          <a:prstGeom prst="rect">
            <a:avLst/>
          </a:prstGeom>
          <a:solidFill>
            <a:srgbClr val="3D70A9"/>
          </a:solidFill>
          <a:ln/>
        </p:spPr>
      </p:sp>
      <p:sp>
        <p:nvSpPr>
          <p:cNvPr id="283" name="Shape 281"/>
          <p:cNvSpPr/>
          <p:nvPr/>
        </p:nvSpPr>
        <p:spPr>
          <a:xfrm>
            <a:off x="5359847" y="5451653"/>
            <a:ext cx="74981" cy="74981"/>
          </a:xfrm>
          <a:prstGeom prst="rect">
            <a:avLst/>
          </a:prstGeom>
          <a:solidFill>
            <a:srgbClr val="3D70A9"/>
          </a:solidFill>
          <a:ln/>
        </p:spPr>
      </p:sp>
      <p:sp>
        <p:nvSpPr>
          <p:cNvPr id="284" name="Shape 282"/>
          <p:cNvSpPr/>
          <p:nvPr/>
        </p:nvSpPr>
        <p:spPr>
          <a:xfrm>
            <a:off x="5544190" y="5451653"/>
            <a:ext cx="74981" cy="74981"/>
          </a:xfrm>
          <a:prstGeom prst="rect">
            <a:avLst/>
          </a:prstGeom>
          <a:solidFill>
            <a:srgbClr val="3D70A9"/>
          </a:solidFill>
          <a:ln/>
        </p:spPr>
      </p:sp>
      <p:sp>
        <p:nvSpPr>
          <p:cNvPr id="285" name="Shape 283"/>
          <p:cNvSpPr/>
          <p:nvPr/>
        </p:nvSpPr>
        <p:spPr>
          <a:xfrm>
            <a:off x="5728533" y="5451653"/>
            <a:ext cx="74981" cy="74981"/>
          </a:xfrm>
          <a:prstGeom prst="rect">
            <a:avLst/>
          </a:prstGeom>
          <a:solidFill>
            <a:srgbClr val="3D70A9"/>
          </a:solidFill>
          <a:ln/>
        </p:spPr>
      </p:sp>
      <p:sp>
        <p:nvSpPr>
          <p:cNvPr id="286" name="Shape 284"/>
          <p:cNvSpPr/>
          <p:nvPr/>
        </p:nvSpPr>
        <p:spPr>
          <a:xfrm>
            <a:off x="5912876" y="5451653"/>
            <a:ext cx="74981" cy="74981"/>
          </a:xfrm>
          <a:prstGeom prst="rect">
            <a:avLst/>
          </a:prstGeom>
          <a:solidFill>
            <a:srgbClr val="3D70A9"/>
          </a:solidFill>
          <a:ln/>
        </p:spPr>
      </p:sp>
      <p:sp>
        <p:nvSpPr>
          <p:cNvPr id="287" name="Shape 285"/>
          <p:cNvSpPr/>
          <p:nvPr/>
        </p:nvSpPr>
        <p:spPr>
          <a:xfrm>
            <a:off x="6097219" y="5451653"/>
            <a:ext cx="74981" cy="74981"/>
          </a:xfrm>
          <a:prstGeom prst="rect">
            <a:avLst/>
          </a:prstGeom>
          <a:solidFill>
            <a:srgbClr val="3D70A9"/>
          </a:solidFill>
          <a:ln/>
        </p:spPr>
      </p:sp>
      <p:sp>
        <p:nvSpPr>
          <p:cNvPr id="288" name="Shape 286"/>
          <p:cNvSpPr/>
          <p:nvPr/>
        </p:nvSpPr>
        <p:spPr>
          <a:xfrm>
            <a:off x="6281562" y="5451653"/>
            <a:ext cx="74981" cy="74981"/>
          </a:xfrm>
          <a:prstGeom prst="rect">
            <a:avLst/>
          </a:prstGeom>
          <a:solidFill>
            <a:srgbClr val="3D70A9"/>
          </a:solidFill>
          <a:ln/>
        </p:spPr>
      </p:sp>
      <p:sp>
        <p:nvSpPr>
          <p:cNvPr id="289" name="Shape 287"/>
          <p:cNvSpPr/>
          <p:nvPr/>
        </p:nvSpPr>
        <p:spPr>
          <a:xfrm>
            <a:off x="6465905" y="5451653"/>
            <a:ext cx="74981" cy="74981"/>
          </a:xfrm>
          <a:prstGeom prst="rect">
            <a:avLst/>
          </a:prstGeom>
          <a:solidFill>
            <a:srgbClr val="3D70A9"/>
          </a:solidFill>
          <a:ln/>
        </p:spPr>
      </p:sp>
      <p:sp>
        <p:nvSpPr>
          <p:cNvPr id="290" name="Shape 288"/>
          <p:cNvSpPr/>
          <p:nvPr/>
        </p:nvSpPr>
        <p:spPr>
          <a:xfrm>
            <a:off x="6650248" y="5451653"/>
            <a:ext cx="74981" cy="74981"/>
          </a:xfrm>
          <a:prstGeom prst="rect">
            <a:avLst/>
          </a:prstGeom>
          <a:solidFill>
            <a:srgbClr val="3D70A9"/>
          </a:solidFill>
          <a:ln/>
        </p:spPr>
      </p:sp>
      <p:sp>
        <p:nvSpPr>
          <p:cNvPr id="291" name="Shape 289"/>
          <p:cNvSpPr/>
          <p:nvPr/>
        </p:nvSpPr>
        <p:spPr>
          <a:xfrm>
            <a:off x="6834591" y="5451653"/>
            <a:ext cx="74981" cy="74981"/>
          </a:xfrm>
          <a:prstGeom prst="rect">
            <a:avLst/>
          </a:prstGeom>
          <a:solidFill>
            <a:srgbClr val="3D70A9"/>
          </a:solidFill>
          <a:ln/>
        </p:spPr>
      </p:sp>
      <p:sp>
        <p:nvSpPr>
          <p:cNvPr id="292" name="Shape 290"/>
          <p:cNvSpPr/>
          <p:nvPr/>
        </p:nvSpPr>
        <p:spPr>
          <a:xfrm>
            <a:off x="7018934" y="5451653"/>
            <a:ext cx="74981" cy="74981"/>
          </a:xfrm>
          <a:prstGeom prst="rect">
            <a:avLst/>
          </a:prstGeom>
          <a:solidFill>
            <a:srgbClr val="3D70A9"/>
          </a:solidFill>
          <a:ln/>
        </p:spPr>
      </p:sp>
      <p:sp>
        <p:nvSpPr>
          <p:cNvPr id="293" name="Shape 291"/>
          <p:cNvSpPr/>
          <p:nvPr/>
        </p:nvSpPr>
        <p:spPr>
          <a:xfrm>
            <a:off x="7203277" y="5451653"/>
            <a:ext cx="74981" cy="74981"/>
          </a:xfrm>
          <a:prstGeom prst="rect">
            <a:avLst/>
          </a:prstGeom>
          <a:solidFill>
            <a:srgbClr val="3D70A9"/>
          </a:solidFill>
          <a:ln/>
        </p:spPr>
      </p:sp>
      <p:sp>
        <p:nvSpPr>
          <p:cNvPr id="294" name="Shape 292"/>
          <p:cNvSpPr/>
          <p:nvPr/>
        </p:nvSpPr>
        <p:spPr>
          <a:xfrm>
            <a:off x="7387620" y="5451653"/>
            <a:ext cx="74981" cy="74981"/>
          </a:xfrm>
          <a:prstGeom prst="rect">
            <a:avLst/>
          </a:prstGeom>
          <a:solidFill>
            <a:srgbClr val="3D70A9"/>
          </a:solidFill>
          <a:ln/>
        </p:spPr>
      </p:sp>
      <p:sp>
        <p:nvSpPr>
          <p:cNvPr id="295" name="Shape 293"/>
          <p:cNvSpPr/>
          <p:nvPr/>
        </p:nvSpPr>
        <p:spPr>
          <a:xfrm>
            <a:off x="7571964" y="5451653"/>
            <a:ext cx="74981" cy="74981"/>
          </a:xfrm>
          <a:prstGeom prst="rect">
            <a:avLst/>
          </a:prstGeom>
          <a:solidFill>
            <a:srgbClr val="3D70A9"/>
          </a:solidFill>
          <a:ln/>
        </p:spPr>
      </p:sp>
      <p:sp>
        <p:nvSpPr>
          <p:cNvPr id="296" name="Shape 294"/>
          <p:cNvSpPr/>
          <p:nvPr/>
        </p:nvSpPr>
        <p:spPr>
          <a:xfrm>
            <a:off x="7756307" y="5451653"/>
            <a:ext cx="74981" cy="74981"/>
          </a:xfrm>
          <a:prstGeom prst="rect">
            <a:avLst/>
          </a:prstGeom>
          <a:solidFill>
            <a:srgbClr val="3D70A9"/>
          </a:solidFill>
          <a:ln/>
        </p:spPr>
      </p:sp>
      <p:sp>
        <p:nvSpPr>
          <p:cNvPr id="297" name="Shape 295"/>
          <p:cNvSpPr/>
          <p:nvPr/>
        </p:nvSpPr>
        <p:spPr>
          <a:xfrm>
            <a:off x="7940650" y="5451653"/>
            <a:ext cx="74981" cy="74981"/>
          </a:xfrm>
          <a:prstGeom prst="rect">
            <a:avLst/>
          </a:prstGeom>
          <a:solidFill>
            <a:srgbClr val="3D70A9"/>
          </a:solidFill>
          <a:ln/>
        </p:spPr>
      </p:sp>
      <p:sp>
        <p:nvSpPr>
          <p:cNvPr id="298" name="Shape 296"/>
          <p:cNvSpPr/>
          <p:nvPr/>
        </p:nvSpPr>
        <p:spPr>
          <a:xfrm>
            <a:off x="8124993" y="5451653"/>
            <a:ext cx="74981" cy="74981"/>
          </a:xfrm>
          <a:prstGeom prst="rect">
            <a:avLst/>
          </a:prstGeom>
          <a:solidFill>
            <a:srgbClr val="3D70A9"/>
          </a:solidFill>
          <a:ln/>
        </p:spPr>
      </p:sp>
      <p:sp>
        <p:nvSpPr>
          <p:cNvPr id="299" name="Shape 297"/>
          <p:cNvSpPr/>
          <p:nvPr/>
        </p:nvSpPr>
        <p:spPr>
          <a:xfrm>
            <a:off x="8309336" y="5451653"/>
            <a:ext cx="74981" cy="74981"/>
          </a:xfrm>
          <a:prstGeom prst="rect">
            <a:avLst/>
          </a:prstGeom>
          <a:solidFill>
            <a:srgbClr val="3D70A9"/>
          </a:solidFill>
          <a:ln/>
        </p:spPr>
      </p:sp>
      <p:sp>
        <p:nvSpPr>
          <p:cNvPr id="300" name="Shape 298"/>
          <p:cNvSpPr/>
          <p:nvPr/>
        </p:nvSpPr>
        <p:spPr>
          <a:xfrm>
            <a:off x="8493679" y="5451653"/>
            <a:ext cx="74981" cy="74981"/>
          </a:xfrm>
          <a:prstGeom prst="rect">
            <a:avLst/>
          </a:prstGeom>
          <a:solidFill>
            <a:srgbClr val="3D70A9"/>
          </a:solidFill>
          <a:ln/>
        </p:spPr>
      </p:sp>
      <p:sp>
        <p:nvSpPr>
          <p:cNvPr id="301" name="Shape 299"/>
          <p:cNvSpPr/>
          <p:nvPr/>
        </p:nvSpPr>
        <p:spPr>
          <a:xfrm>
            <a:off x="8678022" y="5451653"/>
            <a:ext cx="74981" cy="74981"/>
          </a:xfrm>
          <a:prstGeom prst="rect">
            <a:avLst/>
          </a:prstGeom>
          <a:solidFill>
            <a:srgbClr val="3D70A9"/>
          </a:solidFill>
          <a:ln/>
        </p:spPr>
      </p:sp>
      <p:sp>
        <p:nvSpPr>
          <p:cNvPr id="302" name="Shape 300"/>
          <p:cNvSpPr/>
          <p:nvPr/>
        </p:nvSpPr>
        <p:spPr>
          <a:xfrm>
            <a:off x="8862365" y="5451653"/>
            <a:ext cx="74981" cy="74981"/>
          </a:xfrm>
          <a:prstGeom prst="rect">
            <a:avLst/>
          </a:prstGeom>
          <a:solidFill>
            <a:srgbClr val="3D70A9"/>
          </a:solidFill>
          <a:ln/>
        </p:spPr>
      </p:sp>
      <p:sp>
        <p:nvSpPr>
          <p:cNvPr id="303" name="Shape 301"/>
          <p:cNvSpPr/>
          <p:nvPr/>
        </p:nvSpPr>
        <p:spPr>
          <a:xfrm>
            <a:off x="9046708" y="5451653"/>
            <a:ext cx="74981" cy="74981"/>
          </a:xfrm>
          <a:prstGeom prst="rect">
            <a:avLst/>
          </a:prstGeom>
          <a:solidFill>
            <a:srgbClr val="3D70A9"/>
          </a:solidFill>
          <a:ln/>
        </p:spPr>
      </p:sp>
      <p:sp>
        <p:nvSpPr>
          <p:cNvPr id="304" name="Shape 302"/>
          <p:cNvSpPr/>
          <p:nvPr/>
        </p:nvSpPr>
        <p:spPr>
          <a:xfrm>
            <a:off x="9231051" y="5451653"/>
            <a:ext cx="74981" cy="74981"/>
          </a:xfrm>
          <a:prstGeom prst="rect">
            <a:avLst/>
          </a:prstGeom>
          <a:solidFill>
            <a:srgbClr val="3D70A9"/>
          </a:solidFill>
          <a:ln/>
        </p:spPr>
      </p:sp>
      <p:sp>
        <p:nvSpPr>
          <p:cNvPr id="305" name="Shape 303"/>
          <p:cNvSpPr/>
          <p:nvPr/>
        </p:nvSpPr>
        <p:spPr>
          <a:xfrm>
            <a:off x="9415394" y="5451653"/>
            <a:ext cx="74981" cy="74981"/>
          </a:xfrm>
          <a:prstGeom prst="rect">
            <a:avLst/>
          </a:prstGeom>
          <a:solidFill>
            <a:srgbClr val="3D70A9"/>
          </a:solidFill>
          <a:ln/>
        </p:spPr>
      </p:sp>
      <p:sp>
        <p:nvSpPr>
          <p:cNvPr id="306" name="Shape 304"/>
          <p:cNvSpPr/>
          <p:nvPr/>
        </p:nvSpPr>
        <p:spPr>
          <a:xfrm>
            <a:off x="9599737" y="5451653"/>
            <a:ext cx="74981" cy="74981"/>
          </a:xfrm>
          <a:prstGeom prst="rect">
            <a:avLst/>
          </a:prstGeom>
          <a:solidFill>
            <a:srgbClr val="3D70A9"/>
          </a:solidFill>
          <a:ln/>
        </p:spPr>
      </p:sp>
      <p:sp>
        <p:nvSpPr>
          <p:cNvPr id="307" name="Shape 305"/>
          <p:cNvSpPr/>
          <p:nvPr/>
        </p:nvSpPr>
        <p:spPr>
          <a:xfrm>
            <a:off x="9784080" y="5451653"/>
            <a:ext cx="74981" cy="74981"/>
          </a:xfrm>
          <a:prstGeom prst="rect">
            <a:avLst/>
          </a:prstGeom>
          <a:solidFill>
            <a:srgbClr val="3D70A9"/>
          </a:solidFill>
          <a:ln/>
        </p:spPr>
      </p:sp>
      <p:sp>
        <p:nvSpPr>
          <p:cNvPr id="308" name="Shape 306"/>
          <p:cNvSpPr/>
          <p:nvPr/>
        </p:nvSpPr>
        <p:spPr>
          <a:xfrm>
            <a:off x="9968423" y="5451653"/>
            <a:ext cx="74981" cy="74981"/>
          </a:xfrm>
          <a:prstGeom prst="rect">
            <a:avLst/>
          </a:prstGeom>
          <a:solidFill>
            <a:srgbClr val="3D70A9"/>
          </a:solidFill>
          <a:ln/>
        </p:spPr>
      </p:sp>
      <p:sp>
        <p:nvSpPr>
          <p:cNvPr id="309" name="Shape 307"/>
          <p:cNvSpPr/>
          <p:nvPr/>
        </p:nvSpPr>
        <p:spPr>
          <a:xfrm>
            <a:off x="10152766" y="5451653"/>
            <a:ext cx="74981" cy="74981"/>
          </a:xfrm>
          <a:prstGeom prst="rect">
            <a:avLst/>
          </a:prstGeom>
          <a:solidFill>
            <a:srgbClr val="3D70A9"/>
          </a:solidFill>
          <a:ln/>
        </p:spPr>
      </p:sp>
      <p:sp>
        <p:nvSpPr>
          <p:cNvPr id="310" name="Shape 308"/>
          <p:cNvSpPr/>
          <p:nvPr/>
        </p:nvSpPr>
        <p:spPr>
          <a:xfrm>
            <a:off x="10337109" y="5451653"/>
            <a:ext cx="74981" cy="74981"/>
          </a:xfrm>
          <a:prstGeom prst="rect">
            <a:avLst/>
          </a:prstGeom>
          <a:solidFill>
            <a:srgbClr val="3D70A9"/>
          </a:solidFill>
          <a:ln/>
        </p:spPr>
      </p:sp>
      <p:sp>
        <p:nvSpPr>
          <p:cNvPr id="311" name="Shape 309"/>
          <p:cNvSpPr/>
          <p:nvPr/>
        </p:nvSpPr>
        <p:spPr>
          <a:xfrm>
            <a:off x="10521452" y="5451653"/>
            <a:ext cx="74981" cy="74981"/>
          </a:xfrm>
          <a:prstGeom prst="rect">
            <a:avLst/>
          </a:prstGeom>
          <a:solidFill>
            <a:srgbClr val="3D70A9"/>
          </a:solidFill>
          <a:ln/>
        </p:spPr>
      </p:sp>
      <p:sp>
        <p:nvSpPr>
          <p:cNvPr id="312" name="Shape 310"/>
          <p:cNvSpPr/>
          <p:nvPr/>
        </p:nvSpPr>
        <p:spPr>
          <a:xfrm>
            <a:off x="10705795" y="5451653"/>
            <a:ext cx="74981" cy="74981"/>
          </a:xfrm>
          <a:prstGeom prst="rect">
            <a:avLst/>
          </a:prstGeom>
          <a:solidFill>
            <a:srgbClr val="3D70A9"/>
          </a:solidFill>
          <a:ln/>
        </p:spPr>
      </p:sp>
      <p:sp>
        <p:nvSpPr>
          <p:cNvPr id="313" name="Shape 311"/>
          <p:cNvSpPr/>
          <p:nvPr/>
        </p:nvSpPr>
        <p:spPr>
          <a:xfrm>
            <a:off x="10890138" y="5451653"/>
            <a:ext cx="74981" cy="74981"/>
          </a:xfrm>
          <a:prstGeom prst="rect">
            <a:avLst/>
          </a:prstGeom>
          <a:solidFill>
            <a:srgbClr val="3D70A9"/>
          </a:solidFill>
          <a:ln/>
        </p:spPr>
      </p:sp>
      <p:sp>
        <p:nvSpPr>
          <p:cNvPr id="314" name="Shape 312"/>
          <p:cNvSpPr/>
          <p:nvPr/>
        </p:nvSpPr>
        <p:spPr>
          <a:xfrm>
            <a:off x="11074481" y="5451653"/>
            <a:ext cx="74981" cy="74981"/>
          </a:xfrm>
          <a:prstGeom prst="rect">
            <a:avLst/>
          </a:prstGeom>
          <a:solidFill>
            <a:srgbClr val="3D70A9"/>
          </a:solidFill>
          <a:ln/>
        </p:spPr>
      </p:sp>
      <p:sp>
        <p:nvSpPr>
          <p:cNvPr id="315" name="Shape 313"/>
          <p:cNvSpPr/>
          <p:nvPr/>
        </p:nvSpPr>
        <p:spPr>
          <a:xfrm>
            <a:off x="11258824" y="5451653"/>
            <a:ext cx="74981" cy="74981"/>
          </a:xfrm>
          <a:prstGeom prst="rect">
            <a:avLst/>
          </a:prstGeom>
          <a:solidFill>
            <a:srgbClr val="3D70A9"/>
          </a:solidFill>
          <a:ln/>
        </p:spPr>
      </p:sp>
      <p:sp>
        <p:nvSpPr>
          <p:cNvPr id="316" name="Shape 314"/>
          <p:cNvSpPr/>
          <p:nvPr/>
        </p:nvSpPr>
        <p:spPr>
          <a:xfrm>
            <a:off x="11443167" y="5451653"/>
            <a:ext cx="74981" cy="74981"/>
          </a:xfrm>
          <a:prstGeom prst="rect">
            <a:avLst/>
          </a:prstGeom>
          <a:solidFill>
            <a:srgbClr val="3D70A9"/>
          </a:solidFill>
          <a:ln/>
        </p:spPr>
      </p:sp>
      <p:sp>
        <p:nvSpPr>
          <p:cNvPr id="317" name="Shape 315"/>
          <p:cNvSpPr/>
          <p:nvPr/>
        </p:nvSpPr>
        <p:spPr>
          <a:xfrm>
            <a:off x="566928" y="5568696"/>
            <a:ext cx="74981" cy="74981"/>
          </a:xfrm>
          <a:prstGeom prst="rect">
            <a:avLst/>
          </a:prstGeom>
          <a:solidFill>
            <a:srgbClr val="4479B3"/>
          </a:solidFill>
          <a:ln/>
        </p:spPr>
      </p:sp>
      <p:sp>
        <p:nvSpPr>
          <p:cNvPr id="318" name="Shape 316"/>
          <p:cNvSpPr/>
          <p:nvPr/>
        </p:nvSpPr>
        <p:spPr>
          <a:xfrm>
            <a:off x="751271" y="5568696"/>
            <a:ext cx="74981" cy="74981"/>
          </a:xfrm>
          <a:prstGeom prst="rect">
            <a:avLst/>
          </a:prstGeom>
          <a:solidFill>
            <a:srgbClr val="4479B3"/>
          </a:solidFill>
          <a:ln/>
        </p:spPr>
      </p:sp>
      <p:sp>
        <p:nvSpPr>
          <p:cNvPr id="319" name="Shape 317"/>
          <p:cNvSpPr/>
          <p:nvPr/>
        </p:nvSpPr>
        <p:spPr>
          <a:xfrm>
            <a:off x="935614" y="5568696"/>
            <a:ext cx="74981" cy="74981"/>
          </a:xfrm>
          <a:prstGeom prst="rect">
            <a:avLst/>
          </a:prstGeom>
          <a:solidFill>
            <a:srgbClr val="4479B3"/>
          </a:solidFill>
          <a:ln/>
        </p:spPr>
      </p:sp>
      <p:sp>
        <p:nvSpPr>
          <p:cNvPr id="320" name="Shape 318"/>
          <p:cNvSpPr/>
          <p:nvPr/>
        </p:nvSpPr>
        <p:spPr>
          <a:xfrm>
            <a:off x="1119957" y="5568696"/>
            <a:ext cx="74981" cy="74981"/>
          </a:xfrm>
          <a:prstGeom prst="rect">
            <a:avLst/>
          </a:prstGeom>
          <a:solidFill>
            <a:srgbClr val="4479B3"/>
          </a:solidFill>
          <a:ln/>
        </p:spPr>
      </p:sp>
      <p:sp>
        <p:nvSpPr>
          <p:cNvPr id="321" name="Shape 319"/>
          <p:cNvSpPr/>
          <p:nvPr/>
        </p:nvSpPr>
        <p:spPr>
          <a:xfrm>
            <a:off x="1304300" y="5568696"/>
            <a:ext cx="74981" cy="74981"/>
          </a:xfrm>
          <a:prstGeom prst="rect">
            <a:avLst/>
          </a:prstGeom>
          <a:solidFill>
            <a:srgbClr val="4479B3"/>
          </a:solidFill>
          <a:ln/>
        </p:spPr>
      </p:sp>
      <p:sp>
        <p:nvSpPr>
          <p:cNvPr id="322" name="Shape 320"/>
          <p:cNvSpPr/>
          <p:nvPr/>
        </p:nvSpPr>
        <p:spPr>
          <a:xfrm>
            <a:off x="1488643" y="5568696"/>
            <a:ext cx="74981" cy="74981"/>
          </a:xfrm>
          <a:prstGeom prst="rect">
            <a:avLst/>
          </a:prstGeom>
          <a:solidFill>
            <a:srgbClr val="4479B3"/>
          </a:solidFill>
          <a:ln/>
        </p:spPr>
      </p:sp>
      <p:sp>
        <p:nvSpPr>
          <p:cNvPr id="323" name="Shape 321"/>
          <p:cNvSpPr/>
          <p:nvPr/>
        </p:nvSpPr>
        <p:spPr>
          <a:xfrm>
            <a:off x="1672986" y="5568696"/>
            <a:ext cx="74981" cy="74981"/>
          </a:xfrm>
          <a:prstGeom prst="rect">
            <a:avLst/>
          </a:prstGeom>
          <a:solidFill>
            <a:srgbClr val="4479B3"/>
          </a:solidFill>
          <a:ln/>
        </p:spPr>
      </p:sp>
      <p:sp>
        <p:nvSpPr>
          <p:cNvPr id="324" name="Shape 322"/>
          <p:cNvSpPr/>
          <p:nvPr/>
        </p:nvSpPr>
        <p:spPr>
          <a:xfrm>
            <a:off x="1857329" y="5568696"/>
            <a:ext cx="74981" cy="74981"/>
          </a:xfrm>
          <a:prstGeom prst="rect">
            <a:avLst/>
          </a:prstGeom>
          <a:solidFill>
            <a:srgbClr val="4479B3"/>
          </a:solidFill>
          <a:ln/>
        </p:spPr>
      </p:sp>
      <p:sp>
        <p:nvSpPr>
          <p:cNvPr id="325" name="Shape 323"/>
          <p:cNvSpPr/>
          <p:nvPr/>
        </p:nvSpPr>
        <p:spPr>
          <a:xfrm>
            <a:off x="2041672" y="5568696"/>
            <a:ext cx="74981" cy="74981"/>
          </a:xfrm>
          <a:prstGeom prst="rect">
            <a:avLst/>
          </a:prstGeom>
          <a:solidFill>
            <a:srgbClr val="4479B3"/>
          </a:solidFill>
          <a:ln/>
        </p:spPr>
      </p:sp>
      <p:sp>
        <p:nvSpPr>
          <p:cNvPr id="326" name="Shape 324"/>
          <p:cNvSpPr/>
          <p:nvPr/>
        </p:nvSpPr>
        <p:spPr>
          <a:xfrm>
            <a:off x="2226015" y="5568696"/>
            <a:ext cx="74981" cy="74981"/>
          </a:xfrm>
          <a:prstGeom prst="rect">
            <a:avLst/>
          </a:prstGeom>
          <a:solidFill>
            <a:srgbClr val="4479B3"/>
          </a:solidFill>
          <a:ln/>
        </p:spPr>
      </p:sp>
      <p:sp>
        <p:nvSpPr>
          <p:cNvPr id="327" name="Shape 325"/>
          <p:cNvSpPr/>
          <p:nvPr/>
        </p:nvSpPr>
        <p:spPr>
          <a:xfrm>
            <a:off x="2410358" y="5568696"/>
            <a:ext cx="74981" cy="74981"/>
          </a:xfrm>
          <a:prstGeom prst="rect">
            <a:avLst/>
          </a:prstGeom>
          <a:solidFill>
            <a:srgbClr val="4479B3"/>
          </a:solidFill>
          <a:ln/>
        </p:spPr>
      </p:sp>
      <p:sp>
        <p:nvSpPr>
          <p:cNvPr id="328" name="Shape 326"/>
          <p:cNvSpPr/>
          <p:nvPr/>
        </p:nvSpPr>
        <p:spPr>
          <a:xfrm>
            <a:off x="2594701" y="5568696"/>
            <a:ext cx="74981" cy="74981"/>
          </a:xfrm>
          <a:prstGeom prst="rect">
            <a:avLst/>
          </a:prstGeom>
          <a:solidFill>
            <a:srgbClr val="4479B3"/>
          </a:solidFill>
          <a:ln/>
        </p:spPr>
      </p:sp>
      <p:sp>
        <p:nvSpPr>
          <p:cNvPr id="329" name="Shape 327"/>
          <p:cNvSpPr/>
          <p:nvPr/>
        </p:nvSpPr>
        <p:spPr>
          <a:xfrm>
            <a:off x="2779044" y="5568696"/>
            <a:ext cx="74981" cy="74981"/>
          </a:xfrm>
          <a:prstGeom prst="rect">
            <a:avLst/>
          </a:prstGeom>
          <a:solidFill>
            <a:srgbClr val="4479B3"/>
          </a:solidFill>
          <a:ln/>
        </p:spPr>
      </p:sp>
      <p:sp>
        <p:nvSpPr>
          <p:cNvPr id="330" name="Shape 328"/>
          <p:cNvSpPr/>
          <p:nvPr/>
        </p:nvSpPr>
        <p:spPr>
          <a:xfrm>
            <a:off x="2963388" y="5568696"/>
            <a:ext cx="74981" cy="74981"/>
          </a:xfrm>
          <a:prstGeom prst="rect">
            <a:avLst/>
          </a:prstGeom>
          <a:solidFill>
            <a:srgbClr val="4479B3"/>
          </a:solidFill>
          <a:ln/>
        </p:spPr>
      </p:sp>
      <p:sp>
        <p:nvSpPr>
          <p:cNvPr id="331" name="Shape 329"/>
          <p:cNvSpPr/>
          <p:nvPr/>
        </p:nvSpPr>
        <p:spPr>
          <a:xfrm>
            <a:off x="3147731" y="5568696"/>
            <a:ext cx="74981" cy="74981"/>
          </a:xfrm>
          <a:prstGeom prst="rect">
            <a:avLst/>
          </a:prstGeom>
          <a:solidFill>
            <a:srgbClr val="4479B3"/>
          </a:solidFill>
          <a:ln/>
        </p:spPr>
      </p:sp>
      <p:sp>
        <p:nvSpPr>
          <p:cNvPr id="332" name="Shape 330"/>
          <p:cNvSpPr/>
          <p:nvPr/>
        </p:nvSpPr>
        <p:spPr>
          <a:xfrm>
            <a:off x="3332074" y="5568696"/>
            <a:ext cx="74981" cy="74981"/>
          </a:xfrm>
          <a:prstGeom prst="rect">
            <a:avLst/>
          </a:prstGeom>
          <a:solidFill>
            <a:srgbClr val="4479B3"/>
          </a:solidFill>
          <a:ln/>
        </p:spPr>
      </p:sp>
      <p:sp>
        <p:nvSpPr>
          <p:cNvPr id="333" name="Shape 331"/>
          <p:cNvSpPr/>
          <p:nvPr/>
        </p:nvSpPr>
        <p:spPr>
          <a:xfrm>
            <a:off x="3516417" y="5568696"/>
            <a:ext cx="74981" cy="74981"/>
          </a:xfrm>
          <a:prstGeom prst="rect">
            <a:avLst/>
          </a:prstGeom>
          <a:solidFill>
            <a:srgbClr val="4479B3"/>
          </a:solidFill>
          <a:ln/>
        </p:spPr>
      </p:sp>
      <p:sp>
        <p:nvSpPr>
          <p:cNvPr id="334" name="Shape 332"/>
          <p:cNvSpPr/>
          <p:nvPr/>
        </p:nvSpPr>
        <p:spPr>
          <a:xfrm>
            <a:off x="3700760" y="5568696"/>
            <a:ext cx="74981" cy="74981"/>
          </a:xfrm>
          <a:prstGeom prst="rect">
            <a:avLst/>
          </a:prstGeom>
          <a:solidFill>
            <a:srgbClr val="4479B3"/>
          </a:solidFill>
          <a:ln/>
        </p:spPr>
      </p:sp>
      <p:sp>
        <p:nvSpPr>
          <p:cNvPr id="335" name="Shape 333"/>
          <p:cNvSpPr/>
          <p:nvPr/>
        </p:nvSpPr>
        <p:spPr>
          <a:xfrm>
            <a:off x="3885103" y="5568696"/>
            <a:ext cx="74981" cy="74981"/>
          </a:xfrm>
          <a:prstGeom prst="rect">
            <a:avLst/>
          </a:prstGeom>
          <a:solidFill>
            <a:srgbClr val="4479B3"/>
          </a:solidFill>
          <a:ln/>
        </p:spPr>
      </p:sp>
      <p:sp>
        <p:nvSpPr>
          <p:cNvPr id="336" name="Shape 334"/>
          <p:cNvSpPr/>
          <p:nvPr/>
        </p:nvSpPr>
        <p:spPr>
          <a:xfrm>
            <a:off x="4069446" y="5568696"/>
            <a:ext cx="74981" cy="74981"/>
          </a:xfrm>
          <a:prstGeom prst="rect">
            <a:avLst/>
          </a:prstGeom>
          <a:solidFill>
            <a:srgbClr val="4479B3"/>
          </a:solidFill>
          <a:ln/>
        </p:spPr>
      </p:sp>
      <p:sp>
        <p:nvSpPr>
          <p:cNvPr id="337" name="Shape 335"/>
          <p:cNvSpPr/>
          <p:nvPr/>
        </p:nvSpPr>
        <p:spPr>
          <a:xfrm>
            <a:off x="4253789" y="5568696"/>
            <a:ext cx="74981" cy="74981"/>
          </a:xfrm>
          <a:prstGeom prst="rect">
            <a:avLst/>
          </a:prstGeom>
          <a:solidFill>
            <a:srgbClr val="4479B3"/>
          </a:solidFill>
          <a:ln/>
        </p:spPr>
      </p:sp>
      <p:sp>
        <p:nvSpPr>
          <p:cNvPr id="338" name="Shape 336"/>
          <p:cNvSpPr/>
          <p:nvPr/>
        </p:nvSpPr>
        <p:spPr>
          <a:xfrm>
            <a:off x="4438132" y="5568696"/>
            <a:ext cx="74981" cy="74981"/>
          </a:xfrm>
          <a:prstGeom prst="rect">
            <a:avLst/>
          </a:prstGeom>
          <a:solidFill>
            <a:srgbClr val="4479B3"/>
          </a:solidFill>
          <a:ln/>
        </p:spPr>
      </p:sp>
      <p:sp>
        <p:nvSpPr>
          <p:cNvPr id="339" name="Shape 337"/>
          <p:cNvSpPr/>
          <p:nvPr/>
        </p:nvSpPr>
        <p:spPr>
          <a:xfrm>
            <a:off x="4622475" y="5568696"/>
            <a:ext cx="74981" cy="74981"/>
          </a:xfrm>
          <a:prstGeom prst="rect">
            <a:avLst/>
          </a:prstGeom>
          <a:solidFill>
            <a:srgbClr val="4479B3"/>
          </a:solidFill>
          <a:ln/>
        </p:spPr>
      </p:sp>
      <p:sp>
        <p:nvSpPr>
          <p:cNvPr id="340" name="Shape 338"/>
          <p:cNvSpPr/>
          <p:nvPr/>
        </p:nvSpPr>
        <p:spPr>
          <a:xfrm>
            <a:off x="4806818" y="5568696"/>
            <a:ext cx="74981" cy="74981"/>
          </a:xfrm>
          <a:prstGeom prst="rect">
            <a:avLst/>
          </a:prstGeom>
          <a:solidFill>
            <a:srgbClr val="4479B3"/>
          </a:solidFill>
          <a:ln/>
        </p:spPr>
      </p:sp>
      <p:sp>
        <p:nvSpPr>
          <p:cNvPr id="341" name="Shape 339"/>
          <p:cNvSpPr/>
          <p:nvPr/>
        </p:nvSpPr>
        <p:spPr>
          <a:xfrm>
            <a:off x="4991161" y="5568696"/>
            <a:ext cx="74981" cy="74981"/>
          </a:xfrm>
          <a:prstGeom prst="rect">
            <a:avLst/>
          </a:prstGeom>
          <a:solidFill>
            <a:srgbClr val="4479B3"/>
          </a:solidFill>
          <a:ln/>
        </p:spPr>
      </p:sp>
      <p:sp>
        <p:nvSpPr>
          <p:cNvPr id="342" name="Shape 340"/>
          <p:cNvSpPr/>
          <p:nvPr/>
        </p:nvSpPr>
        <p:spPr>
          <a:xfrm>
            <a:off x="5175504" y="5568696"/>
            <a:ext cx="74981" cy="74981"/>
          </a:xfrm>
          <a:prstGeom prst="rect">
            <a:avLst/>
          </a:prstGeom>
          <a:solidFill>
            <a:srgbClr val="4479B3"/>
          </a:solidFill>
          <a:ln/>
        </p:spPr>
      </p:sp>
      <p:sp>
        <p:nvSpPr>
          <p:cNvPr id="343" name="Shape 341"/>
          <p:cNvSpPr/>
          <p:nvPr/>
        </p:nvSpPr>
        <p:spPr>
          <a:xfrm>
            <a:off x="5359847" y="5568696"/>
            <a:ext cx="74981" cy="74981"/>
          </a:xfrm>
          <a:prstGeom prst="rect">
            <a:avLst/>
          </a:prstGeom>
          <a:solidFill>
            <a:srgbClr val="4479B3"/>
          </a:solidFill>
          <a:ln/>
        </p:spPr>
      </p:sp>
      <p:sp>
        <p:nvSpPr>
          <p:cNvPr id="344" name="Shape 342"/>
          <p:cNvSpPr/>
          <p:nvPr/>
        </p:nvSpPr>
        <p:spPr>
          <a:xfrm>
            <a:off x="5544190" y="5568696"/>
            <a:ext cx="74981" cy="74981"/>
          </a:xfrm>
          <a:prstGeom prst="rect">
            <a:avLst/>
          </a:prstGeom>
          <a:solidFill>
            <a:srgbClr val="4479B3"/>
          </a:solidFill>
          <a:ln/>
        </p:spPr>
      </p:sp>
      <p:sp>
        <p:nvSpPr>
          <p:cNvPr id="345" name="Shape 343"/>
          <p:cNvSpPr/>
          <p:nvPr/>
        </p:nvSpPr>
        <p:spPr>
          <a:xfrm>
            <a:off x="5728533" y="5568696"/>
            <a:ext cx="74981" cy="74981"/>
          </a:xfrm>
          <a:prstGeom prst="rect">
            <a:avLst/>
          </a:prstGeom>
          <a:solidFill>
            <a:srgbClr val="4479B3"/>
          </a:solidFill>
          <a:ln/>
        </p:spPr>
      </p:sp>
      <p:sp>
        <p:nvSpPr>
          <p:cNvPr id="346" name="Shape 344"/>
          <p:cNvSpPr/>
          <p:nvPr/>
        </p:nvSpPr>
        <p:spPr>
          <a:xfrm>
            <a:off x="5912876" y="5568696"/>
            <a:ext cx="74981" cy="74981"/>
          </a:xfrm>
          <a:prstGeom prst="rect">
            <a:avLst/>
          </a:prstGeom>
          <a:solidFill>
            <a:srgbClr val="4479B3"/>
          </a:solidFill>
          <a:ln/>
        </p:spPr>
      </p:sp>
      <p:sp>
        <p:nvSpPr>
          <p:cNvPr id="347" name="Shape 345"/>
          <p:cNvSpPr/>
          <p:nvPr/>
        </p:nvSpPr>
        <p:spPr>
          <a:xfrm>
            <a:off x="6097219" y="5568696"/>
            <a:ext cx="74981" cy="74981"/>
          </a:xfrm>
          <a:prstGeom prst="rect">
            <a:avLst/>
          </a:prstGeom>
          <a:solidFill>
            <a:srgbClr val="4479B3"/>
          </a:solidFill>
          <a:ln/>
        </p:spPr>
      </p:sp>
      <p:sp>
        <p:nvSpPr>
          <p:cNvPr id="348" name="Shape 346"/>
          <p:cNvSpPr/>
          <p:nvPr/>
        </p:nvSpPr>
        <p:spPr>
          <a:xfrm>
            <a:off x="6281562" y="5568696"/>
            <a:ext cx="74981" cy="74981"/>
          </a:xfrm>
          <a:prstGeom prst="rect">
            <a:avLst/>
          </a:prstGeom>
          <a:solidFill>
            <a:srgbClr val="4479B3"/>
          </a:solidFill>
          <a:ln/>
        </p:spPr>
      </p:sp>
      <p:sp>
        <p:nvSpPr>
          <p:cNvPr id="349" name="Shape 347"/>
          <p:cNvSpPr/>
          <p:nvPr/>
        </p:nvSpPr>
        <p:spPr>
          <a:xfrm>
            <a:off x="6465905" y="5568696"/>
            <a:ext cx="74981" cy="74981"/>
          </a:xfrm>
          <a:prstGeom prst="rect">
            <a:avLst/>
          </a:prstGeom>
          <a:solidFill>
            <a:srgbClr val="4479B3"/>
          </a:solidFill>
          <a:ln/>
        </p:spPr>
      </p:sp>
      <p:sp>
        <p:nvSpPr>
          <p:cNvPr id="350" name="Shape 348"/>
          <p:cNvSpPr/>
          <p:nvPr/>
        </p:nvSpPr>
        <p:spPr>
          <a:xfrm>
            <a:off x="6650248" y="5568696"/>
            <a:ext cx="74981" cy="74981"/>
          </a:xfrm>
          <a:prstGeom prst="rect">
            <a:avLst/>
          </a:prstGeom>
          <a:solidFill>
            <a:srgbClr val="4479B3"/>
          </a:solidFill>
          <a:ln/>
        </p:spPr>
      </p:sp>
      <p:sp>
        <p:nvSpPr>
          <p:cNvPr id="351" name="Shape 349"/>
          <p:cNvSpPr/>
          <p:nvPr/>
        </p:nvSpPr>
        <p:spPr>
          <a:xfrm>
            <a:off x="6834591" y="5568696"/>
            <a:ext cx="74981" cy="74981"/>
          </a:xfrm>
          <a:prstGeom prst="rect">
            <a:avLst/>
          </a:prstGeom>
          <a:solidFill>
            <a:srgbClr val="4479B3"/>
          </a:solidFill>
          <a:ln/>
        </p:spPr>
      </p:sp>
      <p:sp>
        <p:nvSpPr>
          <p:cNvPr id="352" name="Shape 350"/>
          <p:cNvSpPr/>
          <p:nvPr/>
        </p:nvSpPr>
        <p:spPr>
          <a:xfrm>
            <a:off x="7018934" y="5568696"/>
            <a:ext cx="74981" cy="74981"/>
          </a:xfrm>
          <a:prstGeom prst="rect">
            <a:avLst/>
          </a:prstGeom>
          <a:solidFill>
            <a:srgbClr val="4479B3"/>
          </a:solidFill>
          <a:ln/>
        </p:spPr>
      </p:sp>
      <p:sp>
        <p:nvSpPr>
          <p:cNvPr id="353" name="Shape 351"/>
          <p:cNvSpPr/>
          <p:nvPr/>
        </p:nvSpPr>
        <p:spPr>
          <a:xfrm>
            <a:off x="7203277" y="5568696"/>
            <a:ext cx="74981" cy="74981"/>
          </a:xfrm>
          <a:prstGeom prst="rect">
            <a:avLst/>
          </a:prstGeom>
          <a:solidFill>
            <a:srgbClr val="4479B3"/>
          </a:solidFill>
          <a:ln/>
        </p:spPr>
      </p:sp>
      <p:sp>
        <p:nvSpPr>
          <p:cNvPr id="354" name="Shape 352"/>
          <p:cNvSpPr/>
          <p:nvPr/>
        </p:nvSpPr>
        <p:spPr>
          <a:xfrm>
            <a:off x="7387620" y="5568696"/>
            <a:ext cx="74981" cy="74981"/>
          </a:xfrm>
          <a:prstGeom prst="rect">
            <a:avLst/>
          </a:prstGeom>
          <a:solidFill>
            <a:srgbClr val="4479B3"/>
          </a:solidFill>
          <a:ln/>
        </p:spPr>
      </p:sp>
      <p:sp>
        <p:nvSpPr>
          <p:cNvPr id="355" name="Shape 353"/>
          <p:cNvSpPr/>
          <p:nvPr/>
        </p:nvSpPr>
        <p:spPr>
          <a:xfrm>
            <a:off x="7571964" y="5568696"/>
            <a:ext cx="74981" cy="74981"/>
          </a:xfrm>
          <a:prstGeom prst="rect">
            <a:avLst/>
          </a:prstGeom>
          <a:solidFill>
            <a:srgbClr val="4479B3"/>
          </a:solidFill>
          <a:ln/>
        </p:spPr>
      </p:sp>
      <p:sp>
        <p:nvSpPr>
          <p:cNvPr id="356" name="Shape 354"/>
          <p:cNvSpPr/>
          <p:nvPr/>
        </p:nvSpPr>
        <p:spPr>
          <a:xfrm>
            <a:off x="7756307" y="5568696"/>
            <a:ext cx="74981" cy="74981"/>
          </a:xfrm>
          <a:prstGeom prst="rect">
            <a:avLst/>
          </a:prstGeom>
          <a:solidFill>
            <a:srgbClr val="4479B3"/>
          </a:solidFill>
          <a:ln/>
        </p:spPr>
      </p:sp>
      <p:sp>
        <p:nvSpPr>
          <p:cNvPr id="357" name="Shape 355"/>
          <p:cNvSpPr/>
          <p:nvPr/>
        </p:nvSpPr>
        <p:spPr>
          <a:xfrm>
            <a:off x="7940650" y="5568696"/>
            <a:ext cx="74981" cy="74981"/>
          </a:xfrm>
          <a:prstGeom prst="rect">
            <a:avLst/>
          </a:prstGeom>
          <a:solidFill>
            <a:srgbClr val="4479B3"/>
          </a:solidFill>
          <a:ln/>
        </p:spPr>
      </p:sp>
      <p:sp>
        <p:nvSpPr>
          <p:cNvPr id="358" name="Shape 356"/>
          <p:cNvSpPr/>
          <p:nvPr/>
        </p:nvSpPr>
        <p:spPr>
          <a:xfrm>
            <a:off x="8124993" y="5568696"/>
            <a:ext cx="74981" cy="74981"/>
          </a:xfrm>
          <a:prstGeom prst="rect">
            <a:avLst/>
          </a:prstGeom>
          <a:solidFill>
            <a:srgbClr val="4479B3"/>
          </a:solidFill>
          <a:ln/>
        </p:spPr>
      </p:sp>
      <p:sp>
        <p:nvSpPr>
          <p:cNvPr id="359" name="Shape 357"/>
          <p:cNvSpPr/>
          <p:nvPr/>
        </p:nvSpPr>
        <p:spPr>
          <a:xfrm>
            <a:off x="8309336" y="5568696"/>
            <a:ext cx="74981" cy="74981"/>
          </a:xfrm>
          <a:prstGeom prst="rect">
            <a:avLst/>
          </a:prstGeom>
          <a:solidFill>
            <a:srgbClr val="4479B3"/>
          </a:solidFill>
          <a:ln/>
        </p:spPr>
      </p:sp>
      <p:sp>
        <p:nvSpPr>
          <p:cNvPr id="360" name="Shape 358"/>
          <p:cNvSpPr/>
          <p:nvPr/>
        </p:nvSpPr>
        <p:spPr>
          <a:xfrm>
            <a:off x="8493679" y="5568696"/>
            <a:ext cx="74981" cy="74981"/>
          </a:xfrm>
          <a:prstGeom prst="rect">
            <a:avLst/>
          </a:prstGeom>
          <a:solidFill>
            <a:srgbClr val="4479B3"/>
          </a:solidFill>
          <a:ln/>
        </p:spPr>
      </p:sp>
      <p:sp>
        <p:nvSpPr>
          <p:cNvPr id="361" name="Shape 359"/>
          <p:cNvSpPr/>
          <p:nvPr/>
        </p:nvSpPr>
        <p:spPr>
          <a:xfrm>
            <a:off x="8678022" y="5568696"/>
            <a:ext cx="74981" cy="74981"/>
          </a:xfrm>
          <a:prstGeom prst="rect">
            <a:avLst/>
          </a:prstGeom>
          <a:solidFill>
            <a:srgbClr val="4479B3"/>
          </a:solidFill>
          <a:ln/>
        </p:spPr>
      </p:sp>
      <p:sp>
        <p:nvSpPr>
          <p:cNvPr id="362" name="Shape 360"/>
          <p:cNvSpPr/>
          <p:nvPr/>
        </p:nvSpPr>
        <p:spPr>
          <a:xfrm>
            <a:off x="8862365" y="5568696"/>
            <a:ext cx="74981" cy="74981"/>
          </a:xfrm>
          <a:prstGeom prst="rect">
            <a:avLst/>
          </a:prstGeom>
          <a:solidFill>
            <a:srgbClr val="4479B3"/>
          </a:solidFill>
          <a:ln/>
        </p:spPr>
      </p:sp>
      <p:sp>
        <p:nvSpPr>
          <p:cNvPr id="363" name="Shape 361"/>
          <p:cNvSpPr/>
          <p:nvPr/>
        </p:nvSpPr>
        <p:spPr>
          <a:xfrm>
            <a:off x="9046708" y="5568696"/>
            <a:ext cx="74981" cy="74981"/>
          </a:xfrm>
          <a:prstGeom prst="rect">
            <a:avLst/>
          </a:prstGeom>
          <a:solidFill>
            <a:srgbClr val="4479B3"/>
          </a:solidFill>
          <a:ln/>
        </p:spPr>
      </p:sp>
      <p:sp>
        <p:nvSpPr>
          <p:cNvPr id="364" name="Shape 362"/>
          <p:cNvSpPr/>
          <p:nvPr/>
        </p:nvSpPr>
        <p:spPr>
          <a:xfrm>
            <a:off x="9231051" y="5568696"/>
            <a:ext cx="74981" cy="74981"/>
          </a:xfrm>
          <a:prstGeom prst="rect">
            <a:avLst/>
          </a:prstGeom>
          <a:solidFill>
            <a:srgbClr val="4479B3"/>
          </a:solidFill>
          <a:ln/>
        </p:spPr>
      </p:sp>
      <p:sp>
        <p:nvSpPr>
          <p:cNvPr id="365" name="Shape 363"/>
          <p:cNvSpPr/>
          <p:nvPr/>
        </p:nvSpPr>
        <p:spPr>
          <a:xfrm>
            <a:off x="9415394" y="5568696"/>
            <a:ext cx="74981" cy="74981"/>
          </a:xfrm>
          <a:prstGeom prst="rect">
            <a:avLst/>
          </a:prstGeom>
          <a:solidFill>
            <a:srgbClr val="4479B3"/>
          </a:solidFill>
          <a:ln/>
        </p:spPr>
      </p:sp>
      <p:sp>
        <p:nvSpPr>
          <p:cNvPr id="366" name="Shape 364"/>
          <p:cNvSpPr/>
          <p:nvPr/>
        </p:nvSpPr>
        <p:spPr>
          <a:xfrm>
            <a:off x="9599737" y="5568696"/>
            <a:ext cx="74981" cy="74981"/>
          </a:xfrm>
          <a:prstGeom prst="rect">
            <a:avLst/>
          </a:prstGeom>
          <a:solidFill>
            <a:srgbClr val="4479B3"/>
          </a:solidFill>
          <a:ln/>
        </p:spPr>
      </p:sp>
      <p:sp>
        <p:nvSpPr>
          <p:cNvPr id="367" name="Shape 365"/>
          <p:cNvSpPr/>
          <p:nvPr/>
        </p:nvSpPr>
        <p:spPr>
          <a:xfrm>
            <a:off x="9784080" y="5568696"/>
            <a:ext cx="74981" cy="74981"/>
          </a:xfrm>
          <a:prstGeom prst="rect">
            <a:avLst/>
          </a:prstGeom>
          <a:solidFill>
            <a:srgbClr val="4479B3"/>
          </a:solidFill>
          <a:ln/>
        </p:spPr>
      </p:sp>
      <p:sp>
        <p:nvSpPr>
          <p:cNvPr id="368" name="Shape 366"/>
          <p:cNvSpPr/>
          <p:nvPr/>
        </p:nvSpPr>
        <p:spPr>
          <a:xfrm>
            <a:off x="9968423" y="5568696"/>
            <a:ext cx="74981" cy="74981"/>
          </a:xfrm>
          <a:prstGeom prst="rect">
            <a:avLst/>
          </a:prstGeom>
          <a:solidFill>
            <a:srgbClr val="4479B3"/>
          </a:solidFill>
          <a:ln/>
        </p:spPr>
      </p:sp>
      <p:sp>
        <p:nvSpPr>
          <p:cNvPr id="369" name="Shape 367"/>
          <p:cNvSpPr/>
          <p:nvPr/>
        </p:nvSpPr>
        <p:spPr>
          <a:xfrm>
            <a:off x="10152766" y="5568696"/>
            <a:ext cx="74981" cy="74981"/>
          </a:xfrm>
          <a:prstGeom prst="rect">
            <a:avLst/>
          </a:prstGeom>
          <a:solidFill>
            <a:srgbClr val="4479B3"/>
          </a:solidFill>
          <a:ln/>
        </p:spPr>
      </p:sp>
      <p:sp>
        <p:nvSpPr>
          <p:cNvPr id="370" name="Shape 368"/>
          <p:cNvSpPr/>
          <p:nvPr/>
        </p:nvSpPr>
        <p:spPr>
          <a:xfrm>
            <a:off x="10337109" y="5568696"/>
            <a:ext cx="74981" cy="74981"/>
          </a:xfrm>
          <a:prstGeom prst="rect">
            <a:avLst/>
          </a:prstGeom>
          <a:solidFill>
            <a:srgbClr val="4479B3"/>
          </a:solidFill>
          <a:ln/>
        </p:spPr>
      </p:sp>
      <p:sp>
        <p:nvSpPr>
          <p:cNvPr id="371" name="Shape 369"/>
          <p:cNvSpPr/>
          <p:nvPr/>
        </p:nvSpPr>
        <p:spPr>
          <a:xfrm>
            <a:off x="10521452" y="5568696"/>
            <a:ext cx="74981" cy="74981"/>
          </a:xfrm>
          <a:prstGeom prst="rect">
            <a:avLst/>
          </a:prstGeom>
          <a:solidFill>
            <a:srgbClr val="4479B3"/>
          </a:solidFill>
          <a:ln/>
        </p:spPr>
      </p:sp>
      <p:sp>
        <p:nvSpPr>
          <p:cNvPr id="372" name="Shape 370"/>
          <p:cNvSpPr/>
          <p:nvPr/>
        </p:nvSpPr>
        <p:spPr>
          <a:xfrm>
            <a:off x="10705795" y="5568696"/>
            <a:ext cx="74981" cy="74981"/>
          </a:xfrm>
          <a:prstGeom prst="rect">
            <a:avLst/>
          </a:prstGeom>
          <a:solidFill>
            <a:srgbClr val="4479B3"/>
          </a:solidFill>
          <a:ln/>
        </p:spPr>
      </p:sp>
      <p:sp>
        <p:nvSpPr>
          <p:cNvPr id="373" name="Shape 371"/>
          <p:cNvSpPr/>
          <p:nvPr/>
        </p:nvSpPr>
        <p:spPr>
          <a:xfrm>
            <a:off x="10890138" y="5568696"/>
            <a:ext cx="74981" cy="74981"/>
          </a:xfrm>
          <a:prstGeom prst="rect">
            <a:avLst/>
          </a:prstGeom>
          <a:solidFill>
            <a:srgbClr val="4479B3"/>
          </a:solidFill>
          <a:ln/>
        </p:spPr>
      </p:sp>
      <p:sp>
        <p:nvSpPr>
          <p:cNvPr id="374" name="Shape 372"/>
          <p:cNvSpPr/>
          <p:nvPr/>
        </p:nvSpPr>
        <p:spPr>
          <a:xfrm>
            <a:off x="11074481" y="5568696"/>
            <a:ext cx="74981" cy="74981"/>
          </a:xfrm>
          <a:prstGeom prst="rect">
            <a:avLst/>
          </a:prstGeom>
          <a:solidFill>
            <a:srgbClr val="4479B3"/>
          </a:solidFill>
          <a:ln/>
        </p:spPr>
      </p:sp>
      <p:sp>
        <p:nvSpPr>
          <p:cNvPr id="375" name="Shape 373"/>
          <p:cNvSpPr/>
          <p:nvPr/>
        </p:nvSpPr>
        <p:spPr>
          <a:xfrm>
            <a:off x="11258824" y="5568696"/>
            <a:ext cx="74981" cy="74981"/>
          </a:xfrm>
          <a:prstGeom prst="rect">
            <a:avLst/>
          </a:prstGeom>
          <a:solidFill>
            <a:srgbClr val="4479B3"/>
          </a:solidFill>
          <a:ln/>
        </p:spPr>
      </p:sp>
      <p:sp>
        <p:nvSpPr>
          <p:cNvPr id="376" name="Shape 374"/>
          <p:cNvSpPr/>
          <p:nvPr/>
        </p:nvSpPr>
        <p:spPr>
          <a:xfrm>
            <a:off x="11443167" y="5568696"/>
            <a:ext cx="74981" cy="74981"/>
          </a:xfrm>
          <a:prstGeom prst="rect">
            <a:avLst/>
          </a:prstGeom>
          <a:solidFill>
            <a:srgbClr val="4479B3"/>
          </a:solidFill>
          <a:ln/>
        </p:spPr>
      </p:sp>
      <p:sp>
        <p:nvSpPr>
          <p:cNvPr id="377" name="Shape 375"/>
          <p:cNvSpPr/>
          <p:nvPr/>
        </p:nvSpPr>
        <p:spPr>
          <a:xfrm>
            <a:off x="566928" y="5685739"/>
            <a:ext cx="74981" cy="74981"/>
          </a:xfrm>
          <a:prstGeom prst="rect">
            <a:avLst/>
          </a:prstGeom>
          <a:solidFill>
            <a:srgbClr val="4B82BE"/>
          </a:solidFill>
          <a:ln/>
        </p:spPr>
      </p:sp>
      <p:sp>
        <p:nvSpPr>
          <p:cNvPr id="378" name="Shape 376"/>
          <p:cNvSpPr/>
          <p:nvPr/>
        </p:nvSpPr>
        <p:spPr>
          <a:xfrm>
            <a:off x="751271" y="5685739"/>
            <a:ext cx="74981" cy="74981"/>
          </a:xfrm>
          <a:prstGeom prst="rect">
            <a:avLst/>
          </a:prstGeom>
          <a:solidFill>
            <a:srgbClr val="4B82BE"/>
          </a:solidFill>
          <a:ln/>
        </p:spPr>
      </p:sp>
      <p:sp>
        <p:nvSpPr>
          <p:cNvPr id="379" name="Shape 377"/>
          <p:cNvSpPr/>
          <p:nvPr/>
        </p:nvSpPr>
        <p:spPr>
          <a:xfrm>
            <a:off x="935614" y="5685739"/>
            <a:ext cx="74981" cy="74981"/>
          </a:xfrm>
          <a:prstGeom prst="rect">
            <a:avLst/>
          </a:prstGeom>
          <a:solidFill>
            <a:srgbClr val="4B82BE"/>
          </a:solidFill>
          <a:ln/>
        </p:spPr>
      </p:sp>
      <p:sp>
        <p:nvSpPr>
          <p:cNvPr id="380" name="Shape 378"/>
          <p:cNvSpPr/>
          <p:nvPr/>
        </p:nvSpPr>
        <p:spPr>
          <a:xfrm>
            <a:off x="1119957" y="5685739"/>
            <a:ext cx="74981" cy="74981"/>
          </a:xfrm>
          <a:prstGeom prst="rect">
            <a:avLst/>
          </a:prstGeom>
          <a:solidFill>
            <a:srgbClr val="4B82BE"/>
          </a:solidFill>
          <a:ln/>
        </p:spPr>
      </p:sp>
      <p:sp>
        <p:nvSpPr>
          <p:cNvPr id="381" name="Shape 379"/>
          <p:cNvSpPr/>
          <p:nvPr/>
        </p:nvSpPr>
        <p:spPr>
          <a:xfrm>
            <a:off x="1304300" y="5685739"/>
            <a:ext cx="74981" cy="74981"/>
          </a:xfrm>
          <a:prstGeom prst="rect">
            <a:avLst/>
          </a:prstGeom>
          <a:solidFill>
            <a:srgbClr val="4B82BE"/>
          </a:solidFill>
          <a:ln/>
        </p:spPr>
      </p:sp>
      <p:sp>
        <p:nvSpPr>
          <p:cNvPr id="382" name="Shape 380"/>
          <p:cNvSpPr/>
          <p:nvPr/>
        </p:nvSpPr>
        <p:spPr>
          <a:xfrm>
            <a:off x="1488643" y="5685739"/>
            <a:ext cx="74981" cy="74981"/>
          </a:xfrm>
          <a:prstGeom prst="rect">
            <a:avLst/>
          </a:prstGeom>
          <a:solidFill>
            <a:srgbClr val="4B82BE"/>
          </a:solidFill>
          <a:ln/>
        </p:spPr>
      </p:sp>
      <p:sp>
        <p:nvSpPr>
          <p:cNvPr id="383" name="Shape 381"/>
          <p:cNvSpPr/>
          <p:nvPr/>
        </p:nvSpPr>
        <p:spPr>
          <a:xfrm>
            <a:off x="1672986" y="5685739"/>
            <a:ext cx="74981" cy="74981"/>
          </a:xfrm>
          <a:prstGeom prst="rect">
            <a:avLst/>
          </a:prstGeom>
          <a:solidFill>
            <a:srgbClr val="4B82BE"/>
          </a:solidFill>
          <a:ln/>
        </p:spPr>
      </p:sp>
      <p:sp>
        <p:nvSpPr>
          <p:cNvPr id="384" name="Shape 382"/>
          <p:cNvSpPr/>
          <p:nvPr/>
        </p:nvSpPr>
        <p:spPr>
          <a:xfrm>
            <a:off x="1857329" y="5685739"/>
            <a:ext cx="74981" cy="74981"/>
          </a:xfrm>
          <a:prstGeom prst="rect">
            <a:avLst/>
          </a:prstGeom>
          <a:solidFill>
            <a:srgbClr val="4B82BE"/>
          </a:solidFill>
          <a:ln/>
        </p:spPr>
      </p:sp>
      <p:sp>
        <p:nvSpPr>
          <p:cNvPr id="385" name="Shape 383"/>
          <p:cNvSpPr/>
          <p:nvPr/>
        </p:nvSpPr>
        <p:spPr>
          <a:xfrm>
            <a:off x="2041672" y="5685739"/>
            <a:ext cx="74981" cy="74981"/>
          </a:xfrm>
          <a:prstGeom prst="rect">
            <a:avLst/>
          </a:prstGeom>
          <a:solidFill>
            <a:srgbClr val="4B82BE"/>
          </a:solidFill>
          <a:ln/>
        </p:spPr>
      </p:sp>
      <p:sp>
        <p:nvSpPr>
          <p:cNvPr id="386" name="Shape 384"/>
          <p:cNvSpPr/>
          <p:nvPr/>
        </p:nvSpPr>
        <p:spPr>
          <a:xfrm>
            <a:off x="2226015" y="5685739"/>
            <a:ext cx="74981" cy="74981"/>
          </a:xfrm>
          <a:prstGeom prst="rect">
            <a:avLst/>
          </a:prstGeom>
          <a:solidFill>
            <a:srgbClr val="4B82BE"/>
          </a:solidFill>
          <a:ln/>
        </p:spPr>
      </p:sp>
      <p:sp>
        <p:nvSpPr>
          <p:cNvPr id="387" name="Shape 385"/>
          <p:cNvSpPr/>
          <p:nvPr/>
        </p:nvSpPr>
        <p:spPr>
          <a:xfrm>
            <a:off x="2410358" y="5685739"/>
            <a:ext cx="74981" cy="74981"/>
          </a:xfrm>
          <a:prstGeom prst="rect">
            <a:avLst/>
          </a:prstGeom>
          <a:solidFill>
            <a:srgbClr val="4B82BE"/>
          </a:solidFill>
          <a:ln/>
        </p:spPr>
      </p:sp>
      <p:sp>
        <p:nvSpPr>
          <p:cNvPr id="388" name="Shape 386"/>
          <p:cNvSpPr/>
          <p:nvPr/>
        </p:nvSpPr>
        <p:spPr>
          <a:xfrm>
            <a:off x="2594701" y="5685739"/>
            <a:ext cx="74981" cy="74981"/>
          </a:xfrm>
          <a:prstGeom prst="rect">
            <a:avLst/>
          </a:prstGeom>
          <a:solidFill>
            <a:srgbClr val="4B82BE"/>
          </a:solidFill>
          <a:ln/>
        </p:spPr>
      </p:sp>
      <p:sp>
        <p:nvSpPr>
          <p:cNvPr id="389" name="Shape 387"/>
          <p:cNvSpPr/>
          <p:nvPr/>
        </p:nvSpPr>
        <p:spPr>
          <a:xfrm>
            <a:off x="2779044" y="5685739"/>
            <a:ext cx="74981" cy="74981"/>
          </a:xfrm>
          <a:prstGeom prst="rect">
            <a:avLst/>
          </a:prstGeom>
          <a:solidFill>
            <a:srgbClr val="4B82BE"/>
          </a:solidFill>
          <a:ln/>
        </p:spPr>
      </p:sp>
      <p:sp>
        <p:nvSpPr>
          <p:cNvPr id="390" name="Shape 388"/>
          <p:cNvSpPr/>
          <p:nvPr/>
        </p:nvSpPr>
        <p:spPr>
          <a:xfrm>
            <a:off x="2963388" y="5685739"/>
            <a:ext cx="74981" cy="74981"/>
          </a:xfrm>
          <a:prstGeom prst="rect">
            <a:avLst/>
          </a:prstGeom>
          <a:solidFill>
            <a:srgbClr val="4B82BE"/>
          </a:solidFill>
          <a:ln/>
        </p:spPr>
      </p:sp>
      <p:sp>
        <p:nvSpPr>
          <p:cNvPr id="391" name="Shape 389"/>
          <p:cNvSpPr/>
          <p:nvPr/>
        </p:nvSpPr>
        <p:spPr>
          <a:xfrm>
            <a:off x="3147731" y="5685739"/>
            <a:ext cx="74981" cy="74981"/>
          </a:xfrm>
          <a:prstGeom prst="rect">
            <a:avLst/>
          </a:prstGeom>
          <a:solidFill>
            <a:srgbClr val="4B82BE"/>
          </a:solidFill>
          <a:ln/>
        </p:spPr>
      </p:sp>
      <p:sp>
        <p:nvSpPr>
          <p:cNvPr id="392" name="Shape 390"/>
          <p:cNvSpPr/>
          <p:nvPr/>
        </p:nvSpPr>
        <p:spPr>
          <a:xfrm>
            <a:off x="3332074" y="5685739"/>
            <a:ext cx="74981" cy="74981"/>
          </a:xfrm>
          <a:prstGeom prst="rect">
            <a:avLst/>
          </a:prstGeom>
          <a:solidFill>
            <a:srgbClr val="4B82BE"/>
          </a:solidFill>
          <a:ln/>
        </p:spPr>
      </p:sp>
      <p:sp>
        <p:nvSpPr>
          <p:cNvPr id="393" name="Shape 391"/>
          <p:cNvSpPr/>
          <p:nvPr/>
        </p:nvSpPr>
        <p:spPr>
          <a:xfrm>
            <a:off x="3516417" y="5685739"/>
            <a:ext cx="74981" cy="74981"/>
          </a:xfrm>
          <a:prstGeom prst="rect">
            <a:avLst/>
          </a:prstGeom>
          <a:solidFill>
            <a:srgbClr val="4B82BE"/>
          </a:solidFill>
          <a:ln/>
        </p:spPr>
      </p:sp>
      <p:sp>
        <p:nvSpPr>
          <p:cNvPr id="394" name="Shape 392"/>
          <p:cNvSpPr/>
          <p:nvPr/>
        </p:nvSpPr>
        <p:spPr>
          <a:xfrm>
            <a:off x="3700760" y="5685739"/>
            <a:ext cx="74981" cy="74981"/>
          </a:xfrm>
          <a:prstGeom prst="rect">
            <a:avLst/>
          </a:prstGeom>
          <a:solidFill>
            <a:srgbClr val="4B82BE"/>
          </a:solidFill>
          <a:ln/>
        </p:spPr>
      </p:sp>
      <p:sp>
        <p:nvSpPr>
          <p:cNvPr id="395" name="Shape 393"/>
          <p:cNvSpPr/>
          <p:nvPr/>
        </p:nvSpPr>
        <p:spPr>
          <a:xfrm>
            <a:off x="3885103" y="5685739"/>
            <a:ext cx="74981" cy="74981"/>
          </a:xfrm>
          <a:prstGeom prst="rect">
            <a:avLst/>
          </a:prstGeom>
          <a:solidFill>
            <a:srgbClr val="4B82BE"/>
          </a:solidFill>
          <a:ln/>
        </p:spPr>
      </p:sp>
      <p:sp>
        <p:nvSpPr>
          <p:cNvPr id="396" name="Shape 394"/>
          <p:cNvSpPr/>
          <p:nvPr/>
        </p:nvSpPr>
        <p:spPr>
          <a:xfrm>
            <a:off x="4069446" y="5685739"/>
            <a:ext cx="74981" cy="74981"/>
          </a:xfrm>
          <a:prstGeom prst="rect">
            <a:avLst/>
          </a:prstGeom>
          <a:solidFill>
            <a:srgbClr val="4B82BE"/>
          </a:solidFill>
          <a:ln/>
        </p:spPr>
      </p:sp>
      <p:sp>
        <p:nvSpPr>
          <p:cNvPr id="397" name="Shape 395"/>
          <p:cNvSpPr/>
          <p:nvPr/>
        </p:nvSpPr>
        <p:spPr>
          <a:xfrm>
            <a:off x="4253789" y="5685739"/>
            <a:ext cx="74981" cy="74981"/>
          </a:xfrm>
          <a:prstGeom prst="rect">
            <a:avLst/>
          </a:prstGeom>
          <a:solidFill>
            <a:srgbClr val="4B82BE"/>
          </a:solidFill>
          <a:ln/>
        </p:spPr>
      </p:sp>
      <p:sp>
        <p:nvSpPr>
          <p:cNvPr id="398" name="Shape 396"/>
          <p:cNvSpPr/>
          <p:nvPr/>
        </p:nvSpPr>
        <p:spPr>
          <a:xfrm>
            <a:off x="4438132" y="5685739"/>
            <a:ext cx="74981" cy="74981"/>
          </a:xfrm>
          <a:prstGeom prst="rect">
            <a:avLst/>
          </a:prstGeom>
          <a:solidFill>
            <a:srgbClr val="4B82BE"/>
          </a:solidFill>
          <a:ln/>
        </p:spPr>
      </p:sp>
      <p:sp>
        <p:nvSpPr>
          <p:cNvPr id="399" name="Shape 397"/>
          <p:cNvSpPr/>
          <p:nvPr/>
        </p:nvSpPr>
        <p:spPr>
          <a:xfrm>
            <a:off x="4622475" y="5685739"/>
            <a:ext cx="74981" cy="74981"/>
          </a:xfrm>
          <a:prstGeom prst="rect">
            <a:avLst/>
          </a:prstGeom>
          <a:solidFill>
            <a:srgbClr val="4B82BE"/>
          </a:solidFill>
          <a:ln/>
        </p:spPr>
      </p:sp>
      <p:sp>
        <p:nvSpPr>
          <p:cNvPr id="400" name="Shape 398"/>
          <p:cNvSpPr/>
          <p:nvPr/>
        </p:nvSpPr>
        <p:spPr>
          <a:xfrm>
            <a:off x="4806818" y="5685739"/>
            <a:ext cx="74981" cy="74981"/>
          </a:xfrm>
          <a:prstGeom prst="rect">
            <a:avLst/>
          </a:prstGeom>
          <a:solidFill>
            <a:srgbClr val="4B82BE"/>
          </a:solidFill>
          <a:ln/>
        </p:spPr>
      </p:sp>
      <p:sp>
        <p:nvSpPr>
          <p:cNvPr id="401" name="Shape 399"/>
          <p:cNvSpPr/>
          <p:nvPr/>
        </p:nvSpPr>
        <p:spPr>
          <a:xfrm>
            <a:off x="4991161" y="5685739"/>
            <a:ext cx="74981" cy="74981"/>
          </a:xfrm>
          <a:prstGeom prst="rect">
            <a:avLst/>
          </a:prstGeom>
          <a:solidFill>
            <a:srgbClr val="4B82BE"/>
          </a:solidFill>
          <a:ln/>
        </p:spPr>
      </p:sp>
      <p:sp>
        <p:nvSpPr>
          <p:cNvPr id="402" name="Shape 400"/>
          <p:cNvSpPr/>
          <p:nvPr/>
        </p:nvSpPr>
        <p:spPr>
          <a:xfrm>
            <a:off x="5175504" y="5685739"/>
            <a:ext cx="74981" cy="74981"/>
          </a:xfrm>
          <a:prstGeom prst="rect">
            <a:avLst/>
          </a:prstGeom>
          <a:solidFill>
            <a:srgbClr val="4B82BE"/>
          </a:solidFill>
          <a:ln/>
        </p:spPr>
      </p:sp>
      <p:sp>
        <p:nvSpPr>
          <p:cNvPr id="403" name="Shape 401"/>
          <p:cNvSpPr/>
          <p:nvPr/>
        </p:nvSpPr>
        <p:spPr>
          <a:xfrm>
            <a:off x="5359847" y="5685739"/>
            <a:ext cx="74981" cy="74981"/>
          </a:xfrm>
          <a:prstGeom prst="rect">
            <a:avLst/>
          </a:prstGeom>
          <a:solidFill>
            <a:srgbClr val="4B82BE"/>
          </a:solidFill>
          <a:ln/>
        </p:spPr>
      </p:sp>
      <p:sp>
        <p:nvSpPr>
          <p:cNvPr id="404" name="Shape 402"/>
          <p:cNvSpPr/>
          <p:nvPr/>
        </p:nvSpPr>
        <p:spPr>
          <a:xfrm>
            <a:off x="5544190" y="5685739"/>
            <a:ext cx="74981" cy="74981"/>
          </a:xfrm>
          <a:prstGeom prst="rect">
            <a:avLst/>
          </a:prstGeom>
          <a:solidFill>
            <a:srgbClr val="4B82BE"/>
          </a:solidFill>
          <a:ln/>
        </p:spPr>
      </p:sp>
      <p:sp>
        <p:nvSpPr>
          <p:cNvPr id="405" name="Shape 403"/>
          <p:cNvSpPr/>
          <p:nvPr/>
        </p:nvSpPr>
        <p:spPr>
          <a:xfrm>
            <a:off x="5728533" y="5685739"/>
            <a:ext cx="74981" cy="74981"/>
          </a:xfrm>
          <a:prstGeom prst="rect">
            <a:avLst/>
          </a:prstGeom>
          <a:solidFill>
            <a:srgbClr val="4B82BE"/>
          </a:solidFill>
          <a:ln/>
        </p:spPr>
      </p:sp>
      <p:sp>
        <p:nvSpPr>
          <p:cNvPr id="406" name="Shape 404"/>
          <p:cNvSpPr/>
          <p:nvPr/>
        </p:nvSpPr>
        <p:spPr>
          <a:xfrm>
            <a:off x="5912876" y="5685739"/>
            <a:ext cx="74981" cy="74981"/>
          </a:xfrm>
          <a:prstGeom prst="rect">
            <a:avLst/>
          </a:prstGeom>
          <a:solidFill>
            <a:srgbClr val="4B82BE"/>
          </a:solidFill>
          <a:ln/>
        </p:spPr>
      </p:sp>
      <p:sp>
        <p:nvSpPr>
          <p:cNvPr id="407" name="Shape 405"/>
          <p:cNvSpPr/>
          <p:nvPr/>
        </p:nvSpPr>
        <p:spPr>
          <a:xfrm>
            <a:off x="6097219" y="5685739"/>
            <a:ext cx="74981" cy="74981"/>
          </a:xfrm>
          <a:prstGeom prst="rect">
            <a:avLst/>
          </a:prstGeom>
          <a:solidFill>
            <a:srgbClr val="4B82BE"/>
          </a:solidFill>
          <a:ln/>
        </p:spPr>
      </p:sp>
      <p:sp>
        <p:nvSpPr>
          <p:cNvPr id="408" name="Shape 406"/>
          <p:cNvSpPr/>
          <p:nvPr/>
        </p:nvSpPr>
        <p:spPr>
          <a:xfrm>
            <a:off x="6281562" y="5685739"/>
            <a:ext cx="74981" cy="74981"/>
          </a:xfrm>
          <a:prstGeom prst="rect">
            <a:avLst/>
          </a:prstGeom>
          <a:solidFill>
            <a:srgbClr val="4B82BE"/>
          </a:solidFill>
          <a:ln/>
        </p:spPr>
      </p:sp>
      <p:sp>
        <p:nvSpPr>
          <p:cNvPr id="409" name="Shape 407"/>
          <p:cNvSpPr/>
          <p:nvPr/>
        </p:nvSpPr>
        <p:spPr>
          <a:xfrm>
            <a:off x="6465905" y="5685739"/>
            <a:ext cx="74981" cy="74981"/>
          </a:xfrm>
          <a:prstGeom prst="rect">
            <a:avLst/>
          </a:prstGeom>
          <a:solidFill>
            <a:srgbClr val="4B82BE"/>
          </a:solidFill>
          <a:ln/>
        </p:spPr>
      </p:sp>
      <p:sp>
        <p:nvSpPr>
          <p:cNvPr id="410" name="Shape 408"/>
          <p:cNvSpPr/>
          <p:nvPr/>
        </p:nvSpPr>
        <p:spPr>
          <a:xfrm>
            <a:off x="6650248" y="5685739"/>
            <a:ext cx="74981" cy="74981"/>
          </a:xfrm>
          <a:prstGeom prst="rect">
            <a:avLst/>
          </a:prstGeom>
          <a:solidFill>
            <a:srgbClr val="4B82BE"/>
          </a:solidFill>
          <a:ln/>
        </p:spPr>
      </p:sp>
      <p:sp>
        <p:nvSpPr>
          <p:cNvPr id="411" name="Shape 409"/>
          <p:cNvSpPr/>
          <p:nvPr/>
        </p:nvSpPr>
        <p:spPr>
          <a:xfrm>
            <a:off x="6834591" y="5685739"/>
            <a:ext cx="74981" cy="74981"/>
          </a:xfrm>
          <a:prstGeom prst="rect">
            <a:avLst/>
          </a:prstGeom>
          <a:solidFill>
            <a:srgbClr val="4B82BE"/>
          </a:solidFill>
          <a:ln/>
        </p:spPr>
      </p:sp>
      <p:sp>
        <p:nvSpPr>
          <p:cNvPr id="412" name="Shape 410"/>
          <p:cNvSpPr/>
          <p:nvPr/>
        </p:nvSpPr>
        <p:spPr>
          <a:xfrm>
            <a:off x="7018934" y="5685739"/>
            <a:ext cx="74981" cy="74981"/>
          </a:xfrm>
          <a:prstGeom prst="rect">
            <a:avLst/>
          </a:prstGeom>
          <a:solidFill>
            <a:srgbClr val="4B82BE"/>
          </a:solidFill>
          <a:ln/>
        </p:spPr>
      </p:sp>
      <p:sp>
        <p:nvSpPr>
          <p:cNvPr id="413" name="Shape 411"/>
          <p:cNvSpPr/>
          <p:nvPr/>
        </p:nvSpPr>
        <p:spPr>
          <a:xfrm>
            <a:off x="7203277" y="5685739"/>
            <a:ext cx="74981" cy="74981"/>
          </a:xfrm>
          <a:prstGeom prst="rect">
            <a:avLst/>
          </a:prstGeom>
          <a:solidFill>
            <a:srgbClr val="4B82BE"/>
          </a:solidFill>
          <a:ln/>
        </p:spPr>
      </p:sp>
      <p:sp>
        <p:nvSpPr>
          <p:cNvPr id="414" name="Shape 412"/>
          <p:cNvSpPr/>
          <p:nvPr/>
        </p:nvSpPr>
        <p:spPr>
          <a:xfrm>
            <a:off x="7387620" y="5685739"/>
            <a:ext cx="74981" cy="74981"/>
          </a:xfrm>
          <a:prstGeom prst="rect">
            <a:avLst/>
          </a:prstGeom>
          <a:solidFill>
            <a:srgbClr val="4B82BE"/>
          </a:solidFill>
          <a:ln/>
        </p:spPr>
      </p:sp>
      <p:sp>
        <p:nvSpPr>
          <p:cNvPr id="415" name="Shape 413"/>
          <p:cNvSpPr/>
          <p:nvPr/>
        </p:nvSpPr>
        <p:spPr>
          <a:xfrm>
            <a:off x="7571964" y="5685739"/>
            <a:ext cx="74981" cy="74981"/>
          </a:xfrm>
          <a:prstGeom prst="rect">
            <a:avLst/>
          </a:prstGeom>
          <a:solidFill>
            <a:srgbClr val="4B82BE"/>
          </a:solidFill>
          <a:ln/>
        </p:spPr>
      </p:sp>
      <p:sp>
        <p:nvSpPr>
          <p:cNvPr id="416" name="Shape 414"/>
          <p:cNvSpPr/>
          <p:nvPr/>
        </p:nvSpPr>
        <p:spPr>
          <a:xfrm>
            <a:off x="7756307" y="5685739"/>
            <a:ext cx="74981" cy="74981"/>
          </a:xfrm>
          <a:prstGeom prst="rect">
            <a:avLst/>
          </a:prstGeom>
          <a:solidFill>
            <a:srgbClr val="4B82BE"/>
          </a:solidFill>
          <a:ln/>
        </p:spPr>
      </p:sp>
      <p:sp>
        <p:nvSpPr>
          <p:cNvPr id="417" name="Shape 415"/>
          <p:cNvSpPr/>
          <p:nvPr/>
        </p:nvSpPr>
        <p:spPr>
          <a:xfrm>
            <a:off x="7940650" y="5685739"/>
            <a:ext cx="74981" cy="74981"/>
          </a:xfrm>
          <a:prstGeom prst="rect">
            <a:avLst/>
          </a:prstGeom>
          <a:solidFill>
            <a:srgbClr val="4B82BE"/>
          </a:solidFill>
          <a:ln/>
        </p:spPr>
      </p:sp>
      <p:sp>
        <p:nvSpPr>
          <p:cNvPr id="418" name="Shape 416"/>
          <p:cNvSpPr/>
          <p:nvPr/>
        </p:nvSpPr>
        <p:spPr>
          <a:xfrm>
            <a:off x="8124993" y="5685739"/>
            <a:ext cx="74981" cy="74981"/>
          </a:xfrm>
          <a:prstGeom prst="rect">
            <a:avLst/>
          </a:prstGeom>
          <a:solidFill>
            <a:srgbClr val="4B82BE"/>
          </a:solidFill>
          <a:ln/>
        </p:spPr>
      </p:sp>
      <p:sp>
        <p:nvSpPr>
          <p:cNvPr id="419" name="Shape 417"/>
          <p:cNvSpPr/>
          <p:nvPr/>
        </p:nvSpPr>
        <p:spPr>
          <a:xfrm>
            <a:off x="8309336" y="5685739"/>
            <a:ext cx="74981" cy="74981"/>
          </a:xfrm>
          <a:prstGeom prst="rect">
            <a:avLst/>
          </a:prstGeom>
          <a:solidFill>
            <a:srgbClr val="4B82BE"/>
          </a:solidFill>
          <a:ln/>
        </p:spPr>
      </p:sp>
      <p:sp>
        <p:nvSpPr>
          <p:cNvPr id="420" name="Shape 418"/>
          <p:cNvSpPr/>
          <p:nvPr/>
        </p:nvSpPr>
        <p:spPr>
          <a:xfrm>
            <a:off x="8493679" y="5685739"/>
            <a:ext cx="74981" cy="74981"/>
          </a:xfrm>
          <a:prstGeom prst="rect">
            <a:avLst/>
          </a:prstGeom>
          <a:solidFill>
            <a:srgbClr val="4B82BE"/>
          </a:solidFill>
          <a:ln/>
        </p:spPr>
      </p:sp>
      <p:sp>
        <p:nvSpPr>
          <p:cNvPr id="421" name="Shape 419"/>
          <p:cNvSpPr/>
          <p:nvPr/>
        </p:nvSpPr>
        <p:spPr>
          <a:xfrm>
            <a:off x="8678022" y="5685739"/>
            <a:ext cx="74981" cy="74981"/>
          </a:xfrm>
          <a:prstGeom prst="rect">
            <a:avLst/>
          </a:prstGeom>
          <a:solidFill>
            <a:srgbClr val="4B82BE"/>
          </a:solidFill>
          <a:ln/>
        </p:spPr>
      </p:sp>
      <p:sp>
        <p:nvSpPr>
          <p:cNvPr id="422" name="Shape 420"/>
          <p:cNvSpPr/>
          <p:nvPr/>
        </p:nvSpPr>
        <p:spPr>
          <a:xfrm>
            <a:off x="8862365" y="5685739"/>
            <a:ext cx="74981" cy="74981"/>
          </a:xfrm>
          <a:prstGeom prst="rect">
            <a:avLst/>
          </a:prstGeom>
          <a:solidFill>
            <a:srgbClr val="4B82BE"/>
          </a:solidFill>
          <a:ln/>
        </p:spPr>
      </p:sp>
      <p:sp>
        <p:nvSpPr>
          <p:cNvPr id="423" name="Shape 421"/>
          <p:cNvSpPr/>
          <p:nvPr/>
        </p:nvSpPr>
        <p:spPr>
          <a:xfrm>
            <a:off x="9046708" y="5685739"/>
            <a:ext cx="74981" cy="74981"/>
          </a:xfrm>
          <a:prstGeom prst="rect">
            <a:avLst/>
          </a:prstGeom>
          <a:solidFill>
            <a:srgbClr val="4B82BE"/>
          </a:solidFill>
          <a:ln/>
        </p:spPr>
      </p:sp>
      <p:sp>
        <p:nvSpPr>
          <p:cNvPr id="424" name="Shape 422"/>
          <p:cNvSpPr/>
          <p:nvPr/>
        </p:nvSpPr>
        <p:spPr>
          <a:xfrm>
            <a:off x="9231051" y="5685739"/>
            <a:ext cx="74981" cy="74981"/>
          </a:xfrm>
          <a:prstGeom prst="rect">
            <a:avLst/>
          </a:prstGeom>
          <a:solidFill>
            <a:srgbClr val="4B82BE"/>
          </a:solidFill>
          <a:ln/>
        </p:spPr>
      </p:sp>
      <p:sp>
        <p:nvSpPr>
          <p:cNvPr id="425" name="Shape 423"/>
          <p:cNvSpPr/>
          <p:nvPr/>
        </p:nvSpPr>
        <p:spPr>
          <a:xfrm>
            <a:off x="9415394" y="5685739"/>
            <a:ext cx="74981" cy="74981"/>
          </a:xfrm>
          <a:prstGeom prst="rect">
            <a:avLst/>
          </a:prstGeom>
          <a:solidFill>
            <a:srgbClr val="4B82BE"/>
          </a:solidFill>
          <a:ln/>
        </p:spPr>
      </p:sp>
      <p:sp>
        <p:nvSpPr>
          <p:cNvPr id="426" name="Shape 424"/>
          <p:cNvSpPr/>
          <p:nvPr/>
        </p:nvSpPr>
        <p:spPr>
          <a:xfrm>
            <a:off x="9599737" y="5685739"/>
            <a:ext cx="74981" cy="74981"/>
          </a:xfrm>
          <a:prstGeom prst="rect">
            <a:avLst/>
          </a:prstGeom>
          <a:solidFill>
            <a:srgbClr val="4B82BE"/>
          </a:solidFill>
          <a:ln/>
        </p:spPr>
      </p:sp>
      <p:sp>
        <p:nvSpPr>
          <p:cNvPr id="427" name="Shape 425"/>
          <p:cNvSpPr/>
          <p:nvPr/>
        </p:nvSpPr>
        <p:spPr>
          <a:xfrm>
            <a:off x="9784080" y="5685739"/>
            <a:ext cx="74981" cy="74981"/>
          </a:xfrm>
          <a:prstGeom prst="rect">
            <a:avLst/>
          </a:prstGeom>
          <a:solidFill>
            <a:srgbClr val="4B82BE"/>
          </a:solidFill>
          <a:ln/>
        </p:spPr>
      </p:sp>
      <p:sp>
        <p:nvSpPr>
          <p:cNvPr id="428" name="Shape 426"/>
          <p:cNvSpPr/>
          <p:nvPr/>
        </p:nvSpPr>
        <p:spPr>
          <a:xfrm>
            <a:off x="9968423" y="5685739"/>
            <a:ext cx="74981" cy="74981"/>
          </a:xfrm>
          <a:prstGeom prst="rect">
            <a:avLst/>
          </a:prstGeom>
          <a:solidFill>
            <a:srgbClr val="4B82BE"/>
          </a:solidFill>
          <a:ln/>
        </p:spPr>
      </p:sp>
      <p:sp>
        <p:nvSpPr>
          <p:cNvPr id="429" name="Shape 427"/>
          <p:cNvSpPr/>
          <p:nvPr/>
        </p:nvSpPr>
        <p:spPr>
          <a:xfrm>
            <a:off x="10152766" y="5685739"/>
            <a:ext cx="74981" cy="74981"/>
          </a:xfrm>
          <a:prstGeom prst="rect">
            <a:avLst/>
          </a:prstGeom>
          <a:solidFill>
            <a:srgbClr val="4B82BE"/>
          </a:solidFill>
          <a:ln/>
        </p:spPr>
      </p:sp>
      <p:sp>
        <p:nvSpPr>
          <p:cNvPr id="430" name="Shape 428"/>
          <p:cNvSpPr/>
          <p:nvPr/>
        </p:nvSpPr>
        <p:spPr>
          <a:xfrm>
            <a:off x="10337109" y="5685739"/>
            <a:ext cx="74981" cy="74981"/>
          </a:xfrm>
          <a:prstGeom prst="rect">
            <a:avLst/>
          </a:prstGeom>
          <a:solidFill>
            <a:srgbClr val="4B82BE"/>
          </a:solidFill>
          <a:ln/>
        </p:spPr>
      </p:sp>
      <p:sp>
        <p:nvSpPr>
          <p:cNvPr id="431" name="Shape 429"/>
          <p:cNvSpPr/>
          <p:nvPr/>
        </p:nvSpPr>
        <p:spPr>
          <a:xfrm>
            <a:off x="10521452" y="5685739"/>
            <a:ext cx="74981" cy="74981"/>
          </a:xfrm>
          <a:prstGeom prst="rect">
            <a:avLst/>
          </a:prstGeom>
          <a:solidFill>
            <a:srgbClr val="4B82BE"/>
          </a:solidFill>
          <a:ln/>
        </p:spPr>
      </p:sp>
      <p:sp>
        <p:nvSpPr>
          <p:cNvPr id="432" name="Shape 430"/>
          <p:cNvSpPr/>
          <p:nvPr/>
        </p:nvSpPr>
        <p:spPr>
          <a:xfrm>
            <a:off x="10705795" y="5685739"/>
            <a:ext cx="74981" cy="74981"/>
          </a:xfrm>
          <a:prstGeom prst="rect">
            <a:avLst/>
          </a:prstGeom>
          <a:solidFill>
            <a:srgbClr val="4B82BE"/>
          </a:solidFill>
          <a:ln/>
        </p:spPr>
      </p:sp>
      <p:sp>
        <p:nvSpPr>
          <p:cNvPr id="433" name="Shape 431"/>
          <p:cNvSpPr/>
          <p:nvPr/>
        </p:nvSpPr>
        <p:spPr>
          <a:xfrm>
            <a:off x="10890138" y="5685739"/>
            <a:ext cx="74981" cy="74981"/>
          </a:xfrm>
          <a:prstGeom prst="rect">
            <a:avLst/>
          </a:prstGeom>
          <a:solidFill>
            <a:srgbClr val="4B82BE"/>
          </a:solidFill>
          <a:ln/>
        </p:spPr>
      </p:sp>
      <p:sp>
        <p:nvSpPr>
          <p:cNvPr id="434" name="Shape 432"/>
          <p:cNvSpPr/>
          <p:nvPr/>
        </p:nvSpPr>
        <p:spPr>
          <a:xfrm>
            <a:off x="11074481" y="5685739"/>
            <a:ext cx="74981" cy="74981"/>
          </a:xfrm>
          <a:prstGeom prst="rect">
            <a:avLst/>
          </a:prstGeom>
          <a:solidFill>
            <a:srgbClr val="4B82BE"/>
          </a:solidFill>
          <a:ln/>
        </p:spPr>
      </p:sp>
      <p:sp>
        <p:nvSpPr>
          <p:cNvPr id="435" name="Shape 433"/>
          <p:cNvSpPr/>
          <p:nvPr/>
        </p:nvSpPr>
        <p:spPr>
          <a:xfrm>
            <a:off x="11258824" y="5685739"/>
            <a:ext cx="74981" cy="74981"/>
          </a:xfrm>
          <a:prstGeom prst="rect">
            <a:avLst/>
          </a:prstGeom>
          <a:solidFill>
            <a:srgbClr val="4B82BE"/>
          </a:solidFill>
          <a:ln/>
        </p:spPr>
      </p:sp>
      <p:sp>
        <p:nvSpPr>
          <p:cNvPr id="436" name="Shape 434"/>
          <p:cNvSpPr/>
          <p:nvPr/>
        </p:nvSpPr>
        <p:spPr>
          <a:xfrm>
            <a:off x="11443167" y="5685739"/>
            <a:ext cx="74981" cy="74981"/>
          </a:xfrm>
          <a:prstGeom prst="rect">
            <a:avLst/>
          </a:prstGeom>
          <a:solidFill>
            <a:srgbClr val="4B82BE"/>
          </a:solidFill>
          <a:ln/>
        </p:spPr>
      </p:sp>
      <p:sp>
        <p:nvSpPr>
          <p:cNvPr id="437" name="Text 435"/>
          <p:cNvSpPr/>
          <p:nvPr/>
        </p:nvSpPr>
        <p:spPr>
          <a:xfrm>
            <a:off x="566928" y="5870448"/>
            <a:ext cx="11057839" cy="256032"/>
          </a:xfrm>
          <a:prstGeom prst="rect">
            <a:avLst/>
          </a:prstGeom>
          <a:noFill/>
          <a:ln/>
        </p:spPr>
        <p:txBody>
          <a:bodyPr wrap="square" lIns="0" tIns="0" rIns="0" bIns="0" rtlCol="0" anchor="ctr"/>
          <a:lstStyle/>
          <a:p>
            <a:pPr indent="0" marL="0">
              <a:buNone/>
            </a:pPr>
            <a:r>
              <a:rPr lang="en-US" sz="950" spc="30" kern="0" dirty="0">
                <a:solidFill>
                  <a:srgbClr val="7E93AE"/>
                </a:solidFill>
                <a:latin typeface="Calibri" pitchFamily="34" charset="0"/>
                <a:ea typeface="Calibri" pitchFamily="34" charset="-122"/>
                <a:cs typeface="Calibri" pitchFamily="34" charset="-120"/>
              </a:rPr>
              <a:t>420 strata  —  60 routes × 7 booking horizons (T-1 to T-60), observed at three fixed IST slots every day</a:t>
            </a:r>
            <a:endParaRPr lang="en-US" sz="950" dirty="0"/>
          </a:p>
        </p:txBody>
      </p:sp>
      <p:sp>
        <p:nvSpPr>
          <p:cNvPr id="438" name="Text 436"/>
          <p:cNvSpPr/>
          <p:nvPr/>
        </p:nvSpPr>
        <p:spPr>
          <a:xfrm>
            <a:off x="566928" y="6309360"/>
            <a:ext cx="4572000" cy="274320"/>
          </a:xfrm>
          <a:prstGeom prst="rect">
            <a:avLst/>
          </a:prstGeom>
          <a:noFill/>
          <a:ln/>
        </p:spPr>
        <p:txBody>
          <a:bodyPr wrap="square" lIns="0" tIns="0" rIns="0" bIns="0" rtlCol="0" anchor="ctr"/>
          <a:lstStyle/>
          <a:p>
            <a:pPr indent="0" marL="0">
              <a:buNone/>
            </a:pPr>
            <a:r>
              <a:rPr lang="en-US" sz="1050" b="1" dirty="0">
                <a:solidFill>
                  <a:srgbClr val="A9BBD3"/>
                </a:solidFill>
                <a:latin typeface="Calibri" pitchFamily="34" charset="0"/>
                <a:ea typeface="Calibri" pitchFamily="34" charset="-122"/>
                <a:cs typeface="Calibri" pitchFamily="34" charset="-120"/>
              </a:rPr>
              <a:t>Team AeroDex</a:t>
            </a:r>
            <a:endParaRPr lang="en-US" sz="1050" dirty="0"/>
          </a:p>
        </p:txBody>
      </p:sp>
      <p:sp>
        <p:nvSpPr>
          <p:cNvPr id="439" name="Text 437"/>
          <p:cNvSpPr/>
          <p:nvPr/>
        </p:nvSpPr>
        <p:spPr>
          <a:xfrm>
            <a:off x="6400800" y="6309360"/>
            <a:ext cx="5223967" cy="274320"/>
          </a:xfrm>
          <a:prstGeom prst="rect">
            <a:avLst/>
          </a:prstGeom>
          <a:noFill/>
          <a:ln/>
        </p:spPr>
        <p:txBody>
          <a:bodyPr wrap="square" lIns="0" tIns="0" rIns="0" bIns="0" rtlCol="0" anchor="ctr"/>
          <a:lstStyle/>
          <a:p>
            <a:pPr algn="r" indent="0" marL="0">
              <a:buNone/>
            </a:pPr>
            <a:r>
              <a:rPr lang="en-US" sz="950" dirty="0">
                <a:solidFill>
                  <a:srgbClr val="7E93AE"/>
                </a:solidFill>
                <a:latin typeface="Courier New" pitchFamily="34" charset="0"/>
                <a:ea typeface="Courier New" pitchFamily="34" charset="-122"/>
                <a:cs typeface="Courier New" pitchFamily="34" charset="-120"/>
              </a:rPr>
              <a:t>github.com/Naveen-Boddepalli/aerodex</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402336" cy="402336"/>
          </a:xfrm>
          <a:prstGeom prst="roundRect">
            <a:avLst>
              <a:gd name="adj" fmla="val 11364"/>
            </a:avLst>
          </a:prstGeom>
          <a:solidFill>
            <a:srgbClr val="1B3A6B"/>
          </a:solidFill>
          <a:ln/>
        </p:spPr>
      </p:sp>
      <p:sp>
        <p:nvSpPr>
          <p:cNvPr id="3" name="Text 1"/>
          <p:cNvSpPr/>
          <p:nvPr/>
        </p:nvSpPr>
        <p:spPr>
          <a:xfrm>
            <a:off x="566928" y="4754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4" name="Text 2"/>
          <p:cNvSpPr/>
          <p:nvPr/>
        </p:nvSpPr>
        <p:spPr>
          <a:xfrm>
            <a:off x="1088136" y="420624"/>
            <a:ext cx="6583680" cy="512064"/>
          </a:xfrm>
          <a:prstGeom prst="rect">
            <a:avLst/>
          </a:prstGeom>
          <a:noFill/>
          <a:ln/>
        </p:spPr>
        <p:txBody>
          <a:bodyPr wrap="square" lIns="0" tIns="0" rIns="0" bIns="0" rtlCol="0" anchor="ctr"/>
          <a:lstStyle/>
          <a:p>
            <a:pPr indent="0" marL="0">
              <a:buNone/>
            </a:pPr>
            <a:r>
              <a:rPr lang="en-US" sz="3100" b="1" dirty="0">
                <a:solidFill>
                  <a:srgbClr val="10161D"/>
                </a:solidFill>
                <a:latin typeface="Cambria" pitchFamily="34" charset="0"/>
                <a:ea typeface="Cambria" pitchFamily="34" charset="-122"/>
                <a:cs typeface="Cambria" pitchFamily="34" charset="-120"/>
              </a:rPr>
              <a:t>Proposed Solution</a:t>
            </a:r>
            <a:endParaRPr lang="en-US" sz="3100" dirty="0"/>
          </a:p>
        </p:txBody>
      </p:sp>
      <p:sp>
        <p:nvSpPr>
          <p:cNvPr id="5" name="Text 3"/>
          <p:cNvSpPr/>
          <p:nvPr/>
        </p:nvSpPr>
        <p:spPr>
          <a:xfrm>
            <a:off x="6400800" y="457200"/>
            <a:ext cx="5223967" cy="438912"/>
          </a:xfrm>
          <a:prstGeom prst="rect">
            <a:avLst/>
          </a:prstGeom>
          <a:noFill/>
          <a:ln/>
        </p:spPr>
        <p:txBody>
          <a:bodyPr wrap="square" lIns="0" tIns="0" rIns="0" bIns="0" rtlCol="0" anchor="ctr"/>
          <a:lstStyle/>
          <a:p>
            <a:pPr algn="r" indent="0" marL="0">
              <a:buNone/>
            </a:pPr>
            <a:r>
              <a:rPr lang="en-US" sz="950" spc="30" kern="0" dirty="0">
                <a:solidFill>
                  <a:srgbClr val="6B7684"/>
                </a:solidFill>
                <a:latin typeface="Calibri" pitchFamily="34" charset="0"/>
                <a:ea typeface="Calibri" pitchFamily="34" charset="-122"/>
                <a:cs typeface="Calibri" pitchFamily="34" charset="-120"/>
              </a:rPr>
              <a:t>AeroDex  ·  PS SIH26056  ·  MoSPI</a:t>
            </a:r>
            <a:endParaRPr lang="en-US" sz="950" dirty="0"/>
          </a:p>
        </p:txBody>
      </p:sp>
      <p:sp>
        <p:nvSpPr>
          <p:cNvPr id="6" name="Shape 4"/>
          <p:cNvSpPr/>
          <p:nvPr/>
        </p:nvSpPr>
        <p:spPr>
          <a:xfrm>
            <a:off x="566928" y="1143000"/>
            <a:ext cx="5394960" cy="1517904"/>
          </a:xfrm>
          <a:prstGeom prst="roundRect">
            <a:avLst>
              <a:gd name="adj" fmla="val 3614"/>
            </a:avLst>
          </a:prstGeom>
          <a:solidFill>
            <a:srgbClr val="F3F5F8"/>
          </a:solidFill>
          <a:ln w="9525">
            <a:solidFill>
              <a:srgbClr val="D8DEE5"/>
            </a:solidFill>
            <a:prstDash val="solid"/>
          </a:ln>
        </p:spPr>
      </p:sp>
      <p:sp>
        <p:nvSpPr>
          <p:cNvPr id="7" name="Text 5"/>
          <p:cNvSpPr/>
          <p:nvPr/>
        </p:nvSpPr>
        <p:spPr>
          <a:xfrm>
            <a:off x="786384" y="1280160"/>
            <a:ext cx="4956048" cy="219456"/>
          </a:xfrm>
          <a:prstGeom prst="rect">
            <a:avLst/>
          </a:prstGeom>
          <a:noFill/>
          <a:ln/>
        </p:spPr>
        <p:txBody>
          <a:bodyPr wrap="square" lIns="0" tIns="0" rIns="0" bIns="0" rtlCol="0" anchor="ctr"/>
          <a:lstStyle/>
          <a:p>
            <a:pPr indent="0" marL="0">
              <a:buNone/>
            </a:pPr>
            <a:r>
              <a:rPr lang="en-US" sz="950" b="1" spc="110" kern="0" dirty="0">
                <a:solidFill>
                  <a:srgbClr val="1B3A6B"/>
                </a:solidFill>
                <a:latin typeface="Calibri" pitchFamily="34" charset="0"/>
                <a:ea typeface="Calibri" pitchFamily="34" charset="-122"/>
                <a:cs typeface="Calibri" pitchFamily="34" charset="-120"/>
              </a:rPr>
              <a:t>THE MEASUREMENT GAP</a:t>
            </a:r>
            <a:endParaRPr lang="en-US" sz="950" dirty="0"/>
          </a:p>
        </p:txBody>
      </p:sp>
      <p:sp>
        <p:nvSpPr>
          <p:cNvPr id="8" name="Text 6"/>
          <p:cNvSpPr/>
          <p:nvPr/>
        </p:nvSpPr>
        <p:spPr>
          <a:xfrm>
            <a:off x="786384" y="1536192"/>
            <a:ext cx="4956048" cy="1005840"/>
          </a:xfrm>
          <a:prstGeom prst="rect">
            <a:avLst/>
          </a:prstGeom>
          <a:noFill/>
          <a:ln/>
        </p:spPr>
        <p:txBody>
          <a:bodyPr wrap="square" lIns="0" tIns="0" rIns="0" bIns="0" rtlCol="0" anchor="ctr"/>
          <a:lstStyle/>
          <a:p>
            <a:pPr indent="0" marL="0">
              <a:lnSpc>
                <a:spcPts val="1600"/>
              </a:lnSpc>
              <a:buNone/>
            </a:pPr>
            <a:r>
              <a:rPr lang="en-US" sz="1150" dirty="0">
                <a:solidFill>
                  <a:srgbClr val="4C5764"/>
                </a:solidFill>
                <a:latin typeface="Calibri" pitchFamily="34" charset="0"/>
                <a:ea typeface="Calibri" pitchFamily="34" charset="-122"/>
                <a:cs typeface="Calibri" pitchFamily="34" charset="-120"/>
              </a:rPr>
              <a:t>CPI carries one airfare figure a month. Airline pricing moves several times a day, and moves differently by route, by carrier and by how far ahead a seat is booked. Neither the size nor the shape of that movement is measured anywhere today.</a:t>
            </a:r>
            <a:endParaRPr lang="en-US" sz="1150" dirty="0"/>
          </a:p>
        </p:txBody>
      </p:sp>
      <p:sp>
        <p:nvSpPr>
          <p:cNvPr id="9" name="Shape 7"/>
          <p:cNvSpPr/>
          <p:nvPr/>
        </p:nvSpPr>
        <p:spPr>
          <a:xfrm>
            <a:off x="6208776" y="1143000"/>
            <a:ext cx="5413248" cy="1517904"/>
          </a:xfrm>
          <a:prstGeom prst="roundRect">
            <a:avLst>
              <a:gd name="adj" fmla="val 3614"/>
            </a:avLst>
          </a:prstGeom>
          <a:solidFill>
            <a:srgbClr val="F3F5F8"/>
          </a:solidFill>
          <a:ln w="9525">
            <a:solidFill>
              <a:srgbClr val="D8DEE5"/>
            </a:solidFill>
            <a:prstDash val="solid"/>
          </a:ln>
        </p:spPr>
      </p:sp>
      <p:sp>
        <p:nvSpPr>
          <p:cNvPr id="10" name="Text 8"/>
          <p:cNvSpPr/>
          <p:nvPr/>
        </p:nvSpPr>
        <p:spPr>
          <a:xfrm>
            <a:off x="6428232" y="1280160"/>
            <a:ext cx="4974336" cy="219456"/>
          </a:xfrm>
          <a:prstGeom prst="rect">
            <a:avLst/>
          </a:prstGeom>
          <a:noFill/>
          <a:ln/>
        </p:spPr>
        <p:txBody>
          <a:bodyPr wrap="square" lIns="0" tIns="0" rIns="0" bIns="0" rtlCol="0" anchor="ctr"/>
          <a:lstStyle/>
          <a:p>
            <a:pPr indent="0" marL="0">
              <a:buNone/>
            </a:pPr>
            <a:r>
              <a:rPr lang="en-US" sz="950" b="1" spc="110" kern="0" dirty="0">
                <a:solidFill>
                  <a:srgbClr val="1B3A6B"/>
                </a:solidFill>
                <a:latin typeface="Calibri" pitchFamily="34" charset="0"/>
                <a:ea typeface="Calibri" pitchFamily="34" charset="-122"/>
                <a:cs typeface="Calibri" pitchFamily="34" charset="-120"/>
              </a:rPr>
              <a:t>THE INSTRUMENT WE PROPOSE</a:t>
            </a:r>
            <a:endParaRPr lang="en-US" sz="950" dirty="0"/>
          </a:p>
        </p:txBody>
      </p:sp>
      <p:sp>
        <p:nvSpPr>
          <p:cNvPr id="11" name="Text 9"/>
          <p:cNvSpPr/>
          <p:nvPr/>
        </p:nvSpPr>
        <p:spPr>
          <a:xfrm>
            <a:off x="6428232" y="1536192"/>
            <a:ext cx="4974336" cy="1005840"/>
          </a:xfrm>
          <a:prstGeom prst="rect">
            <a:avLst/>
          </a:prstGeom>
          <a:noFill/>
          <a:ln/>
        </p:spPr>
        <p:txBody>
          <a:bodyPr wrap="square" lIns="0" tIns="0" rIns="0" bIns="0" rtlCol="0" anchor="ctr"/>
          <a:lstStyle/>
          <a:p>
            <a:pPr indent="0" marL="0">
              <a:lnSpc>
                <a:spcPts val="1600"/>
              </a:lnSpc>
              <a:buNone/>
            </a:pPr>
            <a:r>
              <a:rPr lang="en-US" sz="1150" dirty="0">
                <a:solidFill>
                  <a:srgbClr val="4C5764"/>
                </a:solidFill>
                <a:latin typeface="Calibri" pitchFamily="34" charset="0"/>
                <a:ea typeface="Calibri" pitchFamily="34" charset="-122"/>
                <a:cs typeface="Calibri" pitchFamily="34" charset="-120"/>
              </a:rPr>
              <a:t>A 60-route panel weighted by DGCA passenger traffic, observed at 7 booking horizons across 3 fixed IST slots — 420 strata, roughly 1,155 stratum-slots a day. Jevons elementary index, hedonic quality adjustment, Lowe aggregation, chain-linked and seasonally adjusted.</a:t>
            </a:r>
            <a:endParaRPr lang="en-US" sz="1150" dirty="0"/>
          </a:p>
        </p:txBody>
      </p:sp>
      <p:sp>
        <p:nvSpPr>
          <p:cNvPr id="12" name="Shape 10"/>
          <p:cNvSpPr/>
          <p:nvPr/>
        </p:nvSpPr>
        <p:spPr>
          <a:xfrm>
            <a:off x="566928" y="2798064"/>
            <a:ext cx="2613355" cy="1883664"/>
          </a:xfrm>
          <a:prstGeom prst="roundRect">
            <a:avLst>
              <a:gd name="adj" fmla="val 2913"/>
            </a:avLst>
          </a:prstGeom>
          <a:solidFill>
            <a:srgbClr val="FFFFFF"/>
          </a:solidFill>
          <a:ln w="9525">
            <a:solidFill>
              <a:srgbClr val="D8DEE5"/>
            </a:solidFill>
            <a:prstDash val="solid"/>
          </a:ln>
        </p:spPr>
      </p:sp>
      <p:sp>
        <p:nvSpPr>
          <p:cNvPr id="13" name="Shape 11"/>
          <p:cNvSpPr/>
          <p:nvPr/>
        </p:nvSpPr>
        <p:spPr>
          <a:xfrm>
            <a:off x="749808" y="2962656"/>
            <a:ext cx="868680" cy="214884"/>
          </a:xfrm>
          <a:prstGeom prst="roundRect">
            <a:avLst>
              <a:gd name="adj" fmla="val 46809"/>
            </a:avLst>
          </a:prstGeom>
          <a:solidFill>
            <a:srgbClr val="E1EFE8"/>
          </a:solidFill>
          <a:ln/>
        </p:spPr>
      </p:sp>
      <p:sp>
        <p:nvSpPr>
          <p:cNvPr id="14" name="Text 12"/>
          <p:cNvSpPr/>
          <p:nvPr/>
        </p:nvSpPr>
        <p:spPr>
          <a:xfrm>
            <a:off x="749808" y="2962656"/>
            <a:ext cx="868680" cy="214884"/>
          </a:xfrm>
          <a:prstGeom prst="rect">
            <a:avLst/>
          </a:prstGeom>
          <a:noFill/>
          <a:ln/>
        </p:spPr>
        <p:txBody>
          <a:bodyPr wrap="square" lIns="0" tIns="0" rIns="0" bIns="0" rtlCol="0" anchor="ctr"/>
          <a:lstStyle/>
          <a:p>
            <a:pPr algn="ctr" indent="0" marL="0">
              <a:buNone/>
            </a:pPr>
            <a:r>
              <a:rPr lang="en-US" sz="800" b="1" spc="80" kern="0" dirty="0">
                <a:solidFill>
                  <a:srgbClr val="1F6A4A"/>
                </a:solidFill>
                <a:latin typeface="Calibri" pitchFamily="34" charset="0"/>
                <a:ea typeface="Calibri" pitchFamily="34" charset="-122"/>
                <a:cs typeface="Calibri" pitchFamily="34" charset="-120"/>
              </a:rPr>
              <a:t>PROVEN</a:t>
            </a:r>
            <a:endParaRPr lang="en-US" sz="800" dirty="0"/>
          </a:p>
        </p:txBody>
      </p:sp>
      <p:sp>
        <p:nvSpPr>
          <p:cNvPr id="15" name="Text 13"/>
          <p:cNvSpPr/>
          <p:nvPr/>
        </p:nvSpPr>
        <p:spPr>
          <a:xfrm>
            <a:off x="749808" y="3255264"/>
            <a:ext cx="2247595" cy="475488"/>
          </a:xfrm>
          <a:prstGeom prst="rect">
            <a:avLst/>
          </a:prstGeom>
          <a:noFill/>
          <a:ln/>
        </p:spPr>
        <p:txBody>
          <a:bodyPr wrap="square" lIns="0" tIns="0" rIns="0" bIns="0" rtlCol="0" anchor="ctr"/>
          <a:lstStyle/>
          <a:p>
            <a:pPr indent="0" marL="0">
              <a:lnSpc>
                <a:spcPts val="1500"/>
              </a:lnSpc>
              <a:buNone/>
            </a:pPr>
            <a:r>
              <a:rPr lang="en-US" sz="1250" b="1" dirty="0">
                <a:solidFill>
                  <a:srgbClr val="10161D"/>
                </a:solidFill>
                <a:latin typeface="Cambria" pitchFamily="34" charset="0"/>
                <a:ea typeface="Cambria" pitchFamily="34" charset="-122"/>
                <a:cs typeface="Cambria" pitchFamily="34" charset="-120"/>
              </a:rPr>
              <a:t>Reproducibility is a property, not a promise</a:t>
            </a:r>
            <a:endParaRPr lang="en-US" sz="1250" dirty="0"/>
          </a:p>
        </p:txBody>
      </p:sp>
      <p:sp>
        <p:nvSpPr>
          <p:cNvPr id="16" name="Text 14"/>
          <p:cNvSpPr/>
          <p:nvPr/>
        </p:nvSpPr>
        <p:spPr>
          <a:xfrm>
            <a:off x="749808" y="3767328"/>
            <a:ext cx="2247595" cy="822960"/>
          </a:xfrm>
          <a:prstGeom prst="rect">
            <a:avLst/>
          </a:prstGeom>
          <a:noFill/>
          <a:ln/>
        </p:spPr>
        <p:txBody>
          <a:bodyPr wrap="square" lIns="0" tIns="0" rIns="0" bIns="0" rtlCol="0" anchor="ctr"/>
          <a:lstStyle/>
          <a:p>
            <a:pPr indent="0" marL="0">
              <a:lnSpc>
                <a:spcPts val="1300"/>
              </a:lnSpc>
              <a:buNone/>
            </a:pPr>
            <a:r>
              <a:rPr lang="en-US" sz="950" dirty="0">
                <a:solidFill>
                  <a:srgbClr val="4C5764"/>
                </a:solidFill>
                <a:latin typeface="Calibri" pitchFamily="34" charset="0"/>
                <a:ea typeface="Calibri" pitchFamily="34" charset="-122"/>
                <a:cs typeface="Calibri" pitchFamily="34" charset="-120"/>
              </a:rPr>
              <a:t>compute_index() is a pure function — no clock, no database, no network. A test parses the module's own source to prove it. Frozen panel in, frozen hash out.</a:t>
            </a:r>
            <a:endParaRPr lang="en-US" sz="950" dirty="0"/>
          </a:p>
        </p:txBody>
      </p:sp>
      <p:sp>
        <p:nvSpPr>
          <p:cNvPr id="17" name="Shape 15"/>
          <p:cNvSpPr/>
          <p:nvPr/>
        </p:nvSpPr>
        <p:spPr>
          <a:xfrm>
            <a:off x="3381451" y="2798064"/>
            <a:ext cx="2613355" cy="1883664"/>
          </a:xfrm>
          <a:prstGeom prst="roundRect">
            <a:avLst>
              <a:gd name="adj" fmla="val 2913"/>
            </a:avLst>
          </a:prstGeom>
          <a:solidFill>
            <a:srgbClr val="FFFFFF"/>
          </a:solidFill>
          <a:ln w="9525">
            <a:solidFill>
              <a:srgbClr val="D8DEE5"/>
            </a:solidFill>
            <a:prstDash val="solid"/>
          </a:ln>
        </p:spPr>
      </p:sp>
      <p:sp>
        <p:nvSpPr>
          <p:cNvPr id="18" name="Shape 16"/>
          <p:cNvSpPr/>
          <p:nvPr/>
        </p:nvSpPr>
        <p:spPr>
          <a:xfrm>
            <a:off x="3564331" y="2962656"/>
            <a:ext cx="1078992" cy="214884"/>
          </a:xfrm>
          <a:prstGeom prst="roundRect">
            <a:avLst>
              <a:gd name="adj" fmla="val 46809"/>
            </a:avLst>
          </a:prstGeom>
          <a:solidFill>
            <a:srgbClr val="E4EAF4"/>
          </a:solidFill>
          <a:ln/>
        </p:spPr>
      </p:sp>
      <p:sp>
        <p:nvSpPr>
          <p:cNvPr id="19" name="Text 17"/>
          <p:cNvSpPr/>
          <p:nvPr/>
        </p:nvSpPr>
        <p:spPr>
          <a:xfrm>
            <a:off x="3564331" y="2962656"/>
            <a:ext cx="1078992" cy="214884"/>
          </a:xfrm>
          <a:prstGeom prst="rect">
            <a:avLst/>
          </a:prstGeom>
          <a:noFill/>
          <a:ln/>
        </p:spPr>
        <p:txBody>
          <a:bodyPr wrap="square" lIns="0" tIns="0" rIns="0" bIns="0" rtlCol="0" anchor="ctr"/>
          <a:lstStyle/>
          <a:p>
            <a:pPr algn="ctr" indent="0" marL="0">
              <a:buNone/>
            </a:pPr>
            <a:r>
              <a:rPr lang="en-US" sz="800" b="1" spc="80" kern="0" dirty="0">
                <a:solidFill>
                  <a:srgbClr val="1B3A6B"/>
                </a:solidFill>
                <a:latin typeface="Calibri" pitchFamily="34" charset="0"/>
                <a:ea typeface="Calibri" pitchFamily="34" charset="-122"/>
                <a:cs typeface="Calibri" pitchFamily="34" charset="-120"/>
              </a:rPr>
              <a:t>ENFORCED</a:t>
            </a:r>
            <a:endParaRPr lang="en-US" sz="800" dirty="0"/>
          </a:p>
        </p:txBody>
      </p:sp>
      <p:sp>
        <p:nvSpPr>
          <p:cNvPr id="20" name="Text 18"/>
          <p:cNvSpPr/>
          <p:nvPr/>
        </p:nvSpPr>
        <p:spPr>
          <a:xfrm>
            <a:off x="3564331" y="3255264"/>
            <a:ext cx="2247595" cy="475488"/>
          </a:xfrm>
          <a:prstGeom prst="rect">
            <a:avLst/>
          </a:prstGeom>
          <a:noFill/>
          <a:ln/>
        </p:spPr>
        <p:txBody>
          <a:bodyPr wrap="square" lIns="0" tIns="0" rIns="0" bIns="0" rtlCol="0" anchor="ctr"/>
          <a:lstStyle/>
          <a:p>
            <a:pPr indent="0" marL="0">
              <a:lnSpc>
                <a:spcPts val="1500"/>
              </a:lnSpc>
              <a:buNone/>
            </a:pPr>
            <a:r>
              <a:rPr lang="en-US" sz="1250" b="1" dirty="0">
                <a:solidFill>
                  <a:srgbClr val="10161D"/>
                </a:solidFill>
                <a:latin typeface="Cambria" pitchFamily="34" charset="0"/>
                <a:ea typeface="Cambria" pitchFamily="34" charset="-122"/>
                <a:cs typeface="Cambria" pitchFamily="34" charset="-120"/>
              </a:rPr>
              <a:t>Compliance is executable code</a:t>
            </a:r>
            <a:endParaRPr lang="en-US" sz="1250" dirty="0"/>
          </a:p>
        </p:txBody>
      </p:sp>
      <p:sp>
        <p:nvSpPr>
          <p:cNvPr id="21" name="Text 19"/>
          <p:cNvSpPr/>
          <p:nvPr/>
        </p:nvSpPr>
        <p:spPr>
          <a:xfrm>
            <a:off x="3564331" y="3767328"/>
            <a:ext cx="2247595" cy="822960"/>
          </a:xfrm>
          <a:prstGeom prst="rect">
            <a:avLst/>
          </a:prstGeom>
          <a:noFill/>
          <a:ln/>
        </p:spPr>
        <p:txBody>
          <a:bodyPr wrap="square" lIns="0" tIns="0" rIns="0" bIns="0" rtlCol="0" anchor="ctr"/>
          <a:lstStyle/>
          <a:p>
            <a:pPr indent="0" marL="0">
              <a:lnSpc>
                <a:spcPts val="1300"/>
              </a:lnSpc>
              <a:buNone/>
            </a:pPr>
            <a:r>
              <a:rPr lang="en-US" sz="950" dirty="0">
                <a:solidFill>
                  <a:srgbClr val="4C5764"/>
                </a:solidFill>
                <a:latin typeface="Calibri" pitchFamily="34" charset="0"/>
                <a:ea typeface="Calibri" pitchFamily="34" charset="-122"/>
                <a:cs typeface="Calibri" pitchFamily="34" charset="-120"/>
              </a:rPr>
              <a:t>No authentication, no CAPTCHA, no personal data, a 20-second floor per host, robots.txt honoured at run time. We wrote our own RFC 9309 parser after finding four defects in Python's.</a:t>
            </a:r>
            <a:endParaRPr lang="en-US" sz="950" dirty="0"/>
          </a:p>
        </p:txBody>
      </p:sp>
      <p:sp>
        <p:nvSpPr>
          <p:cNvPr id="22" name="Shape 20"/>
          <p:cNvSpPr/>
          <p:nvPr/>
        </p:nvSpPr>
        <p:spPr>
          <a:xfrm>
            <a:off x="6195974" y="2798064"/>
            <a:ext cx="2613355" cy="1883664"/>
          </a:xfrm>
          <a:prstGeom prst="roundRect">
            <a:avLst>
              <a:gd name="adj" fmla="val 2913"/>
            </a:avLst>
          </a:prstGeom>
          <a:solidFill>
            <a:srgbClr val="FFFFFF"/>
          </a:solidFill>
          <a:ln w="9525">
            <a:solidFill>
              <a:srgbClr val="D8DEE5"/>
            </a:solidFill>
            <a:prstDash val="solid"/>
          </a:ln>
        </p:spPr>
      </p:sp>
      <p:sp>
        <p:nvSpPr>
          <p:cNvPr id="23" name="Shape 21"/>
          <p:cNvSpPr/>
          <p:nvPr/>
        </p:nvSpPr>
        <p:spPr>
          <a:xfrm>
            <a:off x="6378854" y="2962656"/>
            <a:ext cx="1184148" cy="214884"/>
          </a:xfrm>
          <a:prstGeom prst="roundRect">
            <a:avLst>
              <a:gd name="adj" fmla="val 46809"/>
            </a:avLst>
          </a:prstGeom>
          <a:solidFill>
            <a:srgbClr val="F7EEDC"/>
          </a:solidFill>
          <a:ln/>
        </p:spPr>
      </p:sp>
      <p:sp>
        <p:nvSpPr>
          <p:cNvPr id="24" name="Text 22"/>
          <p:cNvSpPr/>
          <p:nvPr/>
        </p:nvSpPr>
        <p:spPr>
          <a:xfrm>
            <a:off x="6378854" y="2962656"/>
            <a:ext cx="1184148" cy="214884"/>
          </a:xfrm>
          <a:prstGeom prst="rect">
            <a:avLst/>
          </a:prstGeom>
          <a:noFill/>
          <a:ln/>
        </p:spPr>
        <p:txBody>
          <a:bodyPr wrap="square" lIns="0" tIns="0" rIns="0" bIns="0" rtlCol="0" anchor="ctr"/>
          <a:lstStyle/>
          <a:p>
            <a:pPr algn="ctr" indent="0" marL="0">
              <a:buNone/>
            </a:pPr>
            <a:r>
              <a:rPr lang="en-US" sz="800" b="1" spc="80" kern="0" dirty="0">
                <a:solidFill>
                  <a:srgbClr val="9A5A12"/>
                </a:solidFill>
                <a:latin typeface="Calibri" pitchFamily="34" charset="0"/>
                <a:ea typeface="Calibri" pitchFamily="34" charset="-122"/>
                <a:cs typeface="Calibri" pitchFamily="34" charset="-120"/>
              </a:rPr>
              <a:t>PUBLISHED</a:t>
            </a:r>
            <a:endParaRPr lang="en-US" sz="800" dirty="0"/>
          </a:p>
        </p:txBody>
      </p:sp>
      <p:sp>
        <p:nvSpPr>
          <p:cNvPr id="25" name="Text 23"/>
          <p:cNvSpPr/>
          <p:nvPr/>
        </p:nvSpPr>
        <p:spPr>
          <a:xfrm>
            <a:off x="6378854" y="3255264"/>
            <a:ext cx="2247595" cy="475488"/>
          </a:xfrm>
          <a:prstGeom prst="rect">
            <a:avLst/>
          </a:prstGeom>
          <a:noFill/>
          <a:ln/>
        </p:spPr>
        <p:txBody>
          <a:bodyPr wrap="square" lIns="0" tIns="0" rIns="0" bIns="0" rtlCol="0" anchor="ctr"/>
          <a:lstStyle/>
          <a:p>
            <a:pPr indent="0" marL="0">
              <a:lnSpc>
                <a:spcPts val="1500"/>
              </a:lnSpc>
              <a:buNone/>
            </a:pPr>
            <a:r>
              <a:rPr lang="en-US" sz="1250" b="1" dirty="0">
                <a:solidFill>
                  <a:srgbClr val="10161D"/>
                </a:solidFill>
                <a:latin typeface="Cambria" pitchFamily="34" charset="0"/>
                <a:ea typeface="Cambria" pitchFamily="34" charset="-122"/>
                <a:cs typeface="Cambria" pitchFamily="34" charset="-120"/>
              </a:rPr>
              <a:t>It discloses its own limits</a:t>
            </a:r>
            <a:endParaRPr lang="en-US" sz="1250" dirty="0"/>
          </a:p>
        </p:txBody>
      </p:sp>
      <p:sp>
        <p:nvSpPr>
          <p:cNvPr id="26" name="Text 24"/>
          <p:cNvSpPr/>
          <p:nvPr/>
        </p:nvSpPr>
        <p:spPr>
          <a:xfrm>
            <a:off x="6378854" y="3767328"/>
            <a:ext cx="2247595" cy="822960"/>
          </a:xfrm>
          <a:prstGeom prst="rect">
            <a:avLst/>
          </a:prstGeom>
          <a:noFill/>
          <a:ln/>
        </p:spPr>
        <p:txBody>
          <a:bodyPr wrap="square" lIns="0" tIns="0" rIns="0" bIns="0" rtlCol="0" anchor="ctr"/>
          <a:lstStyle/>
          <a:p>
            <a:pPr indent="0" marL="0">
              <a:lnSpc>
                <a:spcPts val="1300"/>
              </a:lnSpc>
              <a:buNone/>
            </a:pPr>
            <a:r>
              <a:rPr lang="en-US" sz="950" dirty="0">
                <a:solidFill>
                  <a:srgbClr val="4C5764"/>
                </a:solidFill>
                <a:latin typeface="Calibri" pitchFamily="34" charset="0"/>
                <a:ea typeface="Calibri" pitchFamily="34" charset="-122"/>
                <a:cs typeface="Calibri" pitchFamily="34" charset="-120"/>
              </a:rPr>
              <a:t>Every index point carries its coverage ratio, imputed weight share and config hash. The publisher refuses to release a run it cannot stand behind — refusal is code, not convention.</a:t>
            </a:r>
            <a:endParaRPr lang="en-US" sz="950" dirty="0"/>
          </a:p>
        </p:txBody>
      </p:sp>
      <p:sp>
        <p:nvSpPr>
          <p:cNvPr id="27" name="Shape 25"/>
          <p:cNvSpPr/>
          <p:nvPr/>
        </p:nvSpPr>
        <p:spPr>
          <a:xfrm>
            <a:off x="9010498" y="2798064"/>
            <a:ext cx="2613355" cy="1883664"/>
          </a:xfrm>
          <a:prstGeom prst="roundRect">
            <a:avLst>
              <a:gd name="adj" fmla="val 2913"/>
            </a:avLst>
          </a:prstGeom>
          <a:solidFill>
            <a:srgbClr val="FFFFFF"/>
          </a:solidFill>
          <a:ln w="9525">
            <a:solidFill>
              <a:srgbClr val="D8DEE5"/>
            </a:solidFill>
            <a:prstDash val="solid"/>
          </a:ln>
        </p:spPr>
      </p:sp>
      <p:sp>
        <p:nvSpPr>
          <p:cNvPr id="28" name="Shape 26"/>
          <p:cNvSpPr/>
          <p:nvPr/>
        </p:nvSpPr>
        <p:spPr>
          <a:xfrm>
            <a:off x="9193378" y="2962656"/>
            <a:ext cx="1184148" cy="214884"/>
          </a:xfrm>
          <a:prstGeom prst="roundRect">
            <a:avLst>
              <a:gd name="adj" fmla="val 46809"/>
            </a:avLst>
          </a:prstGeom>
          <a:solidFill>
            <a:srgbClr val="E4EAF4"/>
          </a:solidFill>
          <a:ln/>
        </p:spPr>
      </p:sp>
      <p:sp>
        <p:nvSpPr>
          <p:cNvPr id="29" name="Text 27"/>
          <p:cNvSpPr/>
          <p:nvPr/>
        </p:nvSpPr>
        <p:spPr>
          <a:xfrm>
            <a:off x="9193378" y="2962656"/>
            <a:ext cx="1184148" cy="214884"/>
          </a:xfrm>
          <a:prstGeom prst="rect">
            <a:avLst/>
          </a:prstGeom>
          <a:noFill/>
          <a:ln/>
        </p:spPr>
        <p:txBody>
          <a:bodyPr wrap="square" lIns="0" tIns="0" rIns="0" bIns="0" rtlCol="0" anchor="ctr"/>
          <a:lstStyle/>
          <a:p>
            <a:pPr algn="ctr" indent="0" marL="0">
              <a:buNone/>
            </a:pPr>
            <a:r>
              <a:rPr lang="en-US" sz="800" b="1" spc="80" kern="0" dirty="0">
                <a:solidFill>
                  <a:srgbClr val="1B3A6B"/>
                </a:solidFill>
                <a:latin typeface="Calibri" pitchFamily="34" charset="0"/>
                <a:ea typeface="Calibri" pitchFamily="34" charset="-122"/>
                <a:cs typeface="Calibri" pitchFamily="34" charset="-120"/>
              </a:rPr>
              <a:t>ZERO COST</a:t>
            </a:r>
            <a:endParaRPr lang="en-US" sz="800" dirty="0"/>
          </a:p>
        </p:txBody>
      </p:sp>
      <p:sp>
        <p:nvSpPr>
          <p:cNvPr id="30" name="Text 28"/>
          <p:cNvSpPr/>
          <p:nvPr/>
        </p:nvSpPr>
        <p:spPr>
          <a:xfrm>
            <a:off x="9193378" y="3255264"/>
            <a:ext cx="2247595" cy="475488"/>
          </a:xfrm>
          <a:prstGeom prst="rect">
            <a:avLst/>
          </a:prstGeom>
          <a:noFill/>
          <a:ln/>
        </p:spPr>
        <p:txBody>
          <a:bodyPr wrap="square" lIns="0" tIns="0" rIns="0" bIns="0" rtlCol="0" anchor="ctr"/>
          <a:lstStyle/>
          <a:p>
            <a:pPr indent="0" marL="0">
              <a:lnSpc>
                <a:spcPts val="1500"/>
              </a:lnSpc>
              <a:buNone/>
            </a:pPr>
            <a:r>
              <a:rPr lang="en-US" sz="1250" b="1" dirty="0">
                <a:solidFill>
                  <a:srgbClr val="10161D"/>
                </a:solidFill>
                <a:latin typeface="Cambria" pitchFamily="34" charset="0"/>
                <a:ea typeface="Cambria" pitchFamily="34" charset="-122"/>
                <a:cs typeface="Cambria" pitchFamily="34" charset="-120"/>
              </a:rPr>
              <a:t>Costed to be handed over</a:t>
            </a:r>
            <a:endParaRPr lang="en-US" sz="1250" dirty="0"/>
          </a:p>
        </p:txBody>
      </p:sp>
      <p:sp>
        <p:nvSpPr>
          <p:cNvPr id="31" name="Text 29"/>
          <p:cNvSpPr/>
          <p:nvPr/>
        </p:nvSpPr>
        <p:spPr>
          <a:xfrm>
            <a:off x="9193378" y="3767328"/>
            <a:ext cx="2247595" cy="822960"/>
          </a:xfrm>
          <a:prstGeom prst="rect">
            <a:avLst/>
          </a:prstGeom>
          <a:noFill/>
          <a:ln/>
        </p:spPr>
        <p:txBody>
          <a:bodyPr wrap="square" lIns="0" tIns="0" rIns="0" bIns="0" rtlCol="0" anchor="ctr"/>
          <a:lstStyle/>
          <a:p>
            <a:pPr indent="0" marL="0">
              <a:lnSpc>
                <a:spcPts val="1300"/>
              </a:lnSpc>
              <a:buNone/>
            </a:pPr>
            <a:r>
              <a:rPr lang="en-US" sz="950" dirty="0">
                <a:solidFill>
                  <a:srgbClr val="4C5764"/>
                </a:solidFill>
                <a:latin typeface="Calibri" pitchFamily="34" charset="0"/>
                <a:ea typeface="Calibri" pitchFamily="34" charset="-122"/>
                <a:cs typeface="Calibri" pitchFamily="34" charset="-120"/>
              </a:rPr>
              <a:t>Permanent free tiers only: no trials, no credits, no vendor lock-in. The system transfers to a ministry with no invoice attached and no licence conversation.</a:t>
            </a:r>
            <a:endParaRPr lang="en-US" sz="950" dirty="0"/>
          </a:p>
        </p:txBody>
      </p:sp>
      <p:sp>
        <p:nvSpPr>
          <p:cNvPr id="32" name="Shape 30"/>
          <p:cNvSpPr/>
          <p:nvPr/>
        </p:nvSpPr>
        <p:spPr>
          <a:xfrm>
            <a:off x="566928" y="4864608"/>
            <a:ext cx="11057839" cy="1371600"/>
          </a:xfrm>
          <a:prstGeom prst="roundRect">
            <a:avLst>
              <a:gd name="adj" fmla="val 4000"/>
            </a:avLst>
          </a:prstGeom>
          <a:solidFill>
            <a:srgbClr val="0E1A2B"/>
          </a:solidFill>
          <a:ln/>
        </p:spPr>
      </p:sp>
      <p:sp>
        <p:nvSpPr>
          <p:cNvPr id="33" name="Shape 31"/>
          <p:cNvSpPr/>
          <p:nvPr/>
        </p:nvSpPr>
        <p:spPr>
          <a:xfrm>
            <a:off x="822960" y="5065776"/>
            <a:ext cx="1499616" cy="214884"/>
          </a:xfrm>
          <a:prstGeom prst="roundRect">
            <a:avLst>
              <a:gd name="adj" fmla="val 46809"/>
            </a:avLst>
          </a:prstGeom>
          <a:solidFill>
            <a:srgbClr val="3A2A12"/>
          </a:solidFill>
          <a:ln/>
        </p:spPr>
      </p:sp>
      <p:sp>
        <p:nvSpPr>
          <p:cNvPr id="34" name="Text 32"/>
          <p:cNvSpPr/>
          <p:nvPr/>
        </p:nvSpPr>
        <p:spPr>
          <a:xfrm>
            <a:off x="822960" y="5065776"/>
            <a:ext cx="1499616" cy="214884"/>
          </a:xfrm>
          <a:prstGeom prst="rect">
            <a:avLst/>
          </a:prstGeom>
          <a:noFill/>
          <a:ln/>
        </p:spPr>
        <p:txBody>
          <a:bodyPr wrap="square" lIns="0" tIns="0" rIns="0" bIns="0" rtlCol="0" anchor="ctr"/>
          <a:lstStyle/>
          <a:p>
            <a:pPr algn="ctr" indent="0" marL="0">
              <a:buNone/>
            </a:pPr>
            <a:r>
              <a:rPr lang="en-US" sz="800" b="1" spc="80" kern="0" dirty="0">
                <a:solidFill>
                  <a:srgbClr val="D99A4A"/>
                </a:solidFill>
                <a:latin typeface="Calibri" pitchFamily="34" charset="0"/>
                <a:ea typeface="Calibri" pitchFamily="34" charset="-122"/>
                <a:cs typeface="Calibri" pitchFamily="34" charset="-120"/>
              </a:rPr>
              <a:t>CORE FINDING</a:t>
            </a:r>
            <a:endParaRPr lang="en-US" sz="800" dirty="0"/>
          </a:p>
        </p:txBody>
      </p:sp>
      <p:sp>
        <p:nvSpPr>
          <p:cNvPr id="35" name="Text 33"/>
          <p:cNvSpPr/>
          <p:nvPr/>
        </p:nvSpPr>
        <p:spPr>
          <a:xfrm>
            <a:off x="822960" y="5358384"/>
            <a:ext cx="2743200" cy="73152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The finding that shapes this solution</a:t>
            </a:r>
            <a:endParaRPr lang="en-US" sz="1500" dirty="0"/>
          </a:p>
        </p:txBody>
      </p:sp>
      <p:sp>
        <p:nvSpPr>
          <p:cNvPr id="36" name="Text 34"/>
          <p:cNvSpPr/>
          <p:nvPr/>
        </p:nvSpPr>
        <p:spPr>
          <a:xfrm>
            <a:off x="3703320" y="5029200"/>
            <a:ext cx="7863840" cy="1060704"/>
          </a:xfrm>
          <a:prstGeom prst="rect">
            <a:avLst/>
          </a:prstGeom>
          <a:noFill/>
          <a:ln/>
        </p:spPr>
        <p:txBody>
          <a:bodyPr wrap="square" lIns="0" tIns="0" rIns="0" bIns="0" rtlCol="0" anchor="ctr"/>
          <a:lstStyle/>
          <a:p>
            <a:pPr indent="0" marL="0">
              <a:lnSpc>
                <a:spcPts val="1500"/>
              </a:lnSpc>
              <a:buNone/>
            </a:pPr>
            <a:r>
              <a:rPr lang="en-US" sz="1100" dirty="0">
                <a:solidFill>
                  <a:srgbClr val="A9BBD3"/>
                </a:solidFill>
                <a:latin typeface="Calibri" pitchFamily="34" charset="0"/>
                <a:ea typeface="Calibri" pitchFamily="34" charset="-122"/>
                <a:cs typeface="Calibri" pitchFamily="34" charset="-120"/>
              </a:rPr>
              <a:t>Four research passes over 40+ candidate sources, each source resolved on nine independent axes, produced one structural result: every source that carries a booking horizon prohibits automated collection, and every source that permits automated collection carries no booking horizon. That is look-to-book economics, not coincidence — distribution meters search and recovers the cost from bookings, and an index books nothing. So the blocker is statutory authority, and the sponsor of this problem statement already holds it.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402336" cy="402336"/>
          </a:xfrm>
          <a:prstGeom prst="roundRect">
            <a:avLst>
              <a:gd name="adj" fmla="val 11364"/>
            </a:avLst>
          </a:prstGeom>
          <a:solidFill>
            <a:srgbClr val="1B3A6B"/>
          </a:solidFill>
          <a:ln/>
        </p:spPr>
      </p:sp>
      <p:sp>
        <p:nvSpPr>
          <p:cNvPr id="3" name="Text 1"/>
          <p:cNvSpPr/>
          <p:nvPr/>
        </p:nvSpPr>
        <p:spPr>
          <a:xfrm>
            <a:off x="566928" y="4754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4" name="Text 2"/>
          <p:cNvSpPr/>
          <p:nvPr/>
        </p:nvSpPr>
        <p:spPr>
          <a:xfrm>
            <a:off x="1088136" y="420624"/>
            <a:ext cx="6583680" cy="512064"/>
          </a:xfrm>
          <a:prstGeom prst="rect">
            <a:avLst/>
          </a:prstGeom>
          <a:noFill/>
          <a:ln/>
        </p:spPr>
        <p:txBody>
          <a:bodyPr wrap="square" lIns="0" tIns="0" rIns="0" bIns="0" rtlCol="0" anchor="ctr"/>
          <a:lstStyle/>
          <a:p>
            <a:pPr indent="0" marL="0">
              <a:buNone/>
            </a:pPr>
            <a:r>
              <a:rPr lang="en-US" sz="3100" b="1" dirty="0">
                <a:solidFill>
                  <a:srgbClr val="10161D"/>
                </a:solidFill>
                <a:latin typeface="Cambria" pitchFamily="34" charset="0"/>
                <a:ea typeface="Cambria" pitchFamily="34" charset="-122"/>
                <a:cs typeface="Cambria" pitchFamily="34" charset="-120"/>
              </a:rPr>
              <a:t>Technical Approach</a:t>
            </a:r>
            <a:endParaRPr lang="en-US" sz="3100" dirty="0"/>
          </a:p>
        </p:txBody>
      </p:sp>
      <p:sp>
        <p:nvSpPr>
          <p:cNvPr id="5" name="Text 3"/>
          <p:cNvSpPr/>
          <p:nvPr/>
        </p:nvSpPr>
        <p:spPr>
          <a:xfrm>
            <a:off x="6400800" y="457200"/>
            <a:ext cx="5223967" cy="438912"/>
          </a:xfrm>
          <a:prstGeom prst="rect">
            <a:avLst/>
          </a:prstGeom>
          <a:noFill/>
          <a:ln/>
        </p:spPr>
        <p:txBody>
          <a:bodyPr wrap="square" lIns="0" tIns="0" rIns="0" bIns="0" rtlCol="0" anchor="ctr"/>
          <a:lstStyle/>
          <a:p>
            <a:pPr algn="r" indent="0" marL="0">
              <a:buNone/>
            </a:pPr>
            <a:r>
              <a:rPr lang="en-US" sz="950" spc="30" kern="0" dirty="0">
                <a:solidFill>
                  <a:srgbClr val="6B7684"/>
                </a:solidFill>
                <a:latin typeface="Calibri" pitchFamily="34" charset="0"/>
                <a:ea typeface="Calibri" pitchFamily="34" charset="-122"/>
                <a:cs typeface="Calibri" pitchFamily="34" charset="-120"/>
              </a:rPr>
              <a:t>Python 3.12  ·  PostgreSQL + TimescaleDB  ·  Oracle A1  ·  Cloudflare</a:t>
            </a:r>
            <a:endParaRPr lang="en-US" sz="950" dirty="0"/>
          </a:p>
        </p:txBody>
      </p:sp>
      <p:sp>
        <p:nvSpPr>
          <p:cNvPr id="6" name="Shape 4"/>
          <p:cNvSpPr/>
          <p:nvPr/>
        </p:nvSpPr>
        <p:spPr>
          <a:xfrm>
            <a:off x="566928" y="1143000"/>
            <a:ext cx="1391625" cy="1060704"/>
          </a:xfrm>
          <a:prstGeom prst="roundRect">
            <a:avLst>
              <a:gd name="adj" fmla="val 5172"/>
            </a:avLst>
          </a:prstGeom>
          <a:solidFill>
            <a:srgbClr val="E1EFE8"/>
          </a:solidFill>
          <a:ln w="9525">
            <a:solidFill>
              <a:srgbClr val="D8DEE5"/>
            </a:solidFill>
            <a:prstDash val="solid"/>
          </a:ln>
        </p:spPr>
      </p:sp>
      <p:sp>
        <p:nvSpPr>
          <p:cNvPr id="7" name="Text 5"/>
          <p:cNvSpPr/>
          <p:nvPr/>
        </p:nvSpPr>
        <p:spPr>
          <a:xfrm>
            <a:off x="640080" y="1243584"/>
            <a:ext cx="1245321" cy="256032"/>
          </a:xfrm>
          <a:prstGeom prst="rect">
            <a:avLst/>
          </a:prstGeom>
          <a:noFill/>
          <a:ln/>
        </p:spPr>
        <p:txBody>
          <a:bodyPr wrap="square" lIns="0" tIns="0" rIns="0" bIns="0" rtlCol="0" anchor="ctr"/>
          <a:lstStyle/>
          <a:p>
            <a:pPr algn="ctr" indent="0" marL="0">
              <a:buNone/>
            </a:pPr>
            <a:r>
              <a:rPr lang="en-US" sz="1150" b="1" dirty="0">
                <a:solidFill>
                  <a:srgbClr val="1F6A4A"/>
                </a:solidFill>
                <a:latin typeface="Calibri" pitchFamily="34" charset="0"/>
                <a:ea typeface="Calibri" pitchFamily="34" charset="-122"/>
                <a:cs typeface="Calibri" pitchFamily="34" charset="-120"/>
              </a:rPr>
              <a:t>Scheduler</a:t>
            </a:r>
            <a:endParaRPr lang="en-US" sz="1150" dirty="0"/>
          </a:p>
        </p:txBody>
      </p:sp>
      <p:sp>
        <p:nvSpPr>
          <p:cNvPr id="8" name="Text 6"/>
          <p:cNvSpPr/>
          <p:nvPr/>
        </p:nvSpPr>
        <p:spPr>
          <a:xfrm>
            <a:off x="621792" y="1517904"/>
            <a:ext cx="1281897" cy="566928"/>
          </a:xfrm>
          <a:prstGeom prst="rect">
            <a:avLst/>
          </a:prstGeom>
          <a:noFill/>
          <a:ln/>
        </p:spPr>
        <p:txBody>
          <a:bodyPr wrap="square" lIns="0" tIns="0" rIns="0" bIns="0" rtlCol="0" anchor="ctr"/>
          <a:lstStyle/>
          <a:p>
            <a:pPr algn="ctr" indent="0" marL="0">
              <a:lnSpc>
                <a:spcPts val="1000"/>
              </a:lnSpc>
              <a:buNone/>
            </a:pPr>
            <a:r>
              <a:rPr lang="en-US" sz="800" dirty="0">
                <a:solidFill>
                  <a:srgbClr val="3D6E58"/>
                </a:solidFill>
                <a:latin typeface="Calibri" pitchFamily="34" charset="0"/>
                <a:ea typeface="Calibri" pitchFamily="34" charset="-122"/>
                <a:cs typeface="Calibri" pitchFamily="34" charset="-120"/>
              </a:rPr>
              <a:t>systemd timers,</a:t>
            </a:r>
            <a:endParaRPr lang="en-US" sz="800" dirty="0"/>
          </a:p>
          <a:p>
            <a:pPr algn="ctr" indent="0" marL="0">
              <a:lnSpc>
                <a:spcPts val="1000"/>
              </a:lnSpc>
              <a:buNone/>
            </a:pPr>
            <a:r>
              <a:rPr lang="en-US" sz="800" dirty="0">
                <a:solidFill>
                  <a:srgbClr val="3D6E58"/>
                </a:solidFill>
                <a:latin typeface="Calibri" pitchFamily="34" charset="0"/>
                <a:ea typeface="Calibri" pitchFamily="34" charset="-122"/>
                <a:cs typeface="Calibri" pitchFamily="34" charset="-120"/>
              </a:rPr>
              <a:t>±15 min window</a:t>
            </a:r>
            <a:endParaRPr lang="en-US" sz="800" dirty="0"/>
          </a:p>
        </p:txBody>
      </p:sp>
      <p:sp>
        <p:nvSpPr>
          <p:cNvPr id="9" name="Shape 7"/>
          <p:cNvSpPr/>
          <p:nvPr/>
        </p:nvSpPr>
        <p:spPr>
          <a:xfrm rot="5400000">
            <a:off x="2004273" y="1609344"/>
            <a:ext cx="128016" cy="128016"/>
          </a:xfrm>
          <a:prstGeom prst="triangle">
            <a:avLst/>
          </a:prstGeom>
          <a:solidFill>
            <a:srgbClr val="9AA5B1"/>
          </a:solidFill>
          <a:ln/>
        </p:spPr>
      </p:sp>
      <p:sp>
        <p:nvSpPr>
          <p:cNvPr id="10" name="Shape 8"/>
          <p:cNvSpPr/>
          <p:nvPr/>
        </p:nvSpPr>
        <p:spPr>
          <a:xfrm>
            <a:off x="2178009" y="1143000"/>
            <a:ext cx="1391625" cy="1060704"/>
          </a:xfrm>
          <a:prstGeom prst="roundRect">
            <a:avLst>
              <a:gd name="adj" fmla="val 5172"/>
            </a:avLst>
          </a:prstGeom>
          <a:solidFill>
            <a:srgbClr val="F7EEDC"/>
          </a:solidFill>
          <a:ln w="9525">
            <a:solidFill>
              <a:srgbClr val="D8DEE5"/>
            </a:solidFill>
            <a:prstDash val="solid"/>
          </a:ln>
        </p:spPr>
      </p:sp>
      <p:sp>
        <p:nvSpPr>
          <p:cNvPr id="11" name="Text 9"/>
          <p:cNvSpPr/>
          <p:nvPr/>
        </p:nvSpPr>
        <p:spPr>
          <a:xfrm>
            <a:off x="2251161" y="1243584"/>
            <a:ext cx="1245321" cy="256032"/>
          </a:xfrm>
          <a:prstGeom prst="rect">
            <a:avLst/>
          </a:prstGeom>
          <a:noFill/>
          <a:ln/>
        </p:spPr>
        <p:txBody>
          <a:bodyPr wrap="square" lIns="0" tIns="0" rIns="0" bIns="0" rtlCol="0" anchor="ctr"/>
          <a:lstStyle/>
          <a:p>
            <a:pPr algn="ctr" indent="0" marL="0">
              <a:buNone/>
            </a:pPr>
            <a:r>
              <a:rPr lang="en-US" sz="1150" b="1" dirty="0">
                <a:solidFill>
                  <a:srgbClr val="9A5A12"/>
                </a:solidFill>
                <a:latin typeface="Calibri" pitchFamily="34" charset="0"/>
                <a:ea typeface="Calibri" pitchFamily="34" charset="-122"/>
                <a:cs typeface="Calibri" pitchFamily="34" charset="-120"/>
              </a:rPr>
              <a:t>Adapter</a:t>
            </a:r>
            <a:endParaRPr lang="en-US" sz="1150" dirty="0"/>
          </a:p>
        </p:txBody>
      </p:sp>
      <p:sp>
        <p:nvSpPr>
          <p:cNvPr id="12" name="Text 10"/>
          <p:cNvSpPr/>
          <p:nvPr/>
        </p:nvSpPr>
        <p:spPr>
          <a:xfrm>
            <a:off x="2232873" y="1517904"/>
            <a:ext cx="1281897" cy="566928"/>
          </a:xfrm>
          <a:prstGeom prst="rect">
            <a:avLst/>
          </a:prstGeom>
          <a:noFill/>
          <a:ln/>
        </p:spPr>
        <p:txBody>
          <a:bodyPr wrap="square" lIns="0" tIns="0" rIns="0" bIns="0" rtlCol="0" anchor="ctr"/>
          <a:lstStyle/>
          <a:p>
            <a:pPr algn="ctr" indent="0" marL="0">
              <a:lnSpc>
                <a:spcPts val="1000"/>
              </a:lnSpc>
              <a:buNone/>
            </a:pPr>
            <a:r>
              <a:rPr lang="en-US" sz="800" dirty="0">
                <a:solidFill>
                  <a:srgbClr val="7C4E10"/>
                </a:solidFill>
                <a:latin typeface="Calibri" pitchFamily="34" charset="0"/>
                <a:ea typeface="Calibri" pitchFamily="34" charset="-122"/>
                <a:cs typeface="Calibri" pitchFamily="34" charset="-120"/>
              </a:rPr>
              <a:t>three-tier ladder;</a:t>
            </a:r>
            <a:endParaRPr lang="en-US" sz="800" dirty="0"/>
          </a:p>
          <a:p>
            <a:pPr algn="ctr" indent="0" marL="0">
              <a:lnSpc>
                <a:spcPts val="1000"/>
              </a:lnSpc>
              <a:buNone/>
            </a:pPr>
            <a:r>
              <a:rPr lang="en-US" sz="800" dirty="0">
                <a:solidFill>
                  <a:srgbClr val="7C4E10"/>
                </a:solidFill>
                <a:latin typeface="Calibri" pitchFamily="34" charset="0"/>
                <a:ea typeface="Calibri" pitchFamily="34" charset="-122"/>
                <a:cs typeface="Calibri" pitchFamily="34" charset="-120"/>
              </a:rPr>
              <a:t>fixture source only</a:t>
            </a:r>
            <a:endParaRPr lang="en-US" sz="800" dirty="0"/>
          </a:p>
        </p:txBody>
      </p:sp>
      <p:sp>
        <p:nvSpPr>
          <p:cNvPr id="13" name="Shape 11"/>
          <p:cNvSpPr/>
          <p:nvPr/>
        </p:nvSpPr>
        <p:spPr>
          <a:xfrm rot="5400000">
            <a:off x="3615355" y="1609344"/>
            <a:ext cx="128016" cy="128016"/>
          </a:xfrm>
          <a:prstGeom prst="triangle">
            <a:avLst/>
          </a:prstGeom>
          <a:solidFill>
            <a:srgbClr val="9AA5B1"/>
          </a:solidFill>
          <a:ln/>
        </p:spPr>
      </p:sp>
      <p:sp>
        <p:nvSpPr>
          <p:cNvPr id="14" name="Shape 12"/>
          <p:cNvSpPr/>
          <p:nvPr/>
        </p:nvSpPr>
        <p:spPr>
          <a:xfrm>
            <a:off x="3789091" y="1143000"/>
            <a:ext cx="1391625" cy="1060704"/>
          </a:xfrm>
          <a:prstGeom prst="roundRect">
            <a:avLst>
              <a:gd name="adj" fmla="val 5172"/>
            </a:avLst>
          </a:prstGeom>
          <a:solidFill>
            <a:srgbClr val="E1EFE8"/>
          </a:solidFill>
          <a:ln w="9525">
            <a:solidFill>
              <a:srgbClr val="D8DEE5"/>
            </a:solidFill>
            <a:prstDash val="solid"/>
          </a:ln>
        </p:spPr>
      </p:sp>
      <p:sp>
        <p:nvSpPr>
          <p:cNvPr id="15" name="Text 13"/>
          <p:cNvSpPr/>
          <p:nvPr/>
        </p:nvSpPr>
        <p:spPr>
          <a:xfrm>
            <a:off x="3862243" y="1243584"/>
            <a:ext cx="1245321" cy="256032"/>
          </a:xfrm>
          <a:prstGeom prst="rect">
            <a:avLst/>
          </a:prstGeom>
          <a:noFill/>
          <a:ln/>
        </p:spPr>
        <p:txBody>
          <a:bodyPr wrap="square" lIns="0" tIns="0" rIns="0" bIns="0" rtlCol="0" anchor="ctr"/>
          <a:lstStyle/>
          <a:p>
            <a:pPr algn="ctr" indent="0" marL="0">
              <a:buNone/>
            </a:pPr>
            <a:r>
              <a:rPr lang="en-US" sz="1150" b="1" dirty="0">
                <a:solidFill>
                  <a:srgbClr val="1F6A4A"/>
                </a:solidFill>
                <a:latin typeface="Calibri" pitchFamily="34" charset="0"/>
                <a:ea typeface="Calibri" pitchFamily="34" charset="-122"/>
                <a:cs typeface="Calibri" pitchFamily="34" charset="-120"/>
              </a:rPr>
              <a:t>Normalise</a:t>
            </a:r>
            <a:endParaRPr lang="en-US" sz="1150" dirty="0"/>
          </a:p>
        </p:txBody>
      </p:sp>
      <p:sp>
        <p:nvSpPr>
          <p:cNvPr id="16" name="Text 14"/>
          <p:cNvSpPr/>
          <p:nvPr/>
        </p:nvSpPr>
        <p:spPr>
          <a:xfrm>
            <a:off x="3843955" y="1517904"/>
            <a:ext cx="1281897" cy="566928"/>
          </a:xfrm>
          <a:prstGeom prst="rect">
            <a:avLst/>
          </a:prstGeom>
          <a:noFill/>
          <a:ln/>
        </p:spPr>
        <p:txBody>
          <a:bodyPr wrap="square" lIns="0" tIns="0" rIns="0" bIns="0" rtlCol="0" anchor="ctr"/>
          <a:lstStyle/>
          <a:p>
            <a:pPr algn="ctr" indent="0" marL="0">
              <a:lnSpc>
                <a:spcPts val="1000"/>
              </a:lnSpc>
              <a:buNone/>
            </a:pPr>
            <a:r>
              <a:rPr lang="en-US" sz="800" dirty="0">
                <a:solidFill>
                  <a:srgbClr val="3D6E58"/>
                </a:solidFill>
                <a:latin typeface="Calibri" pitchFamily="34" charset="0"/>
                <a:ea typeface="Calibri" pitchFamily="34" charset="-122"/>
                <a:cs typeface="Calibri" pitchFamily="34" charset="-120"/>
              </a:rPr>
              <a:t>decompose, dedup,</a:t>
            </a:r>
            <a:endParaRPr lang="en-US" sz="800" dirty="0"/>
          </a:p>
          <a:p>
            <a:pPr algn="ctr" indent="0" marL="0">
              <a:lnSpc>
                <a:spcPts val="1000"/>
              </a:lnSpc>
              <a:buNone/>
            </a:pPr>
            <a:r>
              <a:rPr lang="en-US" sz="800" dirty="0">
                <a:solidFill>
                  <a:srgbClr val="3D6E58"/>
                </a:solidFill>
                <a:latin typeface="Calibri" pitchFamily="34" charset="0"/>
                <a:ea typeface="Calibri" pitchFamily="34" charset="-122"/>
                <a:cs typeface="Calibri" pitchFamily="34" charset="-120"/>
              </a:rPr>
              <a:t>attribute tagging</a:t>
            </a:r>
            <a:endParaRPr lang="en-US" sz="800" dirty="0"/>
          </a:p>
        </p:txBody>
      </p:sp>
      <p:sp>
        <p:nvSpPr>
          <p:cNvPr id="17" name="Shape 15"/>
          <p:cNvSpPr/>
          <p:nvPr/>
        </p:nvSpPr>
        <p:spPr>
          <a:xfrm rot="5400000">
            <a:off x="5226436" y="1609344"/>
            <a:ext cx="128016" cy="128016"/>
          </a:xfrm>
          <a:prstGeom prst="triangle">
            <a:avLst/>
          </a:prstGeom>
          <a:solidFill>
            <a:srgbClr val="9AA5B1"/>
          </a:solidFill>
          <a:ln/>
        </p:spPr>
      </p:sp>
      <p:sp>
        <p:nvSpPr>
          <p:cNvPr id="18" name="Shape 16"/>
          <p:cNvSpPr/>
          <p:nvPr/>
        </p:nvSpPr>
        <p:spPr>
          <a:xfrm>
            <a:off x="5400172" y="1143000"/>
            <a:ext cx="1391625" cy="1060704"/>
          </a:xfrm>
          <a:prstGeom prst="roundRect">
            <a:avLst>
              <a:gd name="adj" fmla="val 5172"/>
            </a:avLst>
          </a:prstGeom>
          <a:solidFill>
            <a:srgbClr val="E1EFE8"/>
          </a:solidFill>
          <a:ln w="9525">
            <a:solidFill>
              <a:srgbClr val="D8DEE5"/>
            </a:solidFill>
            <a:prstDash val="solid"/>
          </a:ln>
        </p:spPr>
      </p:sp>
      <p:sp>
        <p:nvSpPr>
          <p:cNvPr id="19" name="Text 17"/>
          <p:cNvSpPr/>
          <p:nvPr/>
        </p:nvSpPr>
        <p:spPr>
          <a:xfrm>
            <a:off x="5473324" y="1243584"/>
            <a:ext cx="1245321" cy="256032"/>
          </a:xfrm>
          <a:prstGeom prst="rect">
            <a:avLst/>
          </a:prstGeom>
          <a:noFill/>
          <a:ln/>
        </p:spPr>
        <p:txBody>
          <a:bodyPr wrap="square" lIns="0" tIns="0" rIns="0" bIns="0" rtlCol="0" anchor="ctr"/>
          <a:lstStyle/>
          <a:p>
            <a:pPr algn="ctr" indent="0" marL="0">
              <a:buNone/>
            </a:pPr>
            <a:r>
              <a:rPr lang="en-US" sz="1150" b="1" dirty="0">
                <a:solidFill>
                  <a:srgbClr val="1F6A4A"/>
                </a:solidFill>
                <a:latin typeface="Calibri" pitchFamily="34" charset="0"/>
                <a:ea typeface="Calibri" pitchFamily="34" charset="-122"/>
                <a:cs typeface="Calibri" pitchFamily="34" charset="-120"/>
              </a:rPr>
              <a:t>Validate</a:t>
            </a:r>
            <a:endParaRPr lang="en-US" sz="1150" dirty="0"/>
          </a:p>
        </p:txBody>
      </p:sp>
      <p:sp>
        <p:nvSpPr>
          <p:cNvPr id="20" name="Text 18"/>
          <p:cNvSpPr/>
          <p:nvPr/>
        </p:nvSpPr>
        <p:spPr>
          <a:xfrm>
            <a:off x="5455036" y="1517904"/>
            <a:ext cx="1281897" cy="566928"/>
          </a:xfrm>
          <a:prstGeom prst="rect">
            <a:avLst/>
          </a:prstGeom>
          <a:noFill/>
          <a:ln/>
        </p:spPr>
        <p:txBody>
          <a:bodyPr wrap="square" lIns="0" tIns="0" rIns="0" bIns="0" rtlCol="0" anchor="ctr"/>
          <a:lstStyle/>
          <a:p>
            <a:pPr algn="ctr" indent="0" marL="0">
              <a:lnSpc>
                <a:spcPts val="1000"/>
              </a:lnSpc>
              <a:buNone/>
            </a:pPr>
            <a:r>
              <a:rPr lang="en-US" sz="800" dirty="0">
                <a:solidFill>
                  <a:srgbClr val="3D6E58"/>
                </a:solidFill>
                <a:latin typeface="Calibri" pitchFamily="34" charset="0"/>
                <a:ea typeface="Calibri" pitchFamily="34" charset="-122"/>
                <a:cs typeface="Calibri" pitchFamily="34" charset="-120"/>
              </a:rPr>
              <a:t>plausibility bounds,</a:t>
            </a:r>
            <a:endParaRPr lang="en-US" sz="800" dirty="0"/>
          </a:p>
          <a:p>
            <a:pPr algn="ctr" indent="0" marL="0">
              <a:lnSpc>
                <a:spcPts val="1000"/>
              </a:lnSpc>
              <a:buNone/>
            </a:pPr>
            <a:r>
              <a:rPr lang="en-US" sz="800" dirty="0">
                <a:solidFill>
                  <a:srgbClr val="3D6E58"/>
                </a:solidFill>
                <a:latin typeface="Calibri" pitchFamily="34" charset="0"/>
                <a:ea typeface="Calibri" pitchFamily="34" charset="-122"/>
                <a:cs typeface="Calibri" pitchFamily="34" charset="-120"/>
              </a:rPr>
              <a:t>quarantine</a:t>
            </a:r>
            <a:endParaRPr lang="en-US" sz="800" dirty="0"/>
          </a:p>
        </p:txBody>
      </p:sp>
      <p:sp>
        <p:nvSpPr>
          <p:cNvPr id="21" name="Shape 19"/>
          <p:cNvSpPr/>
          <p:nvPr/>
        </p:nvSpPr>
        <p:spPr>
          <a:xfrm rot="5400000">
            <a:off x="6837517" y="1609344"/>
            <a:ext cx="128016" cy="128016"/>
          </a:xfrm>
          <a:prstGeom prst="triangle">
            <a:avLst/>
          </a:prstGeom>
          <a:solidFill>
            <a:srgbClr val="9AA5B1"/>
          </a:solidFill>
          <a:ln/>
        </p:spPr>
      </p:sp>
      <p:sp>
        <p:nvSpPr>
          <p:cNvPr id="22" name="Shape 20"/>
          <p:cNvSpPr/>
          <p:nvPr/>
        </p:nvSpPr>
        <p:spPr>
          <a:xfrm>
            <a:off x="7011253" y="1143000"/>
            <a:ext cx="1391625" cy="1060704"/>
          </a:xfrm>
          <a:prstGeom prst="roundRect">
            <a:avLst>
              <a:gd name="adj" fmla="val 5172"/>
            </a:avLst>
          </a:prstGeom>
          <a:solidFill>
            <a:srgbClr val="E1EFE8"/>
          </a:solidFill>
          <a:ln w="9525">
            <a:solidFill>
              <a:srgbClr val="D8DEE5"/>
            </a:solidFill>
            <a:prstDash val="solid"/>
          </a:ln>
        </p:spPr>
      </p:sp>
      <p:sp>
        <p:nvSpPr>
          <p:cNvPr id="23" name="Text 21"/>
          <p:cNvSpPr/>
          <p:nvPr/>
        </p:nvSpPr>
        <p:spPr>
          <a:xfrm>
            <a:off x="7084405" y="1243584"/>
            <a:ext cx="1245321" cy="256032"/>
          </a:xfrm>
          <a:prstGeom prst="rect">
            <a:avLst/>
          </a:prstGeom>
          <a:noFill/>
          <a:ln/>
        </p:spPr>
        <p:txBody>
          <a:bodyPr wrap="square" lIns="0" tIns="0" rIns="0" bIns="0" rtlCol="0" anchor="ctr"/>
          <a:lstStyle/>
          <a:p>
            <a:pPr algn="ctr" indent="0" marL="0">
              <a:buNone/>
            </a:pPr>
            <a:r>
              <a:rPr lang="en-US" sz="1150" b="1" dirty="0">
                <a:solidFill>
                  <a:srgbClr val="1F6A4A"/>
                </a:solidFill>
                <a:latin typeface="Calibri" pitchFamily="34" charset="0"/>
                <a:ea typeface="Calibri" pitchFamily="34" charset="-122"/>
                <a:cs typeface="Calibri" pitchFamily="34" charset="-120"/>
              </a:rPr>
              <a:t>Store</a:t>
            </a:r>
            <a:endParaRPr lang="en-US" sz="1150" dirty="0"/>
          </a:p>
        </p:txBody>
      </p:sp>
      <p:sp>
        <p:nvSpPr>
          <p:cNvPr id="24" name="Text 22"/>
          <p:cNvSpPr/>
          <p:nvPr/>
        </p:nvSpPr>
        <p:spPr>
          <a:xfrm>
            <a:off x="7066117" y="1517904"/>
            <a:ext cx="1281897" cy="566928"/>
          </a:xfrm>
          <a:prstGeom prst="rect">
            <a:avLst/>
          </a:prstGeom>
          <a:noFill/>
          <a:ln/>
        </p:spPr>
        <p:txBody>
          <a:bodyPr wrap="square" lIns="0" tIns="0" rIns="0" bIns="0" rtlCol="0" anchor="ctr"/>
          <a:lstStyle/>
          <a:p>
            <a:pPr algn="ctr" indent="0" marL="0">
              <a:lnSpc>
                <a:spcPts val="1000"/>
              </a:lnSpc>
              <a:buNone/>
            </a:pPr>
            <a:r>
              <a:rPr lang="en-US" sz="800" dirty="0">
                <a:solidFill>
                  <a:srgbClr val="3D6E58"/>
                </a:solidFill>
                <a:latin typeface="Calibri" pitchFamily="34" charset="0"/>
                <a:ea typeface="Calibri" pitchFamily="34" charset="-122"/>
                <a:cs typeface="Calibri" pitchFamily="34" charset="-120"/>
              </a:rPr>
              <a:t>append-only raw,</a:t>
            </a:r>
            <a:endParaRPr lang="en-US" sz="800" dirty="0"/>
          </a:p>
          <a:p>
            <a:pPr algn="ctr" indent="0" marL="0">
              <a:lnSpc>
                <a:spcPts val="1000"/>
              </a:lnSpc>
              <a:buNone/>
            </a:pPr>
            <a:r>
              <a:rPr lang="en-US" sz="800" dirty="0">
                <a:solidFill>
                  <a:srgbClr val="3D6E58"/>
                </a:solidFill>
                <a:latin typeface="Calibri" pitchFamily="34" charset="0"/>
                <a:ea typeface="Calibri" pitchFamily="34" charset="-122"/>
                <a:cs typeface="Calibri" pitchFamily="34" charset="-120"/>
              </a:rPr>
              <a:t>DB triggers</a:t>
            </a:r>
            <a:endParaRPr lang="en-US" sz="800" dirty="0"/>
          </a:p>
        </p:txBody>
      </p:sp>
      <p:sp>
        <p:nvSpPr>
          <p:cNvPr id="25" name="Shape 23"/>
          <p:cNvSpPr/>
          <p:nvPr/>
        </p:nvSpPr>
        <p:spPr>
          <a:xfrm rot="5400000">
            <a:off x="8448599" y="1609344"/>
            <a:ext cx="128016" cy="128016"/>
          </a:xfrm>
          <a:prstGeom prst="triangle">
            <a:avLst/>
          </a:prstGeom>
          <a:solidFill>
            <a:srgbClr val="9AA5B1"/>
          </a:solidFill>
          <a:ln/>
        </p:spPr>
      </p:sp>
      <p:sp>
        <p:nvSpPr>
          <p:cNvPr id="26" name="Shape 24"/>
          <p:cNvSpPr/>
          <p:nvPr/>
        </p:nvSpPr>
        <p:spPr>
          <a:xfrm>
            <a:off x="8622335" y="1143000"/>
            <a:ext cx="1391625" cy="1060704"/>
          </a:xfrm>
          <a:prstGeom prst="roundRect">
            <a:avLst>
              <a:gd name="adj" fmla="val 5172"/>
            </a:avLst>
          </a:prstGeom>
          <a:solidFill>
            <a:srgbClr val="E1EFE8"/>
          </a:solidFill>
          <a:ln w="9525">
            <a:solidFill>
              <a:srgbClr val="D8DEE5"/>
            </a:solidFill>
            <a:prstDash val="solid"/>
          </a:ln>
        </p:spPr>
      </p:sp>
      <p:sp>
        <p:nvSpPr>
          <p:cNvPr id="27" name="Text 25"/>
          <p:cNvSpPr/>
          <p:nvPr/>
        </p:nvSpPr>
        <p:spPr>
          <a:xfrm>
            <a:off x="8695487" y="1243584"/>
            <a:ext cx="1245321" cy="256032"/>
          </a:xfrm>
          <a:prstGeom prst="rect">
            <a:avLst/>
          </a:prstGeom>
          <a:noFill/>
          <a:ln/>
        </p:spPr>
        <p:txBody>
          <a:bodyPr wrap="square" lIns="0" tIns="0" rIns="0" bIns="0" rtlCol="0" anchor="ctr"/>
          <a:lstStyle/>
          <a:p>
            <a:pPr algn="ctr" indent="0" marL="0">
              <a:buNone/>
            </a:pPr>
            <a:r>
              <a:rPr lang="en-US" sz="1150" b="1" dirty="0">
                <a:solidFill>
                  <a:srgbClr val="1F6A4A"/>
                </a:solidFill>
                <a:latin typeface="Calibri" pitchFamily="34" charset="0"/>
                <a:ea typeface="Calibri" pitchFamily="34" charset="-122"/>
                <a:cs typeface="Calibri" pitchFamily="34" charset="-120"/>
              </a:rPr>
              <a:t>Index</a:t>
            </a:r>
            <a:endParaRPr lang="en-US" sz="1150" dirty="0"/>
          </a:p>
        </p:txBody>
      </p:sp>
      <p:sp>
        <p:nvSpPr>
          <p:cNvPr id="28" name="Text 26"/>
          <p:cNvSpPr/>
          <p:nvPr/>
        </p:nvSpPr>
        <p:spPr>
          <a:xfrm>
            <a:off x="8677199" y="1517904"/>
            <a:ext cx="1281897" cy="566928"/>
          </a:xfrm>
          <a:prstGeom prst="rect">
            <a:avLst/>
          </a:prstGeom>
          <a:noFill/>
          <a:ln/>
        </p:spPr>
        <p:txBody>
          <a:bodyPr wrap="square" lIns="0" tIns="0" rIns="0" bIns="0" rtlCol="0" anchor="ctr"/>
          <a:lstStyle/>
          <a:p>
            <a:pPr algn="ctr" indent="0" marL="0">
              <a:lnSpc>
                <a:spcPts val="1000"/>
              </a:lnSpc>
              <a:buNone/>
            </a:pPr>
            <a:r>
              <a:rPr lang="en-US" sz="800" dirty="0">
                <a:solidFill>
                  <a:srgbClr val="3D6E58"/>
                </a:solidFill>
                <a:latin typeface="Calibri" pitchFamily="34" charset="0"/>
                <a:ea typeface="Calibri" pitchFamily="34" charset="-122"/>
                <a:cs typeface="Calibri" pitchFamily="34" charset="-120"/>
              </a:rPr>
              <a:t>pure function,</a:t>
            </a:r>
            <a:endParaRPr lang="en-US" sz="800" dirty="0"/>
          </a:p>
          <a:p>
            <a:pPr algn="ctr" indent="0" marL="0">
              <a:lnSpc>
                <a:spcPts val="1000"/>
              </a:lnSpc>
              <a:buNone/>
            </a:pPr>
            <a:r>
              <a:rPr lang="en-US" sz="800" dirty="0">
                <a:solidFill>
                  <a:srgbClr val="3D6E58"/>
                </a:solidFill>
                <a:latin typeface="Calibri" pitchFamily="34" charset="0"/>
                <a:ea typeface="Calibri" pitchFamily="34" charset="-122"/>
                <a:cs typeface="Calibri" pitchFamily="34" charset="-120"/>
              </a:rPr>
              <a:t>Jevons → Lowe</a:t>
            </a:r>
            <a:endParaRPr lang="en-US" sz="800" dirty="0"/>
          </a:p>
        </p:txBody>
      </p:sp>
      <p:sp>
        <p:nvSpPr>
          <p:cNvPr id="29" name="Shape 27"/>
          <p:cNvSpPr/>
          <p:nvPr/>
        </p:nvSpPr>
        <p:spPr>
          <a:xfrm rot="5400000">
            <a:off x="10059680" y="1609344"/>
            <a:ext cx="128016" cy="128016"/>
          </a:xfrm>
          <a:prstGeom prst="triangle">
            <a:avLst/>
          </a:prstGeom>
          <a:solidFill>
            <a:srgbClr val="9AA5B1"/>
          </a:solidFill>
          <a:ln/>
        </p:spPr>
      </p:sp>
      <p:sp>
        <p:nvSpPr>
          <p:cNvPr id="30" name="Shape 28"/>
          <p:cNvSpPr/>
          <p:nvPr/>
        </p:nvSpPr>
        <p:spPr>
          <a:xfrm>
            <a:off x="10233416" y="1143000"/>
            <a:ext cx="1391625" cy="1060704"/>
          </a:xfrm>
          <a:prstGeom prst="roundRect">
            <a:avLst>
              <a:gd name="adj" fmla="val 5172"/>
            </a:avLst>
          </a:prstGeom>
          <a:solidFill>
            <a:srgbClr val="1B3A6B"/>
          </a:solidFill>
          <a:ln/>
        </p:spPr>
      </p:sp>
      <p:sp>
        <p:nvSpPr>
          <p:cNvPr id="31" name="Text 29"/>
          <p:cNvSpPr/>
          <p:nvPr/>
        </p:nvSpPr>
        <p:spPr>
          <a:xfrm>
            <a:off x="10306568" y="1243584"/>
            <a:ext cx="1245321"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Publish</a:t>
            </a:r>
            <a:endParaRPr lang="en-US" sz="1150" dirty="0"/>
          </a:p>
        </p:txBody>
      </p:sp>
      <p:sp>
        <p:nvSpPr>
          <p:cNvPr id="32" name="Text 30"/>
          <p:cNvSpPr/>
          <p:nvPr/>
        </p:nvSpPr>
        <p:spPr>
          <a:xfrm>
            <a:off x="10288280" y="1517904"/>
            <a:ext cx="1281897" cy="566928"/>
          </a:xfrm>
          <a:prstGeom prst="rect">
            <a:avLst/>
          </a:prstGeom>
          <a:noFill/>
          <a:ln/>
        </p:spPr>
        <p:txBody>
          <a:bodyPr wrap="square" lIns="0" tIns="0" rIns="0" bIns="0" rtlCol="0" anchor="ctr"/>
          <a:lstStyle/>
          <a:p>
            <a:pPr algn="ctr" indent="0" marL="0">
              <a:lnSpc>
                <a:spcPts val="1000"/>
              </a:lnSpc>
              <a:buNone/>
            </a:pPr>
            <a:r>
              <a:rPr lang="en-US" sz="800" dirty="0">
                <a:solidFill>
                  <a:srgbClr val="A9BBD3"/>
                </a:solidFill>
                <a:latin typeface="Calibri" pitchFamily="34" charset="0"/>
                <a:ea typeface="Calibri" pitchFamily="34" charset="-122"/>
                <a:cs typeface="Calibri" pitchFamily="34" charset="-120"/>
              </a:rPr>
              <a:t>refuses a run it</a:t>
            </a:r>
            <a:endParaRPr lang="en-US" sz="800" dirty="0"/>
          </a:p>
          <a:p>
            <a:pPr algn="ctr" indent="0" marL="0">
              <a:lnSpc>
                <a:spcPts val="1000"/>
              </a:lnSpc>
              <a:buNone/>
            </a:pPr>
            <a:r>
              <a:rPr lang="en-US" sz="800" dirty="0">
                <a:solidFill>
                  <a:srgbClr val="A9BBD3"/>
                </a:solidFill>
                <a:latin typeface="Calibri" pitchFamily="34" charset="0"/>
                <a:ea typeface="Calibri" pitchFamily="34" charset="-122"/>
                <a:cs typeface="Calibri" pitchFamily="34" charset="-120"/>
              </a:rPr>
              <a:t>cannot stand behind</a:t>
            </a:r>
            <a:endParaRPr lang="en-US" sz="800" dirty="0"/>
          </a:p>
        </p:txBody>
      </p:sp>
      <p:sp>
        <p:nvSpPr>
          <p:cNvPr id="33" name="Text 31"/>
          <p:cNvSpPr/>
          <p:nvPr/>
        </p:nvSpPr>
        <p:spPr>
          <a:xfrm>
            <a:off x="566928" y="2286000"/>
            <a:ext cx="11057839" cy="310896"/>
          </a:xfrm>
          <a:prstGeom prst="rect">
            <a:avLst/>
          </a:prstGeom>
          <a:noFill/>
          <a:ln/>
        </p:spPr>
        <p:txBody>
          <a:bodyPr wrap="square" lIns="0" tIns="0" rIns="0" bIns="0" rtlCol="0" anchor="ctr"/>
          <a:lstStyle/>
          <a:p>
            <a:pPr indent="0" marL="0">
              <a:lnSpc>
                <a:spcPts val="1300"/>
              </a:lnSpc>
              <a:buNone/>
            </a:pPr>
            <a:r>
              <a:rPr lang="en-US" sz="950" i="1" dirty="0">
                <a:solidFill>
                  <a:srgbClr val="6B7684"/>
                </a:solidFill>
                <a:latin typeface="Calibri" pitchFamily="34" charset="0"/>
                <a:ea typeface="Calibri" pitchFamily="34" charset="-122"/>
                <a:cs typeface="Calibri" pitchFamily="34" charset="-120"/>
              </a:rPr>
              <a:t>Six of the seven stages are complete and covered by automated tests. The adapter stage holds a deterministic synthetic source because no real one is legally available — and the publisher then refuses any index derived from it, so a fixture number can never be mistaken for a measurement.</a:t>
            </a:r>
            <a:endParaRPr lang="en-US" sz="950" dirty="0"/>
          </a:p>
        </p:txBody>
      </p:sp>
      <p:sp>
        <p:nvSpPr>
          <p:cNvPr id="34" name="Shape 32"/>
          <p:cNvSpPr/>
          <p:nvPr/>
        </p:nvSpPr>
        <p:spPr>
          <a:xfrm>
            <a:off x="566928" y="2743200"/>
            <a:ext cx="6400800" cy="3429000"/>
          </a:xfrm>
          <a:prstGeom prst="roundRect">
            <a:avLst>
              <a:gd name="adj" fmla="val 1600"/>
            </a:avLst>
          </a:prstGeom>
          <a:solidFill>
            <a:srgbClr val="F3F5F8"/>
          </a:solidFill>
          <a:ln w="9525">
            <a:solidFill>
              <a:srgbClr val="D8DEE5"/>
            </a:solidFill>
            <a:prstDash val="solid"/>
          </a:ln>
        </p:spPr>
      </p:sp>
      <p:sp>
        <p:nvSpPr>
          <p:cNvPr id="35" name="Text 33"/>
          <p:cNvSpPr/>
          <p:nvPr/>
        </p:nvSpPr>
        <p:spPr>
          <a:xfrm>
            <a:off x="786384" y="2889504"/>
            <a:ext cx="5943600" cy="219456"/>
          </a:xfrm>
          <a:prstGeom prst="rect">
            <a:avLst/>
          </a:prstGeom>
          <a:noFill/>
          <a:ln/>
        </p:spPr>
        <p:txBody>
          <a:bodyPr wrap="square" lIns="0" tIns="0" rIns="0" bIns="0" rtlCol="0" anchor="ctr"/>
          <a:lstStyle/>
          <a:p>
            <a:pPr indent="0" marL="0">
              <a:buNone/>
            </a:pPr>
            <a:r>
              <a:rPr lang="en-US" sz="950" b="1" spc="110" kern="0" dirty="0">
                <a:solidFill>
                  <a:srgbClr val="1B3A6B"/>
                </a:solidFill>
                <a:latin typeface="Calibri" pitchFamily="34" charset="0"/>
                <a:ea typeface="Calibri" pitchFamily="34" charset="-122"/>
                <a:cs typeface="Calibri" pitchFamily="34" charset="-120"/>
              </a:rPr>
              <a:t>EVERY LAYER CHOSEN AGAINST A ₹0-FOREVER CONSTRAINT</a:t>
            </a:r>
            <a:endParaRPr lang="en-US" sz="950" dirty="0"/>
          </a:p>
        </p:txBody>
      </p:sp>
      <p:sp>
        <p:nvSpPr>
          <p:cNvPr id="36" name="Text 34"/>
          <p:cNvSpPr/>
          <p:nvPr/>
        </p:nvSpPr>
        <p:spPr>
          <a:xfrm>
            <a:off x="786384" y="3218688"/>
            <a:ext cx="1170432" cy="219456"/>
          </a:xfrm>
          <a:prstGeom prst="rect">
            <a:avLst/>
          </a:prstGeom>
          <a:noFill/>
          <a:ln/>
        </p:spPr>
        <p:txBody>
          <a:bodyPr wrap="square" lIns="0" tIns="0" rIns="0" bIns="0" rtlCol="0" anchor="ctr"/>
          <a:lstStyle/>
          <a:p>
            <a:pPr indent="0" marL="0">
              <a:buNone/>
            </a:pPr>
            <a:r>
              <a:rPr lang="en-US" sz="950" b="1" dirty="0">
                <a:solidFill>
                  <a:srgbClr val="10161D"/>
                </a:solidFill>
                <a:latin typeface="Calibri" pitchFamily="34" charset="0"/>
                <a:ea typeface="Calibri" pitchFamily="34" charset="-122"/>
                <a:cs typeface="Calibri" pitchFamily="34" charset="-120"/>
              </a:rPr>
              <a:t>Compute</a:t>
            </a:r>
            <a:endParaRPr lang="en-US" sz="950" dirty="0"/>
          </a:p>
        </p:txBody>
      </p:sp>
      <p:sp>
        <p:nvSpPr>
          <p:cNvPr id="37" name="Text 35"/>
          <p:cNvSpPr/>
          <p:nvPr/>
        </p:nvSpPr>
        <p:spPr>
          <a:xfrm>
            <a:off x="1993392" y="3200400"/>
            <a:ext cx="4736592" cy="384048"/>
          </a:xfrm>
          <a:prstGeom prst="rect">
            <a:avLst/>
          </a:prstGeom>
          <a:noFill/>
          <a:ln/>
        </p:spPr>
        <p:txBody>
          <a:bodyPr wrap="square" lIns="0" tIns="0" rIns="0" bIns="0" rtlCol="0" anchor="ctr"/>
          <a:lstStyle/>
          <a:p>
            <a:pPr indent="0" marL="0">
              <a:lnSpc>
                <a:spcPts val="1250"/>
              </a:lnSpc>
              <a:buNone/>
            </a:pPr>
            <a:r>
              <a:rPr lang="en-US" sz="950" b="1" dirty="0">
                <a:solidFill>
                  <a:srgbClr val="10161D"/>
                </a:solidFill>
                <a:latin typeface="Calibri" pitchFamily="34" charset="0"/>
                <a:ea typeface="Calibri" pitchFamily="34" charset="-122"/>
                <a:cs typeface="Calibri" pitchFamily="34" charset="-120"/>
              </a:rPr>
              <a:t>Oracle Always Free A1, Indian region — </a:t>
            </a:r>
            <a:pPr indent="0" marL="0">
              <a:lnSpc>
                <a:spcPts val="1250"/>
              </a:lnSpc>
              <a:buNone/>
            </a:pPr>
            <a:r>
              <a:rPr lang="en-US" sz="950" dirty="0">
                <a:solidFill>
                  <a:srgbClr val="6B7684"/>
                </a:solidFill>
                <a:latin typeface="Calibri" pitchFamily="34" charset="0"/>
                <a:ea typeface="Calibri" pitchFamily="34" charset="-122"/>
                <a:cs typeface="Calibri" pitchFamily="34" charset="-120"/>
              </a:rPr>
              <a:t>Actions cron drifts 10–30 min, Render sleeps, Fly.io is credits. An Indian egress IP matters: fare pages price by geography.</a:t>
            </a:r>
            <a:endParaRPr lang="en-US" sz="950" dirty="0"/>
          </a:p>
        </p:txBody>
      </p:sp>
      <p:sp>
        <p:nvSpPr>
          <p:cNvPr id="38" name="Text 36"/>
          <p:cNvSpPr/>
          <p:nvPr/>
        </p:nvSpPr>
        <p:spPr>
          <a:xfrm>
            <a:off x="786384" y="3694176"/>
            <a:ext cx="1170432" cy="219456"/>
          </a:xfrm>
          <a:prstGeom prst="rect">
            <a:avLst/>
          </a:prstGeom>
          <a:noFill/>
          <a:ln/>
        </p:spPr>
        <p:txBody>
          <a:bodyPr wrap="square" lIns="0" tIns="0" rIns="0" bIns="0" rtlCol="0" anchor="ctr"/>
          <a:lstStyle/>
          <a:p>
            <a:pPr indent="0" marL="0">
              <a:buNone/>
            </a:pPr>
            <a:r>
              <a:rPr lang="en-US" sz="950" b="1" dirty="0">
                <a:solidFill>
                  <a:srgbClr val="10161D"/>
                </a:solidFill>
                <a:latin typeface="Calibri" pitchFamily="34" charset="0"/>
                <a:ea typeface="Calibri" pitchFamily="34" charset="-122"/>
                <a:cs typeface="Calibri" pitchFamily="34" charset="-120"/>
              </a:rPr>
              <a:t>Database</a:t>
            </a:r>
            <a:endParaRPr lang="en-US" sz="950" dirty="0"/>
          </a:p>
        </p:txBody>
      </p:sp>
      <p:sp>
        <p:nvSpPr>
          <p:cNvPr id="39" name="Text 37"/>
          <p:cNvSpPr/>
          <p:nvPr/>
        </p:nvSpPr>
        <p:spPr>
          <a:xfrm>
            <a:off x="1993392" y="3675888"/>
            <a:ext cx="4736592" cy="384048"/>
          </a:xfrm>
          <a:prstGeom prst="rect">
            <a:avLst/>
          </a:prstGeom>
          <a:noFill/>
          <a:ln/>
        </p:spPr>
        <p:txBody>
          <a:bodyPr wrap="square" lIns="0" tIns="0" rIns="0" bIns="0" rtlCol="0" anchor="ctr"/>
          <a:lstStyle/>
          <a:p>
            <a:pPr indent="0" marL="0">
              <a:lnSpc>
                <a:spcPts val="1250"/>
              </a:lnSpc>
              <a:buNone/>
            </a:pPr>
            <a:r>
              <a:rPr lang="en-US" sz="950" b="1" dirty="0">
                <a:solidFill>
                  <a:srgbClr val="10161D"/>
                </a:solidFill>
                <a:latin typeface="Calibri" pitchFamily="34" charset="0"/>
                <a:ea typeface="Calibri" pitchFamily="34" charset="-122"/>
                <a:cs typeface="Calibri" pitchFamily="34" charset="-120"/>
              </a:rPr>
              <a:t>PostgreSQL 16 + TimescaleDB, self-hosted — </a:t>
            </a:r>
            <a:pPr indent="0" marL="0">
              <a:lnSpc>
                <a:spcPts val="1250"/>
              </a:lnSpc>
              <a:buNone/>
            </a:pPr>
            <a:r>
              <a:rPr lang="en-US" sz="950" dirty="0">
                <a:solidFill>
                  <a:srgbClr val="6B7684"/>
                </a:solidFill>
                <a:latin typeface="Calibri" pitchFamily="34" charset="0"/>
                <a:ea typeface="Calibri" pitchFamily="34" charset="-122"/>
                <a:cs typeface="Calibri" pitchFamily="34" charset="-120"/>
              </a:rPr>
              <a:t>2 GB/year kills Supabase (500 MB, pauses after 7 idle days) and Neon (0.5 GB).</a:t>
            </a:r>
            <a:endParaRPr lang="en-US" sz="950" dirty="0"/>
          </a:p>
        </p:txBody>
      </p:sp>
      <p:sp>
        <p:nvSpPr>
          <p:cNvPr id="40" name="Text 38"/>
          <p:cNvSpPr/>
          <p:nvPr/>
        </p:nvSpPr>
        <p:spPr>
          <a:xfrm>
            <a:off x="786384" y="4169664"/>
            <a:ext cx="1170432" cy="219456"/>
          </a:xfrm>
          <a:prstGeom prst="rect">
            <a:avLst/>
          </a:prstGeom>
          <a:noFill/>
          <a:ln/>
        </p:spPr>
        <p:txBody>
          <a:bodyPr wrap="square" lIns="0" tIns="0" rIns="0" bIns="0" rtlCol="0" anchor="ctr"/>
          <a:lstStyle/>
          <a:p>
            <a:pPr indent="0" marL="0">
              <a:buNone/>
            </a:pPr>
            <a:r>
              <a:rPr lang="en-US" sz="950" b="1" dirty="0">
                <a:solidFill>
                  <a:srgbClr val="10161D"/>
                </a:solidFill>
                <a:latin typeface="Calibri" pitchFamily="34" charset="0"/>
                <a:ea typeface="Calibri" pitchFamily="34" charset="-122"/>
                <a:cs typeface="Calibri" pitchFamily="34" charset="-120"/>
              </a:rPr>
              <a:t>Queue</a:t>
            </a:r>
            <a:endParaRPr lang="en-US" sz="950" dirty="0"/>
          </a:p>
        </p:txBody>
      </p:sp>
      <p:sp>
        <p:nvSpPr>
          <p:cNvPr id="41" name="Text 39"/>
          <p:cNvSpPr/>
          <p:nvPr/>
        </p:nvSpPr>
        <p:spPr>
          <a:xfrm>
            <a:off x="1993392" y="4151376"/>
            <a:ext cx="4736592" cy="384048"/>
          </a:xfrm>
          <a:prstGeom prst="rect">
            <a:avLst/>
          </a:prstGeom>
          <a:noFill/>
          <a:ln/>
        </p:spPr>
        <p:txBody>
          <a:bodyPr wrap="square" lIns="0" tIns="0" rIns="0" bIns="0" rtlCol="0" anchor="ctr"/>
          <a:lstStyle/>
          <a:p>
            <a:pPr indent="0" marL="0">
              <a:lnSpc>
                <a:spcPts val="1250"/>
              </a:lnSpc>
              <a:buNone/>
            </a:pPr>
            <a:r>
              <a:rPr lang="en-US" sz="950" b="1" dirty="0">
                <a:solidFill>
                  <a:srgbClr val="10161D"/>
                </a:solidFill>
                <a:latin typeface="Calibri" pitchFamily="34" charset="0"/>
                <a:ea typeface="Calibri" pitchFamily="34" charset="-122"/>
                <a:cs typeface="Calibri" pitchFamily="34" charset="-120"/>
              </a:rPr>
              <a:t>Postgres FOR UPDATE SKIP LOCKED — </a:t>
            </a:r>
            <a:pPr indent="0" marL="0">
              <a:lnSpc>
                <a:spcPts val="1250"/>
              </a:lnSpc>
              <a:buNone/>
            </a:pPr>
            <a:r>
              <a:rPr lang="en-US" sz="950" dirty="0">
                <a:solidFill>
                  <a:srgbClr val="6B7684"/>
                </a:solidFill>
                <a:latin typeface="Calibri" pitchFamily="34" charset="0"/>
                <a:ea typeface="Calibri" pitchFamily="34" charset="-122"/>
                <a:cs typeface="Calibri" pitchFamily="34" charset="-120"/>
              </a:rPr>
              <a:t>Celery and Redis cost a second daemon and ~200 MB of RAM for 1,155 tasks a day.</a:t>
            </a:r>
            <a:endParaRPr lang="en-US" sz="950" dirty="0"/>
          </a:p>
        </p:txBody>
      </p:sp>
      <p:sp>
        <p:nvSpPr>
          <p:cNvPr id="42" name="Text 40"/>
          <p:cNvSpPr/>
          <p:nvPr/>
        </p:nvSpPr>
        <p:spPr>
          <a:xfrm>
            <a:off x="786384" y="4645152"/>
            <a:ext cx="1170432" cy="219456"/>
          </a:xfrm>
          <a:prstGeom prst="rect">
            <a:avLst/>
          </a:prstGeom>
          <a:noFill/>
          <a:ln/>
        </p:spPr>
        <p:txBody>
          <a:bodyPr wrap="square" lIns="0" tIns="0" rIns="0" bIns="0" rtlCol="0" anchor="ctr"/>
          <a:lstStyle/>
          <a:p>
            <a:pPr indent="0" marL="0">
              <a:buNone/>
            </a:pPr>
            <a:r>
              <a:rPr lang="en-US" sz="950" b="1" dirty="0">
                <a:solidFill>
                  <a:srgbClr val="10161D"/>
                </a:solidFill>
                <a:latin typeface="Calibri" pitchFamily="34" charset="0"/>
                <a:ea typeface="Calibri" pitchFamily="34" charset="-122"/>
                <a:cs typeface="Calibri" pitchFamily="34" charset="-120"/>
              </a:rPr>
              <a:t>Scheduler</a:t>
            </a:r>
            <a:endParaRPr lang="en-US" sz="950" dirty="0"/>
          </a:p>
        </p:txBody>
      </p:sp>
      <p:sp>
        <p:nvSpPr>
          <p:cNvPr id="43" name="Text 41"/>
          <p:cNvSpPr/>
          <p:nvPr/>
        </p:nvSpPr>
        <p:spPr>
          <a:xfrm>
            <a:off x="1993392" y="4626864"/>
            <a:ext cx="4736592" cy="384048"/>
          </a:xfrm>
          <a:prstGeom prst="rect">
            <a:avLst/>
          </a:prstGeom>
          <a:noFill/>
          <a:ln/>
        </p:spPr>
        <p:txBody>
          <a:bodyPr wrap="square" lIns="0" tIns="0" rIns="0" bIns="0" rtlCol="0" anchor="ctr"/>
          <a:lstStyle/>
          <a:p>
            <a:pPr indent="0" marL="0">
              <a:lnSpc>
                <a:spcPts val="1250"/>
              </a:lnSpc>
              <a:buNone/>
            </a:pPr>
            <a:r>
              <a:rPr lang="en-US" sz="950" b="1" dirty="0">
                <a:solidFill>
                  <a:srgbClr val="10161D"/>
                </a:solidFill>
                <a:latin typeface="Calibri" pitchFamily="34" charset="0"/>
                <a:ea typeface="Calibri" pitchFamily="34" charset="-122"/>
                <a:cs typeface="Calibri" pitchFamily="34" charset="-120"/>
              </a:rPr>
              <a:t>systemd timers, not cron — </a:t>
            </a:r>
            <a:pPr indent="0" marL="0">
              <a:lnSpc>
                <a:spcPts val="1250"/>
              </a:lnSpc>
              <a:buNone/>
            </a:pPr>
            <a:r>
              <a:rPr lang="en-US" sz="950" dirty="0">
                <a:solidFill>
                  <a:srgbClr val="6B7684"/>
                </a:solidFill>
                <a:latin typeface="Calibri" pitchFamily="34" charset="0"/>
                <a:ea typeface="Calibri" pitchFamily="34" charset="-122"/>
                <a:cs typeface="Calibri" pitchFamily="34" charset="-120"/>
              </a:rPr>
              <a:t>OnCalendar, jitter control and journal integration, at no cost and no extra process.</a:t>
            </a:r>
            <a:endParaRPr lang="en-US" sz="950" dirty="0"/>
          </a:p>
        </p:txBody>
      </p:sp>
      <p:sp>
        <p:nvSpPr>
          <p:cNvPr id="44" name="Text 42"/>
          <p:cNvSpPr/>
          <p:nvPr/>
        </p:nvSpPr>
        <p:spPr>
          <a:xfrm>
            <a:off x="786384" y="5120640"/>
            <a:ext cx="1170432" cy="219456"/>
          </a:xfrm>
          <a:prstGeom prst="rect">
            <a:avLst/>
          </a:prstGeom>
          <a:noFill/>
          <a:ln/>
        </p:spPr>
        <p:txBody>
          <a:bodyPr wrap="square" lIns="0" tIns="0" rIns="0" bIns="0" rtlCol="0" anchor="ctr"/>
          <a:lstStyle/>
          <a:p>
            <a:pPr indent="0" marL="0">
              <a:buNone/>
            </a:pPr>
            <a:r>
              <a:rPr lang="en-US" sz="950" b="1" dirty="0">
                <a:solidFill>
                  <a:srgbClr val="10161D"/>
                </a:solidFill>
                <a:latin typeface="Calibri" pitchFamily="34" charset="0"/>
                <a:ea typeface="Calibri" pitchFamily="34" charset="-122"/>
                <a:cs typeface="Calibri" pitchFamily="34" charset="-120"/>
              </a:rPr>
              <a:t>Publication</a:t>
            </a:r>
            <a:endParaRPr lang="en-US" sz="950" dirty="0"/>
          </a:p>
        </p:txBody>
      </p:sp>
      <p:sp>
        <p:nvSpPr>
          <p:cNvPr id="45" name="Text 43"/>
          <p:cNvSpPr/>
          <p:nvPr/>
        </p:nvSpPr>
        <p:spPr>
          <a:xfrm>
            <a:off x="1993392" y="5102352"/>
            <a:ext cx="4736592" cy="384048"/>
          </a:xfrm>
          <a:prstGeom prst="rect">
            <a:avLst/>
          </a:prstGeom>
          <a:noFill/>
          <a:ln/>
        </p:spPr>
        <p:txBody>
          <a:bodyPr wrap="square" lIns="0" tIns="0" rIns="0" bIns="0" rtlCol="0" anchor="ctr"/>
          <a:lstStyle/>
          <a:p>
            <a:pPr indent="0" marL="0">
              <a:lnSpc>
                <a:spcPts val="1250"/>
              </a:lnSpc>
              <a:buNone/>
            </a:pPr>
            <a:r>
              <a:rPr lang="en-US" sz="950" b="1" dirty="0">
                <a:solidFill>
                  <a:srgbClr val="10161D"/>
                </a:solidFill>
                <a:latin typeface="Calibri" pitchFamily="34" charset="0"/>
                <a:ea typeface="Calibri" pitchFamily="34" charset="-122"/>
                <a:cs typeface="Calibri" pitchFamily="34" charset="-120"/>
              </a:rPr>
              <a:t>Static artifacts on Cloudflare R2 and Pages — </a:t>
            </a:r>
            <a:pPr indent="0" marL="0">
              <a:lnSpc>
                <a:spcPts val="1250"/>
              </a:lnSpc>
              <a:buNone/>
            </a:pPr>
            <a:r>
              <a:rPr lang="en-US" sz="950" dirty="0">
                <a:solidFill>
                  <a:srgbClr val="6B7684"/>
                </a:solidFill>
                <a:latin typeface="Calibri" pitchFamily="34" charset="0"/>
                <a:ea typeface="Calibri" pitchFamily="34" charset="-122"/>
                <a:cs typeface="Calibri" pitchFamily="34" charset="-120"/>
              </a:rPr>
              <a:t>The dashboard keeps serving when the free VM does not.</a:t>
            </a:r>
            <a:endParaRPr lang="en-US" sz="950" dirty="0"/>
          </a:p>
        </p:txBody>
      </p:sp>
      <p:sp>
        <p:nvSpPr>
          <p:cNvPr id="46" name="Text 44"/>
          <p:cNvSpPr/>
          <p:nvPr/>
        </p:nvSpPr>
        <p:spPr>
          <a:xfrm>
            <a:off x="786384" y="5596128"/>
            <a:ext cx="1170432" cy="219456"/>
          </a:xfrm>
          <a:prstGeom prst="rect">
            <a:avLst/>
          </a:prstGeom>
          <a:noFill/>
          <a:ln/>
        </p:spPr>
        <p:txBody>
          <a:bodyPr wrap="square" lIns="0" tIns="0" rIns="0" bIns="0" rtlCol="0" anchor="ctr"/>
          <a:lstStyle/>
          <a:p>
            <a:pPr indent="0" marL="0">
              <a:buNone/>
            </a:pPr>
            <a:r>
              <a:rPr lang="en-US" sz="950" b="1" dirty="0">
                <a:solidFill>
                  <a:srgbClr val="10161D"/>
                </a:solidFill>
                <a:latin typeface="Calibri" pitchFamily="34" charset="0"/>
                <a:ea typeface="Calibri" pitchFamily="34" charset="-122"/>
                <a:cs typeface="Calibri" pitchFamily="34" charset="-120"/>
              </a:rPr>
              <a:t>Monitoring</a:t>
            </a:r>
            <a:endParaRPr lang="en-US" sz="950" dirty="0"/>
          </a:p>
        </p:txBody>
      </p:sp>
      <p:sp>
        <p:nvSpPr>
          <p:cNvPr id="47" name="Text 45"/>
          <p:cNvSpPr/>
          <p:nvPr/>
        </p:nvSpPr>
        <p:spPr>
          <a:xfrm>
            <a:off x="1993392" y="5577840"/>
            <a:ext cx="4736592" cy="384048"/>
          </a:xfrm>
          <a:prstGeom prst="rect">
            <a:avLst/>
          </a:prstGeom>
          <a:noFill/>
          <a:ln/>
        </p:spPr>
        <p:txBody>
          <a:bodyPr wrap="square" lIns="0" tIns="0" rIns="0" bIns="0" rtlCol="0" anchor="ctr"/>
          <a:lstStyle/>
          <a:p>
            <a:pPr indent="0" marL="0">
              <a:lnSpc>
                <a:spcPts val="1250"/>
              </a:lnSpc>
              <a:buNone/>
            </a:pPr>
            <a:r>
              <a:rPr lang="en-US" sz="950" b="1" dirty="0">
                <a:solidFill>
                  <a:srgbClr val="10161D"/>
                </a:solidFill>
                <a:latin typeface="Calibri" pitchFamily="34" charset="0"/>
                <a:ea typeface="Calibri" pitchFamily="34" charset="-122"/>
                <a:cs typeface="Calibri" pitchFamily="34" charset="-120"/>
              </a:rPr>
              <a:t>Grafana Cloud Free, UptimeRobot, Telegram — </a:t>
            </a:r>
            <a:pPr indent="0" marL="0">
              <a:lnSpc>
                <a:spcPts val="1250"/>
              </a:lnSpc>
              <a:buNone/>
            </a:pPr>
            <a:r>
              <a:rPr lang="en-US" sz="950" dirty="0">
                <a:solidFill>
                  <a:srgbClr val="6B7684"/>
                </a:solidFill>
                <a:latin typeface="Calibri" pitchFamily="34" charset="0"/>
                <a:ea typeface="Calibri" pitchFamily="34" charset="-122"/>
                <a:cs typeface="Calibri" pitchFamily="34" charset="-120"/>
              </a:rPr>
              <a:t>Off-box on purpose: self-hosted monitoring dies exactly when it is needed.</a:t>
            </a:r>
            <a:endParaRPr lang="en-US" sz="950" dirty="0"/>
          </a:p>
        </p:txBody>
      </p:sp>
      <p:sp>
        <p:nvSpPr>
          <p:cNvPr id="48" name="Shape 46"/>
          <p:cNvSpPr/>
          <p:nvPr/>
        </p:nvSpPr>
        <p:spPr>
          <a:xfrm>
            <a:off x="7223760" y="2743200"/>
            <a:ext cx="4401007" cy="3429000"/>
          </a:xfrm>
          <a:prstGeom prst="roundRect">
            <a:avLst>
              <a:gd name="adj" fmla="val 1600"/>
            </a:avLst>
          </a:prstGeom>
          <a:solidFill>
            <a:srgbClr val="FFFFFF"/>
          </a:solidFill>
          <a:ln w="9525">
            <a:solidFill>
              <a:srgbClr val="D8DEE5"/>
            </a:solidFill>
            <a:prstDash val="solid"/>
          </a:ln>
        </p:spPr>
      </p:sp>
      <p:sp>
        <p:nvSpPr>
          <p:cNvPr id="49" name="Text 47"/>
          <p:cNvSpPr/>
          <p:nvPr/>
        </p:nvSpPr>
        <p:spPr>
          <a:xfrm>
            <a:off x="7443216" y="2889504"/>
            <a:ext cx="3959352" cy="219456"/>
          </a:xfrm>
          <a:prstGeom prst="rect">
            <a:avLst/>
          </a:prstGeom>
          <a:noFill/>
          <a:ln/>
        </p:spPr>
        <p:txBody>
          <a:bodyPr wrap="square" lIns="0" tIns="0" rIns="0" bIns="0" rtlCol="0" anchor="ctr"/>
          <a:lstStyle/>
          <a:p>
            <a:pPr indent="0" marL="0">
              <a:buNone/>
            </a:pPr>
            <a:r>
              <a:rPr lang="en-US" sz="950" b="1" spc="110" kern="0" dirty="0">
                <a:solidFill>
                  <a:srgbClr val="1B3A6B"/>
                </a:solidFill>
                <a:latin typeface="Calibri" pitchFamily="34" charset="0"/>
                <a:ea typeface="Calibri" pitchFamily="34" charset="-122"/>
                <a:cs typeface="Calibri" pitchFamily="34" charset="-120"/>
              </a:rPr>
              <a:t>PROVEN TODAY, IN THE REPOSITORY</a:t>
            </a:r>
            <a:endParaRPr lang="en-US" sz="950" dirty="0"/>
          </a:p>
        </p:txBody>
      </p:sp>
      <p:sp>
        <p:nvSpPr>
          <p:cNvPr id="50" name="Text 48"/>
          <p:cNvSpPr/>
          <p:nvPr/>
        </p:nvSpPr>
        <p:spPr>
          <a:xfrm>
            <a:off x="7443216" y="3182112"/>
            <a:ext cx="3959352" cy="1627632"/>
          </a:xfrm>
          <a:prstGeom prst="rect">
            <a:avLst/>
          </a:prstGeom>
          <a:noFill/>
          <a:ln/>
        </p:spPr>
        <p:txBody>
          <a:bodyPr wrap="square" lIns="0" tIns="0" rIns="0" bIns="0" rtlCol="0" anchor="ctr"/>
          <a:lstStyle/>
          <a:p>
            <a:pPr marL="139700" indent="-139700">
              <a:lnSpc>
                <a:spcPts val="1400"/>
              </a:lnSpc>
              <a:spcAft>
                <a:spcPts val="700"/>
              </a:spcAft>
              <a:buSzPct val="100000"/>
              <a:buChar char="•"/>
            </a:pPr>
            <a:r>
              <a:rPr lang="en-US" sz="1000" dirty="0">
                <a:solidFill>
                  <a:srgbClr val="4C5764"/>
                </a:solidFill>
                <a:latin typeface="Calibri" pitchFamily="34" charset="0"/>
                <a:ea typeface="Calibri" pitchFamily="34" charset="-122"/>
                <a:cs typeface="Calibri" pitchFamily="34" charset="-120"/>
              </a:rPr>
              <a:t>148 tests passing, 7 skipped without a live Postgres</a:t>
            </a:r>
            <a:endParaRPr lang="en-US" sz="1000" dirty="0"/>
          </a:p>
          <a:p>
            <a:pPr marL="139700" indent="-139700">
              <a:lnSpc>
                <a:spcPts val="1400"/>
              </a:lnSpc>
              <a:spcAft>
                <a:spcPts val="700"/>
              </a:spcAft>
              <a:buSzPct val="100000"/>
              <a:buChar char="•"/>
            </a:pPr>
            <a:r>
              <a:rPr lang="en-US" sz="1000" dirty="0">
                <a:solidFill>
                  <a:srgbClr val="4C5764"/>
                </a:solidFill>
                <a:latin typeface="Calibri" pitchFamily="34" charset="0"/>
                <a:ea typeface="Calibri" pitchFamily="34" charset="-122"/>
                <a:cs typeface="Calibri" pitchFamily="34" charset="-120"/>
              </a:rPr>
              <a:t>~4,500 lines across 20 modules, lint-clean</a:t>
            </a:r>
            <a:endParaRPr lang="en-US" sz="1000" dirty="0"/>
          </a:p>
          <a:p>
            <a:pPr marL="139700" indent="-139700">
              <a:lnSpc>
                <a:spcPts val="1400"/>
              </a:lnSpc>
              <a:spcAft>
                <a:spcPts val="700"/>
              </a:spcAft>
              <a:buSzPct val="100000"/>
              <a:buChar char="•"/>
            </a:pPr>
            <a:r>
              <a:rPr lang="en-US" sz="1000" dirty="0">
                <a:solidFill>
                  <a:srgbClr val="4C5764"/>
                </a:solidFill>
                <a:latin typeface="Calibri" pitchFamily="34" charset="0"/>
                <a:ea typeface="Calibri" pitchFamily="34" charset="-122"/>
                <a:cs typeface="Calibri" pitchFamily="34" charset="-120"/>
              </a:rPr>
              <a:t>UPDATE, DELETE and TRUNCATE blocked on the raw quote table by database trigger</a:t>
            </a:r>
            <a:endParaRPr lang="en-US" sz="1000" dirty="0"/>
          </a:p>
          <a:p>
            <a:pPr marL="139700" indent="-139700">
              <a:lnSpc>
                <a:spcPts val="1400"/>
              </a:lnSpc>
              <a:spcAft>
                <a:spcPts val="700"/>
              </a:spcAft>
              <a:buSzPct val="100000"/>
              <a:buChar char="•"/>
            </a:pPr>
            <a:r>
              <a:rPr lang="en-US" sz="1000" dirty="0">
                <a:solidFill>
                  <a:srgbClr val="4C5764"/>
                </a:solidFill>
                <a:latin typeface="Calibri" pitchFamily="34" charset="0"/>
                <a:ea typeface="Calibri" pitchFamily="34" charset="-122"/>
                <a:cs typeface="Calibri" pitchFamily="34" charset="-120"/>
              </a:rPr>
              <a:t>11 golden tests freeze the published numbers</a:t>
            </a:r>
            <a:endParaRPr lang="en-US" sz="1000" dirty="0"/>
          </a:p>
          <a:p>
            <a:pPr marL="139700" indent="-139700">
              <a:lnSpc>
                <a:spcPts val="1400"/>
              </a:lnSpc>
              <a:spcAft>
                <a:spcPts val="700"/>
              </a:spcAft>
              <a:buSzPct val="100000"/>
              <a:buChar char="•"/>
            </a:pPr>
            <a:r>
              <a:rPr lang="en-US" sz="1000" dirty="0">
                <a:solidFill>
                  <a:srgbClr val="4C5764"/>
                </a:solidFill>
                <a:latin typeface="Calibri" pitchFamily="34" charset="0"/>
                <a:ea typeface="Calibri" pitchFamily="34" charset="-122"/>
                <a:cs typeface="Calibri" pitchFamily="34" charset="-120"/>
              </a:rPr>
              <a:t>CI re-verifies the hashes nightly at 02:00 IST</a:t>
            </a:r>
            <a:endParaRPr lang="en-US" sz="1000" dirty="0"/>
          </a:p>
        </p:txBody>
      </p:sp>
      <p:sp>
        <p:nvSpPr>
          <p:cNvPr id="51" name="Shape 49"/>
          <p:cNvSpPr/>
          <p:nvPr/>
        </p:nvSpPr>
        <p:spPr>
          <a:xfrm>
            <a:off x="7443216" y="4892040"/>
            <a:ext cx="3959352" cy="1188720"/>
          </a:xfrm>
          <a:prstGeom prst="roundRect">
            <a:avLst>
              <a:gd name="adj" fmla="val 4615"/>
            </a:avLst>
          </a:prstGeom>
          <a:solidFill>
            <a:srgbClr val="0E1A2B"/>
          </a:solidFill>
          <a:ln/>
        </p:spPr>
      </p:sp>
      <p:sp>
        <p:nvSpPr>
          <p:cNvPr id="52" name="Text 50"/>
          <p:cNvSpPr/>
          <p:nvPr/>
        </p:nvSpPr>
        <p:spPr>
          <a:xfrm>
            <a:off x="7589520" y="5010912"/>
            <a:ext cx="3666744" cy="969264"/>
          </a:xfrm>
          <a:prstGeom prst="rect">
            <a:avLst/>
          </a:prstGeom>
          <a:noFill/>
          <a:ln/>
        </p:spPr>
        <p:txBody>
          <a:bodyPr wrap="square" lIns="0" tIns="0" rIns="0" bIns="0" rtlCol="0" anchor="ctr"/>
          <a:lstStyle/>
          <a:p>
            <a:pPr indent="0" marL="0">
              <a:lnSpc>
                <a:spcPts val="1350"/>
              </a:lnSpc>
              <a:buNone/>
            </a:pPr>
            <a:r>
              <a:rPr lang="en-US" sz="850" dirty="0">
                <a:solidFill>
                  <a:srgbClr val="6FC49B"/>
                </a:solidFill>
                <a:latin typeface="Courier New" pitchFamily="34" charset="0"/>
                <a:ea typeface="Courier New" pitchFamily="34" charset="-122"/>
                <a:cs typeface="Courier New" pitchFamily="34" charset="-120"/>
              </a:rPr>
              <a:t>$ aerodex verify</a:t>
            </a:r>
            <a:endParaRPr lang="en-US" sz="850" dirty="0"/>
          </a:p>
          <a:p>
            <a:pPr indent="0" marL="0">
              <a:lnSpc>
                <a:spcPts val="1350"/>
              </a:lnSpc>
              <a:buNone/>
            </a:pPr>
            <a:r>
              <a:rPr lang="en-US" sz="850" dirty="0">
                <a:solidFill>
                  <a:srgbClr val="A9BBD3"/>
                </a:solidFill>
                <a:latin typeface="Courier New" pitchFamily="34" charset="0"/>
                <a:ea typeface="Courier New" pitchFamily="34" charset="-122"/>
                <a:cs typeface="Courier New" pitchFamily="34" charset="-120"/>
              </a:rPr>
              <a:t>unweighted expected  fd948eae…c737b  OK</a:t>
            </a:r>
            <a:endParaRPr lang="en-US" sz="850" dirty="0"/>
          </a:p>
          <a:p>
            <a:pPr indent="0" marL="0">
              <a:lnSpc>
                <a:spcPts val="1350"/>
              </a:lnSpc>
              <a:buNone/>
            </a:pPr>
            <a:r>
              <a:rPr lang="en-US" sz="850" dirty="0">
                <a:solidFill>
                  <a:srgbClr val="A9BBD3"/>
                </a:solidFill>
                <a:latin typeface="Courier New" pitchFamily="34" charset="0"/>
                <a:ea typeface="Courier New" pitchFamily="34" charset="-122"/>
                <a:cs typeface="Courier New" pitchFamily="34" charset="-120"/>
              </a:rPr>
              <a:t>weighted   expected  9dce6946…3ab69  OK</a:t>
            </a:r>
            <a:endParaRPr lang="en-US" sz="850" dirty="0"/>
          </a:p>
          <a:p>
            <a:pPr indent="0" marL="0">
              <a:lnSpc>
                <a:spcPts val="1350"/>
              </a:lnSpc>
              <a:buNone/>
            </a:pPr>
            <a:r>
              <a:rPr lang="en-US" sz="850" b="1" dirty="0">
                <a:solidFill>
                  <a:srgbClr val="6FC49B"/>
                </a:solidFill>
                <a:latin typeface="Courier New" pitchFamily="34" charset="0"/>
                <a:ea typeface="Courier New" pitchFamily="34" charset="-122"/>
                <a:cs typeface="Courier New" pitchFamily="34" charset="-120"/>
              </a:rPr>
              <a:t>REPRODUCIBLE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475488"/>
            <a:ext cx="402336" cy="402336"/>
          </a:xfrm>
          <a:prstGeom prst="roundRect">
            <a:avLst>
              <a:gd name="adj" fmla="val 11364"/>
            </a:avLst>
          </a:prstGeom>
          <a:solidFill>
            <a:srgbClr val="2F5C9E"/>
          </a:solidFill>
          <a:ln/>
        </p:spPr>
      </p:sp>
      <p:sp>
        <p:nvSpPr>
          <p:cNvPr id="3" name="Text 1"/>
          <p:cNvSpPr/>
          <p:nvPr/>
        </p:nvSpPr>
        <p:spPr>
          <a:xfrm>
            <a:off x="566928" y="4754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4" name="Text 2"/>
          <p:cNvSpPr/>
          <p:nvPr/>
        </p:nvSpPr>
        <p:spPr>
          <a:xfrm>
            <a:off x="1088136" y="420624"/>
            <a:ext cx="6583680" cy="51206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Feasibility and Viability</a:t>
            </a:r>
            <a:endParaRPr lang="en-US" sz="3100" dirty="0"/>
          </a:p>
        </p:txBody>
      </p:sp>
      <p:sp>
        <p:nvSpPr>
          <p:cNvPr id="5" name="Text 3"/>
          <p:cNvSpPr/>
          <p:nvPr/>
        </p:nvSpPr>
        <p:spPr>
          <a:xfrm>
            <a:off x="6400800" y="457200"/>
            <a:ext cx="5223967" cy="438912"/>
          </a:xfrm>
          <a:prstGeom prst="rect">
            <a:avLst/>
          </a:prstGeom>
          <a:noFill/>
          <a:ln/>
        </p:spPr>
        <p:txBody>
          <a:bodyPr wrap="square" lIns="0" tIns="0" rIns="0" bIns="0" rtlCol="0" anchor="ctr"/>
          <a:lstStyle/>
          <a:p>
            <a:pPr algn="r" indent="0" marL="0">
              <a:buNone/>
            </a:pPr>
            <a:r>
              <a:rPr lang="en-US" sz="950" spc="30" kern="0" dirty="0">
                <a:solidFill>
                  <a:srgbClr val="7E93AE"/>
                </a:solidFill>
                <a:latin typeface="Calibri" pitchFamily="34" charset="0"/>
                <a:ea typeface="Calibri" pitchFamily="34" charset="-122"/>
                <a:cs typeface="Calibri" pitchFamily="34" charset="-120"/>
              </a:rPr>
              <a:t>Spike S3  ·  four passes  ·  40+ sources  ·  nine axes each</a:t>
            </a:r>
            <a:endParaRPr lang="en-US" sz="950" dirty="0"/>
          </a:p>
        </p:txBody>
      </p:sp>
      <p:sp>
        <p:nvSpPr>
          <p:cNvPr id="6" name="Text 4"/>
          <p:cNvSpPr/>
          <p:nvPr/>
        </p:nvSpPr>
        <p:spPr>
          <a:xfrm>
            <a:off x="566928" y="1133856"/>
            <a:ext cx="4069080" cy="256032"/>
          </a:xfrm>
          <a:prstGeom prst="rect">
            <a:avLst/>
          </a:prstGeom>
          <a:noFill/>
          <a:ln/>
        </p:spPr>
        <p:txBody>
          <a:bodyPr wrap="square" lIns="0" tIns="0" rIns="0" bIns="0" rtlCol="0" anchor="ctr"/>
          <a:lstStyle/>
          <a:p>
            <a:pPr indent="0" marL="0">
              <a:buNone/>
            </a:pPr>
            <a:r>
              <a:rPr lang="en-US" sz="800" b="1" spc="90" kern="0" dirty="0">
                <a:solidFill>
                  <a:srgbClr val="7E93AE"/>
                </a:solidFill>
                <a:latin typeface="Calibri" pitchFamily="34" charset="0"/>
                <a:ea typeface="Calibri" pitchFamily="34" charset="-122"/>
                <a:cs typeface="Calibri" pitchFamily="34" charset="-120"/>
              </a:rPr>
              <a:t>SOURCE CLASS</a:t>
            </a:r>
            <a:endParaRPr lang="en-US" sz="800" dirty="0"/>
          </a:p>
        </p:txBody>
      </p:sp>
      <p:sp>
        <p:nvSpPr>
          <p:cNvPr id="7" name="Text 5"/>
          <p:cNvSpPr/>
          <p:nvPr/>
        </p:nvSpPr>
        <p:spPr>
          <a:xfrm>
            <a:off x="4727448" y="1133856"/>
            <a:ext cx="1325880" cy="256032"/>
          </a:xfrm>
          <a:prstGeom prst="rect">
            <a:avLst/>
          </a:prstGeom>
          <a:noFill/>
          <a:ln/>
        </p:spPr>
        <p:txBody>
          <a:bodyPr wrap="square" lIns="0" tIns="0" rIns="0" bIns="0" rtlCol="0" anchor="ctr"/>
          <a:lstStyle/>
          <a:p>
            <a:pPr indent="0" marL="0">
              <a:buNone/>
            </a:pPr>
            <a:r>
              <a:rPr lang="en-US" sz="800" b="1" spc="90" kern="0" dirty="0">
                <a:solidFill>
                  <a:srgbClr val="7E93AE"/>
                </a:solidFill>
                <a:latin typeface="Calibri" pitchFamily="34" charset="0"/>
                <a:ea typeface="Calibri" pitchFamily="34" charset="-122"/>
                <a:cs typeface="Calibri" pitchFamily="34" charset="-120"/>
              </a:rPr>
              <a:t>HORIZON?</a:t>
            </a:r>
            <a:endParaRPr lang="en-US" sz="800" dirty="0"/>
          </a:p>
        </p:txBody>
      </p:sp>
      <p:sp>
        <p:nvSpPr>
          <p:cNvPr id="8" name="Text 6"/>
          <p:cNvSpPr/>
          <p:nvPr/>
        </p:nvSpPr>
        <p:spPr>
          <a:xfrm>
            <a:off x="6144768" y="1133856"/>
            <a:ext cx="1874520" cy="256032"/>
          </a:xfrm>
          <a:prstGeom prst="rect">
            <a:avLst/>
          </a:prstGeom>
          <a:noFill/>
          <a:ln/>
        </p:spPr>
        <p:txBody>
          <a:bodyPr wrap="square" lIns="0" tIns="0" rIns="0" bIns="0" rtlCol="0" anchor="ctr"/>
          <a:lstStyle/>
          <a:p>
            <a:pPr indent="0" marL="0">
              <a:buNone/>
            </a:pPr>
            <a:r>
              <a:rPr lang="en-US" sz="800" b="1" spc="90" kern="0" dirty="0">
                <a:solidFill>
                  <a:srgbClr val="7E93AE"/>
                </a:solidFill>
                <a:latin typeface="Calibri" pitchFamily="34" charset="0"/>
                <a:ea typeface="Calibri" pitchFamily="34" charset="-122"/>
                <a:cs typeface="Calibri" pitchFamily="34" charset="-120"/>
              </a:rPr>
              <a:t>AUTOMATION PERMITTED?</a:t>
            </a:r>
            <a:endParaRPr lang="en-US" sz="800" dirty="0"/>
          </a:p>
        </p:txBody>
      </p:sp>
      <p:sp>
        <p:nvSpPr>
          <p:cNvPr id="9" name="Text 7"/>
          <p:cNvSpPr/>
          <p:nvPr/>
        </p:nvSpPr>
        <p:spPr>
          <a:xfrm>
            <a:off x="8110728" y="1133856"/>
            <a:ext cx="3514039" cy="256032"/>
          </a:xfrm>
          <a:prstGeom prst="rect">
            <a:avLst/>
          </a:prstGeom>
          <a:noFill/>
          <a:ln/>
        </p:spPr>
        <p:txBody>
          <a:bodyPr wrap="square" lIns="0" tIns="0" rIns="0" bIns="0" rtlCol="0" anchor="ctr"/>
          <a:lstStyle/>
          <a:p>
            <a:pPr indent="0" marL="0">
              <a:buNone/>
            </a:pPr>
            <a:r>
              <a:rPr lang="en-US" sz="800" b="1" spc="90" kern="0" dirty="0">
                <a:solidFill>
                  <a:srgbClr val="7E93AE"/>
                </a:solidFill>
                <a:latin typeface="Calibri" pitchFamily="34" charset="0"/>
                <a:ea typeface="Calibri" pitchFamily="34" charset="-122"/>
                <a:cs typeface="Calibri" pitchFamily="34" charset="-120"/>
              </a:rPr>
              <a:t>DISPOSITION</a:t>
            </a:r>
            <a:endParaRPr lang="en-US" sz="800" dirty="0"/>
          </a:p>
        </p:txBody>
      </p:sp>
      <p:sp>
        <p:nvSpPr>
          <p:cNvPr id="10" name="Shape 8"/>
          <p:cNvSpPr/>
          <p:nvPr/>
        </p:nvSpPr>
        <p:spPr>
          <a:xfrm>
            <a:off x="475488" y="1426464"/>
            <a:ext cx="11240719" cy="306324"/>
          </a:xfrm>
          <a:prstGeom prst="rect">
            <a:avLst/>
          </a:prstGeom>
          <a:solidFill>
            <a:srgbClr val="13223A"/>
          </a:solidFill>
          <a:ln/>
        </p:spPr>
      </p:sp>
      <p:sp>
        <p:nvSpPr>
          <p:cNvPr id="11" name="Text 9"/>
          <p:cNvSpPr/>
          <p:nvPr/>
        </p:nvSpPr>
        <p:spPr>
          <a:xfrm>
            <a:off x="566928" y="1426464"/>
            <a:ext cx="4069080" cy="30632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OTAs — MakeMyTrip, Cleartrip, ixigo, Yatra, EaseMyTrip</a:t>
            </a:r>
            <a:endParaRPr lang="en-US" sz="950" dirty="0"/>
          </a:p>
        </p:txBody>
      </p:sp>
      <p:sp>
        <p:nvSpPr>
          <p:cNvPr id="12" name="Text 10"/>
          <p:cNvSpPr/>
          <p:nvPr/>
        </p:nvSpPr>
        <p:spPr>
          <a:xfrm>
            <a:off x="4727448" y="1426464"/>
            <a:ext cx="1325880" cy="306324"/>
          </a:xfrm>
          <a:prstGeom prst="rect">
            <a:avLst/>
          </a:prstGeom>
          <a:noFill/>
          <a:ln/>
        </p:spPr>
        <p:txBody>
          <a:bodyPr wrap="square" lIns="0" tIns="0" rIns="0" bIns="0" rtlCol="0" anchor="ctr"/>
          <a:lstStyle/>
          <a:p>
            <a:pPr indent="0" marL="0">
              <a:buNone/>
            </a:pPr>
            <a:r>
              <a:rPr lang="en-US" sz="950" dirty="0">
                <a:solidFill>
                  <a:srgbClr val="A9BBD3"/>
                </a:solidFill>
                <a:latin typeface="Calibri" pitchFamily="34" charset="0"/>
                <a:ea typeface="Calibri" pitchFamily="34" charset="-122"/>
                <a:cs typeface="Calibri" pitchFamily="34" charset="-120"/>
              </a:rPr>
              <a:t>Yes</a:t>
            </a:r>
            <a:endParaRPr lang="en-US" sz="950" dirty="0"/>
          </a:p>
        </p:txBody>
      </p:sp>
      <p:sp>
        <p:nvSpPr>
          <p:cNvPr id="13" name="Text 11"/>
          <p:cNvSpPr/>
          <p:nvPr/>
        </p:nvSpPr>
        <p:spPr>
          <a:xfrm>
            <a:off x="6144768" y="1426464"/>
            <a:ext cx="1874520" cy="306324"/>
          </a:xfrm>
          <a:prstGeom prst="rect">
            <a:avLst/>
          </a:prstGeom>
          <a:noFill/>
          <a:ln/>
        </p:spPr>
        <p:txBody>
          <a:bodyPr wrap="square" lIns="0" tIns="0" rIns="0" bIns="0" rtlCol="0" anchor="ctr"/>
          <a:lstStyle/>
          <a:p>
            <a:pPr indent="0" marL="0">
              <a:buNone/>
            </a:pPr>
            <a:r>
              <a:rPr lang="en-US" sz="950" dirty="0">
                <a:solidFill>
                  <a:srgbClr val="A9BBD3"/>
                </a:solidFill>
                <a:latin typeface="Calibri" pitchFamily="34" charset="0"/>
                <a:ea typeface="Calibri" pitchFamily="34" charset="-122"/>
                <a:cs typeface="Calibri" pitchFamily="34" charset="-120"/>
              </a:rPr>
              <a:t>No — terms bar it</a:t>
            </a:r>
            <a:endParaRPr lang="en-US" sz="950" dirty="0"/>
          </a:p>
        </p:txBody>
      </p:sp>
      <p:sp>
        <p:nvSpPr>
          <p:cNvPr id="14" name="Text 12"/>
          <p:cNvSpPr/>
          <p:nvPr/>
        </p:nvSpPr>
        <p:spPr>
          <a:xfrm>
            <a:off x="8110728" y="1426464"/>
            <a:ext cx="3514039" cy="306324"/>
          </a:xfrm>
          <a:prstGeom prst="rect">
            <a:avLst/>
          </a:prstGeom>
          <a:noFill/>
          <a:ln/>
        </p:spPr>
        <p:txBody>
          <a:bodyPr wrap="square" lIns="0" tIns="0" rIns="0" bIns="0" rtlCol="0" anchor="ctr"/>
          <a:lstStyle/>
          <a:p>
            <a:pPr indent="0" marL="0">
              <a:buNone/>
            </a:pPr>
            <a:r>
              <a:rPr lang="en-US" sz="950" b="1" dirty="0">
                <a:solidFill>
                  <a:srgbClr val="E08B7C"/>
                </a:solidFill>
                <a:latin typeface="Calibri" pitchFamily="34" charset="0"/>
                <a:ea typeface="Calibri" pitchFamily="34" charset="-122"/>
                <a:cs typeface="Calibri" pitchFamily="34" charset="-120"/>
              </a:rPr>
              <a:t>RED · terms prohibit systematic retrieval</a:t>
            </a:r>
            <a:endParaRPr lang="en-US" sz="950" dirty="0"/>
          </a:p>
        </p:txBody>
      </p:sp>
      <p:sp>
        <p:nvSpPr>
          <p:cNvPr id="15" name="Text 13"/>
          <p:cNvSpPr/>
          <p:nvPr/>
        </p:nvSpPr>
        <p:spPr>
          <a:xfrm>
            <a:off x="566928" y="1732788"/>
            <a:ext cx="4069080" cy="30632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Airline tariff sheets (Rule 135, Aircraft Rules 1937)</a:t>
            </a:r>
            <a:endParaRPr lang="en-US" sz="950" dirty="0"/>
          </a:p>
        </p:txBody>
      </p:sp>
      <p:sp>
        <p:nvSpPr>
          <p:cNvPr id="16" name="Text 14"/>
          <p:cNvSpPr/>
          <p:nvPr/>
        </p:nvSpPr>
        <p:spPr>
          <a:xfrm>
            <a:off x="4727448" y="1732788"/>
            <a:ext cx="1325880" cy="306324"/>
          </a:xfrm>
          <a:prstGeom prst="rect">
            <a:avLst/>
          </a:prstGeom>
          <a:noFill/>
          <a:ln/>
        </p:spPr>
        <p:txBody>
          <a:bodyPr wrap="square" lIns="0" tIns="0" rIns="0" bIns="0" rtlCol="0" anchor="ctr"/>
          <a:lstStyle/>
          <a:p>
            <a:pPr indent="0" marL="0">
              <a:buNone/>
            </a:pPr>
            <a:r>
              <a:rPr lang="en-US" sz="950" dirty="0">
                <a:solidFill>
                  <a:srgbClr val="A9BBD3"/>
                </a:solidFill>
                <a:latin typeface="Calibri" pitchFamily="34" charset="0"/>
                <a:ea typeface="Calibri" pitchFamily="34" charset="-122"/>
                <a:cs typeface="Calibri" pitchFamily="34" charset="-120"/>
              </a:rPr>
              <a:t>No</a:t>
            </a:r>
            <a:endParaRPr lang="en-US" sz="950" dirty="0"/>
          </a:p>
        </p:txBody>
      </p:sp>
      <p:sp>
        <p:nvSpPr>
          <p:cNvPr id="17" name="Text 15"/>
          <p:cNvSpPr/>
          <p:nvPr/>
        </p:nvSpPr>
        <p:spPr>
          <a:xfrm>
            <a:off x="6144768" y="1732788"/>
            <a:ext cx="1874520" cy="306324"/>
          </a:xfrm>
          <a:prstGeom prst="rect">
            <a:avLst/>
          </a:prstGeom>
          <a:noFill/>
          <a:ln/>
        </p:spPr>
        <p:txBody>
          <a:bodyPr wrap="square" lIns="0" tIns="0" rIns="0" bIns="0" rtlCol="0" anchor="ctr"/>
          <a:lstStyle/>
          <a:p>
            <a:pPr indent="0" marL="0">
              <a:buNone/>
            </a:pPr>
            <a:r>
              <a:rPr lang="en-US" sz="950" dirty="0">
                <a:solidFill>
                  <a:srgbClr val="A9BBD3"/>
                </a:solidFill>
                <a:latin typeface="Calibri" pitchFamily="34" charset="0"/>
                <a:ea typeface="Calibri" pitchFamily="34" charset="-122"/>
                <a:cs typeface="Calibri" pitchFamily="34" charset="-120"/>
              </a:rPr>
              <a:t>4 of 5 fail our robots gate</a:t>
            </a:r>
            <a:endParaRPr lang="en-US" sz="950" dirty="0"/>
          </a:p>
        </p:txBody>
      </p:sp>
      <p:sp>
        <p:nvSpPr>
          <p:cNvPr id="18" name="Text 16"/>
          <p:cNvSpPr/>
          <p:nvPr/>
        </p:nvSpPr>
        <p:spPr>
          <a:xfrm>
            <a:off x="8110728" y="1732788"/>
            <a:ext cx="3514039" cy="306324"/>
          </a:xfrm>
          <a:prstGeom prst="rect">
            <a:avLst/>
          </a:prstGeom>
          <a:noFill/>
          <a:ln/>
        </p:spPr>
        <p:txBody>
          <a:bodyPr wrap="square" lIns="0" tIns="0" rIns="0" bIns="0" rtlCol="0" anchor="ctr"/>
          <a:lstStyle/>
          <a:p>
            <a:pPr indent="0" marL="0">
              <a:buNone/>
            </a:pPr>
            <a:r>
              <a:rPr lang="en-US" sz="950" b="1" dirty="0">
                <a:solidFill>
                  <a:srgbClr val="D99A4A"/>
                </a:solidFill>
                <a:latin typeface="Calibri" pitchFamily="34" charset="0"/>
                <a:ea typeface="Calibri" pitchFamily="34" charset="-122"/>
                <a:cs typeface="Calibri" pitchFamily="34" charset="-120"/>
              </a:rPr>
              <a:t>ORANGE · validation only; killed as an index source</a:t>
            </a:r>
            <a:endParaRPr lang="en-US" sz="950" dirty="0"/>
          </a:p>
        </p:txBody>
      </p:sp>
      <p:sp>
        <p:nvSpPr>
          <p:cNvPr id="19" name="Shape 17"/>
          <p:cNvSpPr/>
          <p:nvPr/>
        </p:nvSpPr>
        <p:spPr>
          <a:xfrm>
            <a:off x="475488" y="2039112"/>
            <a:ext cx="11240719" cy="306324"/>
          </a:xfrm>
          <a:prstGeom prst="rect">
            <a:avLst/>
          </a:prstGeom>
          <a:solidFill>
            <a:srgbClr val="13223A"/>
          </a:solidFill>
          <a:ln/>
        </p:spPr>
      </p:sp>
      <p:sp>
        <p:nvSpPr>
          <p:cNvPr id="20" name="Text 18"/>
          <p:cNvSpPr/>
          <p:nvPr/>
        </p:nvSpPr>
        <p:spPr>
          <a:xfrm>
            <a:off x="566928" y="2039112"/>
            <a:ext cx="4069080" cy="30632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Sanctioned APIs — Duffel, Travelpayouts, Amadeus</a:t>
            </a:r>
            <a:endParaRPr lang="en-US" sz="950" dirty="0"/>
          </a:p>
        </p:txBody>
      </p:sp>
      <p:sp>
        <p:nvSpPr>
          <p:cNvPr id="21" name="Text 19"/>
          <p:cNvSpPr/>
          <p:nvPr/>
        </p:nvSpPr>
        <p:spPr>
          <a:xfrm>
            <a:off x="4727448" y="2039112"/>
            <a:ext cx="1325880" cy="306324"/>
          </a:xfrm>
          <a:prstGeom prst="rect">
            <a:avLst/>
          </a:prstGeom>
          <a:noFill/>
          <a:ln/>
        </p:spPr>
        <p:txBody>
          <a:bodyPr wrap="square" lIns="0" tIns="0" rIns="0" bIns="0" rtlCol="0" anchor="ctr"/>
          <a:lstStyle/>
          <a:p>
            <a:pPr indent="0" marL="0">
              <a:buNone/>
            </a:pPr>
            <a:r>
              <a:rPr lang="en-US" sz="950" dirty="0">
                <a:solidFill>
                  <a:srgbClr val="A9BBD3"/>
                </a:solidFill>
                <a:latin typeface="Calibri" pitchFamily="34" charset="0"/>
                <a:ea typeface="Calibri" pitchFamily="34" charset="-122"/>
                <a:cs typeface="Calibri" pitchFamily="34" charset="-120"/>
              </a:rPr>
              <a:t>Yes</a:t>
            </a:r>
            <a:endParaRPr lang="en-US" sz="950" dirty="0"/>
          </a:p>
        </p:txBody>
      </p:sp>
      <p:sp>
        <p:nvSpPr>
          <p:cNvPr id="22" name="Text 20"/>
          <p:cNvSpPr/>
          <p:nvPr/>
        </p:nvSpPr>
        <p:spPr>
          <a:xfrm>
            <a:off x="6144768" y="2039112"/>
            <a:ext cx="1874520" cy="306324"/>
          </a:xfrm>
          <a:prstGeom prst="rect">
            <a:avLst/>
          </a:prstGeom>
          <a:noFill/>
          <a:ln/>
        </p:spPr>
        <p:txBody>
          <a:bodyPr wrap="square" lIns="0" tIns="0" rIns="0" bIns="0" rtlCol="0" anchor="ctr"/>
          <a:lstStyle/>
          <a:p>
            <a:pPr indent="0" marL="0">
              <a:buNone/>
            </a:pPr>
            <a:r>
              <a:rPr lang="en-US" sz="950" dirty="0">
                <a:solidFill>
                  <a:srgbClr val="A9BBD3"/>
                </a:solidFill>
                <a:latin typeface="Calibri" pitchFamily="34" charset="0"/>
                <a:ea typeface="Calibri" pitchFamily="34" charset="-122"/>
                <a:cs typeface="Calibri" pitchFamily="34" charset="-120"/>
              </a:rPr>
              <a:t>No — contractual, or dead</a:t>
            </a:r>
            <a:endParaRPr lang="en-US" sz="950" dirty="0"/>
          </a:p>
        </p:txBody>
      </p:sp>
      <p:sp>
        <p:nvSpPr>
          <p:cNvPr id="23" name="Text 21"/>
          <p:cNvSpPr/>
          <p:nvPr/>
        </p:nvSpPr>
        <p:spPr>
          <a:xfrm>
            <a:off x="8110728" y="2039112"/>
            <a:ext cx="3514039" cy="306324"/>
          </a:xfrm>
          <a:prstGeom prst="rect">
            <a:avLst/>
          </a:prstGeom>
          <a:noFill/>
          <a:ln/>
        </p:spPr>
        <p:txBody>
          <a:bodyPr wrap="square" lIns="0" tIns="0" rIns="0" bIns="0" rtlCol="0" anchor="ctr"/>
          <a:lstStyle/>
          <a:p>
            <a:pPr indent="0" marL="0">
              <a:buNone/>
            </a:pPr>
            <a:r>
              <a:rPr lang="en-US" sz="950" b="1" dirty="0">
                <a:solidFill>
                  <a:srgbClr val="E08B7C"/>
                </a:solidFill>
                <a:latin typeface="Calibri" pitchFamily="34" charset="0"/>
                <a:ea typeface="Calibri" pitchFamily="34" charset="-122"/>
                <a:cs typeface="Calibri" pitchFamily="34" charset="-120"/>
              </a:rPr>
              <a:t>RED · Amadeus decommissioned 17 Jul 2026</a:t>
            </a:r>
            <a:endParaRPr lang="en-US" sz="950" dirty="0"/>
          </a:p>
        </p:txBody>
      </p:sp>
      <p:sp>
        <p:nvSpPr>
          <p:cNvPr id="24" name="Text 22"/>
          <p:cNvSpPr/>
          <p:nvPr/>
        </p:nvSpPr>
        <p:spPr>
          <a:xfrm>
            <a:off x="566928" y="2345436"/>
            <a:ext cx="4069080" cy="30632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NDC aggregators and B2B consolidators</a:t>
            </a:r>
            <a:endParaRPr lang="en-US" sz="950" dirty="0"/>
          </a:p>
        </p:txBody>
      </p:sp>
      <p:sp>
        <p:nvSpPr>
          <p:cNvPr id="25" name="Text 23"/>
          <p:cNvSpPr/>
          <p:nvPr/>
        </p:nvSpPr>
        <p:spPr>
          <a:xfrm>
            <a:off x="4727448" y="2345436"/>
            <a:ext cx="1325880" cy="306324"/>
          </a:xfrm>
          <a:prstGeom prst="rect">
            <a:avLst/>
          </a:prstGeom>
          <a:noFill/>
          <a:ln/>
        </p:spPr>
        <p:txBody>
          <a:bodyPr wrap="square" lIns="0" tIns="0" rIns="0" bIns="0" rtlCol="0" anchor="ctr"/>
          <a:lstStyle/>
          <a:p>
            <a:pPr indent="0" marL="0">
              <a:buNone/>
            </a:pPr>
            <a:r>
              <a:rPr lang="en-US" sz="950" dirty="0">
                <a:solidFill>
                  <a:srgbClr val="A9BBD3"/>
                </a:solidFill>
                <a:latin typeface="Calibri" pitchFamily="34" charset="0"/>
                <a:ea typeface="Calibri" pitchFamily="34" charset="-122"/>
                <a:cs typeface="Calibri" pitchFamily="34" charset="-120"/>
              </a:rPr>
              <a:t>Yes</a:t>
            </a:r>
            <a:endParaRPr lang="en-US" sz="950" dirty="0"/>
          </a:p>
        </p:txBody>
      </p:sp>
      <p:sp>
        <p:nvSpPr>
          <p:cNvPr id="26" name="Text 24"/>
          <p:cNvSpPr/>
          <p:nvPr/>
        </p:nvSpPr>
        <p:spPr>
          <a:xfrm>
            <a:off x="6144768" y="2345436"/>
            <a:ext cx="1874520" cy="306324"/>
          </a:xfrm>
          <a:prstGeom prst="rect">
            <a:avLst/>
          </a:prstGeom>
          <a:noFill/>
          <a:ln/>
        </p:spPr>
        <p:txBody>
          <a:bodyPr wrap="square" lIns="0" tIns="0" rIns="0" bIns="0" rtlCol="0" anchor="ctr"/>
          <a:lstStyle/>
          <a:p>
            <a:pPr indent="0" marL="0">
              <a:buNone/>
            </a:pPr>
            <a:r>
              <a:rPr lang="en-US" sz="950" dirty="0">
                <a:solidFill>
                  <a:srgbClr val="A9BBD3"/>
                </a:solidFill>
                <a:latin typeface="Calibri" pitchFamily="34" charset="0"/>
                <a:ea typeface="Calibri" pitchFamily="34" charset="-122"/>
                <a:cs typeface="Calibri" pitchFamily="34" charset="-120"/>
              </a:rPr>
              <a:t>IATA / TIDS accreditation</a:t>
            </a:r>
            <a:endParaRPr lang="en-US" sz="950" dirty="0"/>
          </a:p>
        </p:txBody>
      </p:sp>
      <p:sp>
        <p:nvSpPr>
          <p:cNvPr id="27" name="Text 25"/>
          <p:cNvSpPr/>
          <p:nvPr/>
        </p:nvSpPr>
        <p:spPr>
          <a:xfrm>
            <a:off x="8110728" y="2345436"/>
            <a:ext cx="3514039" cy="306324"/>
          </a:xfrm>
          <a:prstGeom prst="rect">
            <a:avLst/>
          </a:prstGeom>
          <a:noFill/>
          <a:ln/>
        </p:spPr>
        <p:txBody>
          <a:bodyPr wrap="square" lIns="0" tIns="0" rIns="0" bIns="0" rtlCol="0" anchor="ctr"/>
          <a:lstStyle/>
          <a:p>
            <a:pPr indent="0" marL="0">
              <a:buNone/>
            </a:pPr>
            <a:r>
              <a:rPr lang="en-US" sz="950" b="1" dirty="0">
                <a:solidFill>
                  <a:srgbClr val="E08B7C"/>
                </a:solidFill>
                <a:latin typeface="Calibri" pitchFamily="34" charset="0"/>
                <a:ea typeface="Calibri" pitchFamily="34" charset="-122"/>
                <a:cs typeface="Calibri" pitchFamily="34" charset="-120"/>
              </a:rPr>
              <a:t>RED · an agency identity a student team cannot hold</a:t>
            </a:r>
            <a:endParaRPr lang="en-US" sz="950" dirty="0"/>
          </a:p>
        </p:txBody>
      </p:sp>
      <p:sp>
        <p:nvSpPr>
          <p:cNvPr id="28" name="Shape 26"/>
          <p:cNvSpPr/>
          <p:nvPr/>
        </p:nvSpPr>
        <p:spPr>
          <a:xfrm>
            <a:off x="475488" y="2651760"/>
            <a:ext cx="11240719" cy="306324"/>
          </a:xfrm>
          <a:prstGeom prst="rect">
            <a:avLst/>
          </a:prstGeom>
          <a:solidFill>
            <a:srgbClr val="13223A"/>
          </a:solidFill>
          <a:ln/>
        </p:spPr>
      </p:sp>
      <p:sp>
        <p:nvSpPr>
          <p:cNvPr id="29" name="Text 27"/>
          <p:cNvSpPr/>
          <p:nvPr/>
        </p:nvSpPr>
        <p:spPr>
          <a:xfrm>
            <a:off x="566928" y="2651760"/>
            <a:ext cx="4069080" cy="30632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eSankhyiki CPI air-fare index (MoSPI)</a:t>
            </a:r>
            <a:endParaRPr lang="en-US" sz="950" dirty="0"/>
          </a:p>
        </p:txBody>
      </p:sp>
      <p:sp>
        <p:nvSpPr>
          <p:cNvPr id="30" name="Text 28"/>
          <p:cNvSpPr/>
          <p:nvPr/>
        </p:nvSpPr>
        <p:spPr>
          <a:xfrm>
            <a:off x="4727448" y="2651760"/>
            <a:ext cx="1325880" cy="306324"/>
          </a:xfrm>
          <a:prstGeom prst="rect">
            <a:avLst/>
          </a:prstGeom>
          <a:noFill/>
          <a:ln/>
        </p:spPr>
        <p:txBody>
          <a:bodyPr wrap="square" lIns="0" tIns="0" rIns="0" bIns="0" rtlCol="0" anchor="ctr"/>
          <a:lstStyle/>
          <a:p>
            <a:pPr indent="0" marL="0">
              <a:buNone/>
            </a:pPr>
            <a:r>
              <a:rPr lang="en-US" sz="950" dirty="0">
                <a:solidFill>
                  <a:srgbClr val="A9BBD3"/>
                </a:solidFill>
                <a:latin typeface="Calibri" pitchFamily="34" charset="0"/>
                <a:ea typeface="Calibri" pitchFamily="34" charset="-122"/>
                <a:cs typeface="Calibri" pitchFamily="34" charset="-120"/>
              </a:rPr>
              <a:t>No</a:t>
            </a:r>
            <a:endParaRPr lang="en-US" sz="950" dirty="0"/>
          </a:p>
        </p:txBody>
      </p:sp>
      <p:sp>
        <p:nvSpPr>
          <p:cNvPr id="31" name="Text 29"/>
          <p:cNvSpPr/>
          <p:nvPr/>
        </p:nvSpPr>
        <p:spPr>
          <a:xfrm>
            <a:off x="6144768" y="2651760"/>
            <a:ext cx="1874520" cy="306324"/>
          </a:xfrm>
          <a:prstGeom prst="rect">
            <a:avLst/>
          </a:prstGeom>
          <a:noFill/>
          <a:ln/>
        </p:spPr>
        <p:txBody>
          <a:bodyPr wrap="square" lIns="0" tIns="0" rIns="0" bIns="0" rtlCol="0" anchor="ctr"/>
          <a:lstStyle/>
          <a:p>
            <a:pPr indent="0" marL="0">
              <a:buNone/>
            </a:pPr>
            <a:r>
              <a:rPr lang="en-US" sz="950" dirty="0">
                <a:solidFill>
                  <a:srgbClr val="A9BBD3"/>
                </a:solidFill>
                <a:latin typeface="Calibri" pitchFamily="34" charset="0"/>
                <a:ea typeface="Calibri" pitchFamily="34" charset="-122"/>
                <a:cs typeface="Calibri" pitchFamily="34" charset="-120"/>
              </a:rPr>
              <a:t>Yes — free, public, no auth</a:t>
            </a:r>
            <a:endParaRPr lang="en-US" sz="950" dirty="0"/>
          </a:p>
        </p:txBody>
      </p:sp>
      <p:sp>
        <p:nvSpPr>
          <p:cNvPr id="32" name="Text 30"/>
          <p:cNvSpPr/>
          <p:nvPr/>
        </p:nvSpPr>
        <p:spPr>
          <a:xfrm>
            <a:off x="8110728" y="2651760"/>
            <a:ext cx="3514039" cy="306324"/>
          </a:xfrm>
          <a:prstGeom prst="rect">
            <a:avLst/>
          </a:prstGeom>
          <a:noFill/>
          <a:ln/>
        </p:spPr>
        <p:txBody>
          <a:bodyPr wrap="square" lIns="0" tIns="0" rIns="0" bIns="0" rtlCol="0" anchor="ctr"/>
          <a:lstStyle/>
          <a:p>
            <a:pPr indent="0" marL="0">
              <a:buNone/>
            </a:pPr>
            <a:r>
              <a:rPr lang="en-US" sz="950" b="1" dirty="0">
                <a:solidFill>
                  <a:srgbClr val="D99A4A"/>
                </a:solidFill>
                <a:latin typeface="Calibri" pitchFamily="34" charset="0"/>
                <a:ea typeface="Calibri" pitchFamily="34" charset="-122"/>
                <a:cs typeface="Calibri" pitchFamily="34" charset="-120"/>
              </a:rPr>
              <a:t>ORANGE · our M7 validation benchmark</a:t>
            </a:r>
            <a:endParaRPr lang="en-US" sz="950" dirty="0"/>
          </a:p>
        </p:txBody>
      </p:sp>
      <p:sp>
        <p:nvSpPr>
          <p:cNvPr id="33" name="Text 31"/>
          <p:cNvSpPr/>
          <p:nvPr/>
        </p:nvSpPr>
        <p:spPr>
          <a:xfrm>
            <a:off x="566928" y="2958084"/>
            <a:ext cx="4069080" cy="30632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DGCA city-pair traffic, ODbL (spike S4)</a:t>
            </a:r>
            <a:endParaRPr lang="en-US" sz="950" dirty="0"/>
          </a:p>
        </p:txBody>
      </p:sp>
      <p:sp>
        <p:nvSpPr>
          <p:cNvPr id="34" name="Text 32"/>
          <p:cNvSpPr/>
          <p:nvPr/>
        </p:nvSpPr>
        <p:spPr>
          <a:xfrm>
            <a:off x="4727448" y="2958084"/>
            <a:ext cx="1325880" cy="306324"/>
          </a:xfrm>
          <a:prstGeom prst="rect">
            <a:avLst/>
          </a:prstGeom>
          <a:noFill/>
          <a:ln/>
        </p:spPr>
        <p:txBody>
          <a:bodyPr wrap="square" lIns="0" tIns="0" rIns="0" bIns="0" rtlCol="0" anchor="ctr"/>
          <a:lstStyle/>
          <a:p>
            <a:pPr indent="0" marL="0">
              <a:buNone/>
            </a:pPr>
            <a:r>
              <a:rPr lang="en-US" sz="950" dirty="0">
                <a:solidFill>
                  <a:srgbClr val="A9BBD3"/>
                </a:solidFill>
                <a:latin typeface="Calibri" pitchFamily="34" charset="0"/>
                <a:ea typeface="Calibri" pitchFamily="34" charset="-122"/>
                <a:cs typeface="Calibri" pitchFamily="34" charset="-120"/>
              </a:rPr>
              <a:t>n/a</a:t>
            </a:r>
            <a:endParaRPr lang="en-US" sz="950" dirty="0"/>
          </a:p>
        </p:txBody>
      </p:sp>
      <p:sp>
        <p:nvSpPr>
          <p:cNvPr id="35" name="Text 33"/>
          <p:cNvSpPr/>
          <p:nvPr/>
        </p:nvSpPr>
        <p:spPr>
          <a:xfrm>
            <a:off x="6144768" y="2958084"/>
            <a:ext cx="1874520" cy="306324"/>
          </a:xfrm>
          <a:prstGeom prst="rect">
            <a:avLst/>
          </a:prstGeom>
          <a:noFill/>
          <a:ln/>
        </p:spPr>
        <p:txBody>
          <a:bodyPr wrap="square" lIns="0" tIns="0" rIns="0" bIns="0" rtlCol="0" anchor="ctr"/>
          <a:lstStyle/>
          <a:p>
            <a:pPr indent="0" marL="0">
              <a:buNone/>
            </a:pPr>
            <a:r>
              <a:rPr lang="en-US" sz="950" dirty="0">
                <a:solidFill>
                  <a:srgbClr val="A9BBD3"/>
                </a:solidFill>
                <a:latin typeface="Calibri" pitchFamily="34" charset="0"/>
                <a:ea typeface="Calibri" pitchFamily="34" charset="-122"/>
                <a:cs typeface="Calibri" pitchFamily="34" charset="-120"/>
              </a:rPr>
              <a:t>Yes</a:t>
            </a:r>
            <a:endParaRPr lang="en-US" sz="950" dirty="0"/>
          </a:p>
        </p:txBody>
      </p:sp>
      <p:sp>
        <p:nvSpPr>
          <p:cNvPr id="36" name="Text 34"/>
          <p:cNvSpPr/>
          <p:nvPr/>
        </p:nvSpPr>
        <p:spPr>
          <a:xfrm>
            <a:off x="8110728" y="2958084"/>
            <a:ext cx="3514039" cy="306324"/>
          </a:xfrm>
          <a:prstGeom prst="rect">
            <a:avLst/>
          </a:prstGeom>
          <a:noFill/>
          <a:ln/>
        </p:spPr>
        <p:txBody>
          <a:bodyPr wrap="square" lIns="0" tIns="0" rIns="0" bIns="0" rtlCol="0" anchor="ctr"/>
          <a:lstStyle/>
          <a:p>
            <a:pPr indent="0" marL="0">
              <a:buNone/>
            </a:pPr>
            <a:r>
              <a:rPr lang="en-US" sz="950" b="1" dirty="0">
                <a:solidFill>
                  <a:srgbClr val="6FC49B"/>
                </a:solidFill>
                <a:latin typeface="Calibri" pitchFamily="34" charset="0"/>
                <a:ea typeface="Calibri" pitchFamily="34" charset="-122"/>
                <a:cs typeface="Calibri" pitchFamily="34" charset="-120"/>
              </a:rPr>
              <a:t>GREEN · in hand, and weighting the panel today</a:t>
            </a:r>
            <a:endParaRPr lang="en-US" sz="950" dirty="0"/>
          </a:p>
        </p:txBody>
      </p:sp>
      <p:sp>
        <p:nvSpPr>
          <p:cNvPr id="37" name="Shape 35"/>
          <p:cNvSpPr/>
          <p:nvPr/>
        </p:nvSpPr>
        <p:spPr>
          <a:xfrm>
            <a:off x="475488" y="3264408"/>
            <a:ext cx="11240719" cy="306324"/>
          </a:xfrm>
          <a:prstGeom prst="rect">
            <a:avLst/>
          </a:prstGeom>
          <a:solidFill>
            <a:srgbClr val="13223A"/>
          </a:solidFill>
          <a:ln/>
        </p:spPr>
      </p:sp>
      <p:sp>
        <p:nvSpPr>
          <p:cNvPr id="38" name="Text 36"/>
          <p:cNvSpPr/>
          <p:nvPr/>
        </p:nvSpPr>
        <p:spPr>
          <a:xfrm>
            <a:off x="566928" y="3264408"/>
            <a:ext cx="4069080" cy="30632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MoSPI / DGCA institutional holdings</a:t>
            </a:r>
            <a:endParaRPr lang="en-US" sz="950" dirty="0"/>
          </a:p>
        </p:txBody>
      </p:sp>
      <p:sp>
        <p:nvSpPr>
          <p:cNvPr id="39" name="Text 37"/>
          <p:cNvSpPr/>
          <p:nvPr/>
        </p:nvSpPr>
        <p:spPr>
          <a:xfrm>
            <a:off x="4727448" y="3264408"/>
            <a:ext cx="1325880" cy="306324"/>
          </a:xfrm>
          <a:prstGeom prst="rect">
            <a:avLst/>
          </a:prstGeom>
          <a:noFill/>
          <a:ln/>
        </p:spPr>
        <p:txBody>
          <a:bodyPr wrap="square" lIns="0" tIns="0" rIns="0" bIns="0" rtlCol="0" anchor="ctr"/>
          <a:lstStyle/>
          <a:p>
            <a:pPr indent="0" marL="0">
              <a:buNone/>
            </a:pPr>
            <a:r>
              <a:rPr lang="en-US" sz="950" dirty="0">
                <a:solidFill>
                  <a:srgbClr val="A9BBD3"/>
                </a:solidFill>
                <a:latin typeface="Calibri" pitchFamily="34" charset="0"/>
                <a:ea typeface="Calibri" pitchFamily="34" charset="-122"/>
                <a:cs typeface="Calibri" pitchFamily="34" charset="-120"/>
              </a:rPr>
              <a:t>Yes</a:t>
            </a:r>
            <a:endParaRPr lang="en-US" sz="950" dirty="0"/>
          </a:p>
        </p:txBody>
      </p:sp>
      <p:sp>
        <p:nvSpPr>
          <p:cNvPr id="40" name="Text 38"/>
          <p:cNvSpPr/>
          <p:nvPr/>
        </p:nvSpPr>
        <p:spPr>
          <a:xfrm>
            <a:off x="6144768" y="3264408"/>
            <a:ext cx="1874520" cy="306324"/>
          </a:xfrm>
          <a:prstGeom prst="rect">
            <a:avLst/>
          </a:prstGeom>
          <a:noFill/>
          <a:ln/>
        </p:spPr>
        <p:txBody>
          <a:bodyPr wrap="square" lIns="0" tIns="0" rIns="0" bIns="0" rtlCol="0" anchor="ctr"/>
          <a:lstStyle/>
          <a:p>
            <a:pPr indent="0" marL="0">
              <a:buNone/>
            </a:pPr>
            <a:r>
              <a:rPr lang="en-US" sz="950" dirty="0">
                <a:solidFill>
                  <a:srgbClr val="A9BBD3"/>
                </a:solidFill>
                <a:latin typeface="Calibri" pitchFamily="34" charset="0"/>
                <a:ea typeface="Calibri" pitchFamily="34" charset="-122"/>
                <a:cs typeface="Calibri" pitchFamily="34" charset="-120"/>
              </a:rPr>
              <a:t>Under statutory authority</a:t>
            </a:r>
            <a:endParaRPr lang="en-US" sz="950" dirty="0"/>
          </a:p>
        </p:txBody>
      </p:sp>
      <p:sp>
        <p:nvSpPr>
          <p:cNvPr id="41" name="Text 39"/>
          <p:cNvSpPr/>
          <p:nvPr/>
        </p:nvSpPr>
        <p:spPr>
          <a:xfrm>
            <a:off x="8110728" y="3264408"/>
            <a:ext cx="3514039" cy="306324"/>
          </a:xfrm>
          <a:prstGeom prst="rect">
            <a:avLst/>
          </a:prstGeom>
          <a:noFill/>
          <a:ln/>
        </p:spPr>
        <p:txBody>
          <a:bodyPr wrap="square" lIns="0" tIns="0" rIns="0" bIns="0" rtlCol="0" anchor="ctr"/>
          <a:lstStyle/>
          <a:p>
            <a:pPr indent="0" marL="0">
              <a:buNone/>
            </a:pPr>
            <a:r>
              <a:rPr lang="en-US" sz="950" b="1" dirty="0">
                <a:solidFill>
                  <a:srgbClr val="E8C35C"/>
                </a:solidFill>
                <a:latin typeface="Calibri" pitchFamily="34" charset="0"/>
                <a:ea typeface="Calibri" pitchFamily="34" charset="-122"/>
                <a:cs typeface="Calibri" pitchFamily="34" charset="-120"/>
              </a:rPr>
              <a:t>YELLOW · the permission path — highest value</a:t>
            </a:r>
            <a:endParaRPr lang="en-US" sz="950" dirty="0"/>
          </a:p>
        </p:txBody>
      </p:sp>
      <p:sp>
        <p:nvSpPr>
          <p:cNvPr id="42" name="Shape 40"/>
          <p:cNvSpPr/>
          <p:nvPr/>
        </p:nvSpPr>
        <p:spPr>
          <a:xfrm>
            <a:off x="566928" y="3712464"/>
            <a:ext cx="3539642" cy="1719072"/>
          </a:xfrm>
          <a:prstGeom prst="roundRect">
            <a:avLst>
              <a:gd name="adj" fmla="val 3191"/>
            </a:avLst>
          </a:prstGeom>
          <a:solidFill>
            <a:srgbClr val="16263D"/>
          </a:solidFill>
          <a:ln w="9525">
            <a:solidFill>
              <a:srgbClr val="26384F"/>
            </a:solidFill>
            <a:prstDash val="solid"/>
          </a:ln>
        </p:spPr>
      </p:sp>
      <p:sp>
        <p:nvSpPr>
          <p:cNvPr id="43" name="Shape 41"/>
          <p:cNvSpPr/>
          <p:nvPr/>
        </p:nvSpPr>
        <p:spPr>
          <a:xfrm>
            <a:off x="749808" y="3858768"/>
            <a:ext cx="1499616" cy="214884"/>
          </a:xfrm>
          <a:prstGeom prst="roundRect">
            <a:avLst>
              <a:gd name="adj" fmla="val 46809"/>
            </a:avLst>
          </a:prstGeom>
          <a:solidFill>
            <a:srgbClr val="1B3A6B"/>
          </a:solidFill>
          <a:ln/>
        </p:spPr>
      </p:sp>
      <p:sp>
        <p:nvSpPr>
          <p:cNvPr id="44" name="Text 42"/>
          <p:cNvSpPr/>
          <p:nvPr/>
        </p:nvSpPr>
        <p:spPr>
          <a:xfrm>
            <a:off x="749808" y="3858768"/>
            <a:ext cx="1499616" cy="214884"/>
          </a:xfrm>
          <a:prstGeom prst="rect">
            <a:avLst/>
          </a:prstGeom>
          <a:noFill/>
          <a:ln/>
        </p:spPr>
        <p:txBody>
          <a:bodyPr wrap="square" lIns="0" tIns="0" rIns="0" bIns="0" rtlCol="0" anchor="ctr"/>
          <a:lstStyle/>
          <a:p>
            <a:pPr algn="ctr" indent="0" marL="0">
              <a:buNone/>
            </a:pPr>
            <a:r>
              <a:rPr lang="en-US" sz="800" b="1" spc="80" kern="0" dirty="0">
                <a:solidFill>
                  <a:srgbClr val="CFDCEE"/>
                </a:solidFill>
                <a:latin typeface="Calibri" pitchFamily="34" charset="0"/>
                <a:ea typeface="Calibri" pitchFamily="34" charset="-122"/>
                <a:cs typeface="Calibri" pitchFamily="34" charset="-120"/>
              </a:rPr>
              <a:t>WHY IT HOLDS</a:t>
            </a:r>
            <a:endParaRPr lang="en-US" sz="800" dirty="0"/>
          </a:p>
        </p:txBody>
      </p:sp>
      <p:sp>
        <p:nvSpPr>
          <p:cNvPr id="45" name="Text 43"/>
          <p:cNvSpPr/>
          <p:nvPr/>
        </p:nvSpPr>
        <p:spPr>
          <a:xfrm>
            <a:off x="749808" y="4142232"/>
            <a:ext cx="3173882" cy="25603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Look-to-book economics</a:t>
            </a:r>
            <a:endParaRPr lang="en-US" sz="1250" dirty="0"/>
          </a:p>
        </p:txBody>
      </p:sp>
      <p:sp>
        <p:nvSpPr>
          <p:cNvPr id="46" name="Text 44"/>
          <p:cNvSpPr/>
          <p:nvPr/>
        </p:nvSpPr>
        <p:spPr>
          <a:xfrm>
            <a:off x="749808" y="4416552"/>
            <a:ext cx="3173882" cy="896112"/>
          </a:xfrm>
          <a:prstGeom prst="rect">
            <a:avLst/>
          </a:prstGeom>
          <a:noFill/>
          <a:ln/>
        </p:spPr>
        <p:txBody>
          <a:bodyPr wrap="square" lIns="0" tIns="0" rIns="0" bIns="0" rtlCol="0" anchor="ctr"/>
          <a:lstStyle/>
          <a:p>
            <a:pPr indent="0" marL="0">
              <a:lnSpc>
                <a:spcPts val="1200"/>
              </a:lnSpc>
              <a:buNone/>
            </a:pPr>
            <a:r>
              <a:rPr lang="en-US" sz="900" dirty="0">
                <a:solidFill>
                  <a:srgbClr val="A9BBD3"/>
                </a:solidFill>
                <a:latin typeface="Calibri" pitchFamily="34" charset="0"/>
                <a:ea typeface="Calibri" pitchFamily="34" charset="-122"/>
                <a:cs typeface="Calibri" pitchFamily="34" charset="-120"/>
              </a:rPr>
              <a:t>Every distribution channel meters search and recovers the cost from bookings. An index books nothing. Duffel writes it into contract; Travelpayouts states it in plain words. This is why further source-searching has negative expected value — we stopped.</a:t>
            </a:r>
            <a:endParaRPr lang="en-US" sz="900" dirty="0"/>
          </a:p>
        </p:txBody>
      </p:sp>
      <p:sp>
        <p:nvSpPr>
          <p:cNvPr id="47" name="Shape 45"/>
          <p:cNvSpPr/>
          <p:nvPr/>
        </p:nvSpPr>
        <p:spPr>
          <a:xfrm>
            <a:off x="4326026" y="3712464"/>
            <a:ext cx="3539642" cy="1719072"/>
          </a:xfrm>
          <a:prstGeom prst="roundRect">
            <a:avLst>
              <a:gd name="adj" fmla="val 3191"/>
            </a:avLst>
          </a:prstGeom>
          <a:solidFill>
            <a:srgbClr val="16263D"/>
          </a:solidFill>
          <a:ln w="9525">
            <a:solidFill>
              <a:srgbClr val="26384F"/>
            </a:solidFill>
            <a:prstDash val="solid"/>
          </a:ln>
        </p:spPr>
      </p:sp>
      <p:sp>
        <p:nvSpPr>
          <p:cNvPr id="48" name="Shape 46"/>
          <p:cNvSpPr/>
          <p:nvPr/>
        </p:nvSpPr>
        <p:spPr>
          <a:xfrm>
            <a:off x="4508906" y="3858768"/>
            <a:ext cx="2235708" cy="214884"/>
          </a:xfrm>
          <a:prstGeom prst="roundRect">
            <a:avLst>
              <a:gd name="adj" fmla="val 46809"/>
            </a:avLst>
          </a:prstGeom>
          <a:solidFill>
            <a:srgbClr val="1B3A6B"/>
          </a:solidFill>
          <a:ln/>
        </p:spPr>
      </p:sp>
      <p:sp>
        <p:nvSpPr>
          <p:cNvPr id="49" name="Text 47"/>
          <p:cNvSpPr/>
          <p:nvPr/>
        </p:nvSpPr>
        <p:spPr>
          <a:xfrm>
            <a:off x="4508906" y="3858768"/>
            <a:ext cx="2235708" cy="214884"/>
          </a:xfrm>
          <a:prstGeom prst="rect">
            <a:avLst/>
          </a:prstGeom>
          <a:noFill/>
          <a:ln/>
        </p:spPr>
        <p:txBody>
          <a:bodyPr wrap="square" lIns="0" tIns="0" rIns="0" bIns="0" rtlCol="0" anchor="ctr"/>
          <a:lstStyle/>
          <a:p>
            <a:pPr algn="ctr" indent="0" marL="0">
              <a:buNone/>
            </a:pPr>
            <a:r>
              <a:rPr lang="en-US" sz="800" b="1" spc="80" kern="0" dirty="0">
                <a:solidFill>
                  <a:srgbClr val="CFDCEE"/>
                </a:solidFill>
                <a:latin typeface="Calibri" pitchFamily="34" charset="0"/>
                <a:ea typeface="Calibri" pitchFamily="34" charset="-122"/>
                <a:cs typeface="Calibri" pitchFamily="34" charset="-120"/>
              </a:rPr>
              <a:t>TESTED, THEN KILLED</a:t>
            </a:r>
            <a:endParaRPr lang="en-US" sz="800" dirty="0"/>
          </a:p>
        </p:txBody>
      </p:sp>
      <p:sp>
        <p:nvSpPr>
          <p:cNvPr id="50" name="Text 48"/>
          <p:cNvSpPr/>
          <p:nvPr/>
        </p:nvSpPr>
        <p:spPr>
          <a:xfrm>
            <a:off x="4508906" y="4142232"/>
            <a:ext cx="3173882" cy="25603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The last escape route</a:t>
            </a:r>
            <a:endParaRPr lang="en-US" sz="1250" dirty="0"/>
          </a:p>
        </p:txBody>
      </p:sp>
      <p:sp>
        <p:nvSpPr>
          <p:cNvPr id="51" name="Text 49"/>
          <p:cNvSpPr/>
          <p:nvPr/>
        </p:nvSpPr>
        <p:spPr>
          <a:xfrm>
            <a:off x="4508906" y="4416552"/>
            <a:ext cx="3173882" cy="896112"/>
          </a:xfrm>
          <a:prstGeom prst="rect">
            <a:avLst/>
          </a:prstGeom>
          <a:noFill/>
          <a:ln/>
        </p:spPr>
        <p:txBody>
          <a:bodyPr wrap="square" lIns="0" tIns="0" rIns="0" bIns="0" rtlCol="0" anchor="ctr"/>
          <a:lstStyle/>
          <a:p>
            <a:pPr indent="0" marL="0">
              <a:lnSpc>
                <a:spcPts val="1200"/>
              </a:lnSpc>
              <a:buNone/>
            </a:pPr>
            <a:r>
              <a:rPr lang="en-US" sz="900" dirty="0">
                <a:solidFill>
                  <a:srgbClr val="A9BBD3"/>
                </a:solidFill>
                <a:latin typeface="Calibri" pitchFamily="34" charset="0"/>
                <a:ea typeface="Calibri" pitchFamily="34" charset="-122"/>
                <a:cs typeface="Calibri" pitchFamily="34" charset="-120"/>
              </a:rPr>
              <a:t>Rule 135 tariff sheets looked free, structured and archived. We parsed 14 of them: a fare level is a band, not a price (median max/min 1.25–1.52×, p90 2.82×), levels move −21% to +10% month on month, and the route panel churns to 46.6% survival in a single step.</a:t>
            </a:r>
            <a:endParaRPr lang="en-US" sz="900" dirty="0"/>
          </a:p>
        </p:txBody>
      </p:sp>
      <p:sp>
        <p:nvSpPr>
          <p:cNvPr id="52" name="Shape 50"/>
          <p:cNvSpPr/>
          <p:nvPr/>
        </p:nvSpPr>
        <p:spPr>
          <a:xfrm>
            <a:off x="8085125" y="3712464"/>
            <a:ext cx="3539642" cy="1719072"/>
          </a:xfrm>
          <a:prstGeom prst="roundRect">
            <a:avLst>
              <a:gd name="adj" fmla="val 3191"/>
            </a:avLst>
          </a:prstGeom>
          <a:solidFill>
            <a:srgbClr val="16263D"/>
          </a:solidFill>
          <a:ln w="9525">
            <a:solidFill>
              <a:srgbClr val="26384F"/>
            </a:solidFill>
            <a:prstDash val="solid"/>
          </a:ln>
        </p:spPr>
      </p:sp>
      <p:sp>
        <p:nvSpPr>
          <p:cNvPr id="53" name="Shape 51"/>
          <p:cNvSpPr/>
          <p:nvPr/>
        </p:nvSpPr>
        <p:spPr>
          <a:xfrm>
            <a:off x="8268005" y="3858768"/>
            <a:ext cx="1920240" cy="214884"/>
          </a:xfrm>
          <a:prstGeom prst="roundRect">
            <a:avLst>
              <a:gd name="adj" fmla="val 46809"/>
            </a:avLst>
          </a:prstGeom>
          <a:solidFill>
            <a:srgbClr val="1B3A6B"/>
          </a:solidFill>
          <a:ln/>
        </p:spPr>
      </p:sp>
      <p:sp>
        <p:nvSpPr>
          <p:cNvPr id="54" name="Text 52"/>
          <p:cNvSpPr/>
          <p:nvPr/>
        </p:nvSpPr>
        <p:spPr>
          <a:xfrm>
            <a:off x="8268005" y="3858768"/>
            <a:ext cx="1920240" cy="214884"/>
          </a:xfrm>
          <a:prstGeom prst="rect">
            <a:avLst/>
          </a:prstGeom>
          <a:noFill/>
          <a:ln/>
        </p:spPr>
        <p:txBody>
          <a:bodyPr wrap="square" lIns="0" tIns="0" rIns="0" bIns="0" rtlCol="0" anchor="ctr"/>
          <a:lstStyle/>
          <a:p>
            <a:pPr algn="ctr" indent="0" marL="0">
              <a:buNone/>
            </a:pPr>
            <a:r>
              <a:rPr lang="en-US" sz="800" b="1" spc="80" kern="0" dirty="0">
                <a:solidFill>
                  <a:srgbClr val="CFDCEE"/>
                </a:solidFill>
                <a:latin typeface="Calibri" pitchFamily="34" charset="0"/>
                <a:ea typeface="Calibri" pitchFamily="34" charset="-122"/>
                <a:cs typeface="Calibri" pitchFamily="34" charset="-120"/>
              </a:rPr>
              <a:t>THE PATH FORWARD</a:t>
            </a:r>
            <a:endParaRPr lang="en-US" sz="800" dirty="0"/>
          </a:p>
        </p:txBody>
      </p:sp>
      <p:sp>
        <p:nvSpPr>
          <p:cNvPr id="55" name="Text 53"/>
          <p:cNvSpPr/>
          <p:nvPr/>
        </p:nvSpPr>
        <p:spPr>
          <a:xfrm>
            <a:off x="8268005" y="4142232"/>
            <a:ext cx="3173882" cy="25603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Authority, not engineering</a:t>
            </a:r>
            <a:endParaRPr lang="en-US" sz="1250" dirty="0"/>
          </a:p>
        </p:txBody>
      </p:sp>
      <p:sp>
        <p:nvSpPr>
          <p:cNvPr id="56" name="Text 54"/>
          <p:cNvSpPr/>
          <p:nvPr/>
        </p:nvSpPr>
        <p:spPr>
          <a:xfrm>
            <a:off x="8268005" y="4416552"/>
            <a:ext cx="3173882" cy="896112"/>
          </a:xfrm>
          <a:prstGeom prst="rect">
            <a:avLst/>
          </a:prstGeom>
          <a:noFill/>
          <a:ln/>
        </p:spPr>
        <p:txBody>
          <a:bodyPr wrap="square" lIns="0" tIns="0" rIns="0" bIns="0" rtlCol="0" anchor="ctr"/>
          <a:lstStyle/>
          <a:p>
            <a:pPr indent="0" marL="0">
              <a:lnSpc>
                <a:spcPts val="1200"/>
              </a:lnSpc>
              <a:buNone/>
            </a:pPr>
            <a:r>
              <a:rPr lang="en-US" sz="900" dirty="0">
                <a:solidFill>
                  <a:srgbClr val="A9BBD3"/>
                </a:solidFill>
                <a:latin typeface="Calibri" pitchFamily="34" charset="0"/>
                <a:ea typeface="Calibri" pitchFamily="34" charset="-122"/>
                <a:cs typeface="Calibri" pitchFamily="34" charset="-120"/>
              </a:rPr>
              <a:t>MoSPI already collects airfares from online platforms under the Collection of Statistics Act 2008 (CPI 2024 FAQ, Q27), and DGCA has already supplied airfare data to MoSPI — minuted as recommendation 11(a). Two letters are drafted and ready to send.</a:t>
            </a:r>
            <a:endParaRPr lang="en-US" sz="900" dirty="0"/>
          </a:p>
        </p:txBody>
      </p:sp>
      <p:sp>
        <p:nvSpPr>
          <p:cNvPr id="57" name="Shape 55"/>
          <p:cNvSpPr/>
          <p:nvPr/>
        </p:nvSpPr>
        <p:spPr>
          <a:xfrm>
            <a:off x="566928" y="5577840"/>
            <a:ext cx="11057839" cy="731520"/>
          </a:xfrm>
          <a:prstGeom prst="roundRect">
            <a:avLst>
              <a:gd name="adj" fmla="val 7500"/>
            </a:avLst>
          </a:prstGeom>
          <a:solidFill>
            <a:srgbClr val="1B3A6B"/>
          </a:solidFill>
          <a:ln/>
        </p:spPr>
      </p:sp>
      <p:sp>
        <p:nvSpPr>
          <p:cNvPr id="58" name="Text 56"/>
          <p:cNvSpPr/>
          <p:nvPr/>
        </p:nvSpPr>
        <p:spPr>
          <a:xfrm>
            <a:off x="822960" y="5669280"/>
            <a:ext cx="10545775" cy="548640"/>
          </a:xfrm>
          <a:prstGeom prst="rect">
            <a:avLst/>
          </a:prstGeom>
          <a:noFill/>
          <a:ln/>
        </p:spPr>
        <p:txBody>
          <a:bodyPr wrap="square" lIns="0" tIns="0" rIns="0" bIns="0" rtlCol="0" anchor="ctr"/>
          <a:lstStyle/>
          <a:p>
            <a:pPr indent="0" marL="0">
              <a:lnSpc>
                <a:spcPts val="1350"/>
              </a:lnSpc>
              <a:buNone/>
            </a:pPr>
            <a:r>
              <a:rPr lang="en-US" sz="1000" b="1" spc="60" kern="0" dirty="0">
                <a:solidFill>
                  <a:srgbClr val="FFFFFF"/>
                </a:solidFill>
                <a:latin typeface="Calibri" pitchFamily="34" charset="0"/>
                <a:ea typeface="Calibri" pitchFamily="34" charset="-122"/>
                <a:cs typeface="Calibri" pitchFamily="34" charset="-120"/>
              </a:rPr>
              <a:t>RECORDED IN ADVANCE, NOT IMPROVISED — </a:t>
            </a:r>
            <a:pPr indent="0" marL="0">
              <a:lnSpc>
                <a:spcPts val="1350"/>
              </a:lnSpc>
              <a:buNone/>
            </a:pPr>
            <a:r>
              <a:rPr lang="en-US" sz="1000" dirty="0">
                <a:solidFill>
                  <a:srgbClr val="CFDCEE"/>
                </a:solidFill>
                <a:latin typeface="Calibri" pitchFamily="34" charset="0"/>
                <a:ea typeface="Calibri" pitchFamily="34" charset="-122"/>
                <a:cs typeface="Calibri" pitchFamily="34" charset="-120"/>
              </a:rPr>
              <a:t>if access does not land inside the SIH timeline, the decision moves to redesigning the index around whatever bounded data the permission path does yield; that revisit condition is written into the decision record. Meanwhile nothing else is blocked — the engine, the hedonic model, the validation path and the eSankhyiki benchmark are all buildable today, and largely built.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402336" cy="402336"/>
          </a:xfrm>
          <a:prstGeom prst="roundRect">
            <a:avLst>
              <a:gd name="adj" fmla="val 11364"/>
            </a:avLst>
          </a:prstGeom>
          <a:solidFill>
            <a:srgbClr val="1B3A6B"/>
          </a:solidFill>
          <a:ln/>
        </p:spPr>
      </p:sp>
      <p:sp>
        <p:nvSpPr>
          <p:cNvPr id="3" name="Text 1"/>
          <p:cNvSpPr/>
          <p:nvPr/>
        </p:nvSpPr>
        <p:spPr>
          <a:xfrm>
            <a:off x="566928" y="4754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4" name="Text 2"/>
          <p:cNvSpPr/>
          <p:nvPr/>
        </p:nvSpPr>
        <p:spPr>
          <a:xfrm>
            <a:off x="1088136" y="420624"/>
            <a:ext cx="6583680" cy="512064"/>
          </a:xfrm>
          <a:prstGeom prst="rect">
            <a:avLst/>
          </a:prstGeom>
          <a:noFill/>
          <a:ln/>
        </p:spPr>
        <p:txBody>
          <a:bodyPr wrap="square" lIns="0" tIns="0" rIns="0" bIns="0" rtlCol="0" anchor="ctr"/>
          <a:lstStyle/>
          <a:p>
            <a:pPr indent="0" marL="0">
              <a:buNone/>
            </a:pPr>
            <a:r>
              <a:rPr lang="en-US" sz="3100" b="1" dirty="0">
                <a:solidFill>
                  <a:srgbClr val="10161D"/>
                </a:solidFill>
                <a:latin typeface="Cambria" pitchFamily="34" charset="0"/>
                <a:ea typeface="Cambria" pitchFamily="34" charset="-122"/>
                <a:cs typeface="Cambria" pitchFamily="34" charset="-120"/>
              </a:rPr>
              <a:t>Impact and Benefits</a:t>
            </a:r>
            <a:endParaRPr lang="en-US" sz="3100" dirty="0"/>
          </a:p>
        </p:txBody>
      </p:sp>
      <p:sp>
        <p:nvSpPr>
          <p:cNvPr id="5" name="Text 3"/>
          <p:cNvSpPr/>
          <p:nvPr/>
        </p:nvSpPr>
        <p:spPr>
          <a:xfrm>
            <a:off x="6400800" y="457200"/>
            <a:ext cx="5223967" cy="438912"/>
          </a:xfrm>
          <a:prstGeom prst="rect">
            <a:avLst/>
          </a:prstGeom>
          <a:noFill/>
          <a:ln/>
        </p:spPr>
        <p:txBody>
          <a:bodyPr wrap="square" lIns="0" tIns="0" rIns="0" bIns="0" rtlCol="0" anchor="ctr"/>
          <a:lstStyle/>
          <a:p>
            <a:pPr algn="r" indent="0" marL="0">
              <a:buNone/>
            </a:pPr>
            <a:r>
              <a:rPr lang="en-US" sz="950" spc="30" kern="0" dirty="0">
                <a:solidFill>
                  <a:srgbClr val="6B7684"/>
                </a:solidFill>
                <a:latin typeface="Calibri" pitchFamily="34" charset="0"/>
                <a:ea typeface="Calibri" pitchFamily="34" charset="-122"/>
                <a:cs typeface="Calibri" pitchFamily="34" charset="-120"/>
              </a:rPr>
              <a:t>Who gains, and what they gain that does not exist today</a:t>
            </a:r>
            <a:endParaRPr lang="en-US" sz="950" dirty="0"/>
          </a:p>
        </p:txBody>
      </p:sp>
      <p:sp>
        <p:nvSpPr>
          <p:cNvPr id="6" name="Shape 4"/>
          <p:cNvSpPr/>
          <p:nvPr/>
        </p:nvSpPr>
        <p:spPr>
          <a:xfrm>
            <a:off x="566928" y="1143000"/>
            <a:ext cx="5394960" cy="1965960"/>
          </a:xfrm>
          <a:prstGeom prst="roundRect">
            <a:avLst>
              <a:gd name="adj" fmla="val 2791"/>
            </a:avLst>
          </a:prstGeom>
          <a:solidFill>
            <a:srgbClr val="F3F5F8"/>
          </a:solidFill>
          <a:ln w="9525">
            <a:solidFill>
              <a:srgbClr val="D8DEE5"/>
            </a:solidFill>
            <a:prstDash val="solid"/>
          </a:ln>
        </p:spPr>
      </p:sp>
      <p:sp>
        <p:nvSpPr>
          <p:cNvPr id="7" name="Shape 5"/>
          <p:cNvSpPr/>
          <p:nvPr/>
        </p:nvSpPr>
        <p:spPr>
          <a:xfrm>
            <a:off x="804672" y="1325880"/>
            <a:ext cx="763524" cy="214884"/>
          </a:xfrm>
          <a:prstGeom prst="roundRect">
            <a:avLst>
              <a:gd name="adj" fmla="val 46809"/>
            </a:avLst>
          </a:prstGeom>
          <a:solidFill>
            <a:srgbClr val="E4EAF4"/>
          </a:solidFill>
          <a:ln/>
        </p:spPr>
      </p:sp>
      <p:sp>
        <p:nvSpPr>
          <p:cNvPr id="8" name="Text 6"/>
          <p:cNvSpPr/>
          <p:nvPr/>
        </p:nvSpPr>
        <p:spPr>
          <a:xfrm>
            <a:off x="804672" y="1325880"/>
            <a:ext cx="763524" cy="214884"/>
          </a:xfrm>
          <a:prstGeom prst="rect">
            <a:avLst/>
          </a:prstGeom>
          <a:noFill/>
          <a:ln/>
        </p:spPr>
        <p:txBody>
          <a:bodyPr wrap="square" lIns="0" tIns="0" rIns="0" bIns="0" rtlCol="0" anchor="ctr"/>
          <a:lstStyle/>
          <a:p>
            <a:pPr algn="ctr" indent="0" marL="0">
              <a:buNone/>
            </a:pPr>
            <a:r>
              <a:rPr lang="en-US" sz="800" b="1" spc="80" kern="0" dirty="0">
                <a:solidFill>
                  <a:srgbClr val="1B3A6B"/>
                </a:solidFill>
                <a:latin typeface="Calibri" pitchFamily="34" charset="0"/>
                <a:ea typeface="Calibri" pitchFamily="34" charset="-122"/>
                <a:cs typeface="Calibri" pitchFamily="34" charset="-120"/>
              </a:rPr>
              <a:t>MoSPI</a:t>
            </a:r>
            <a:endParaRPr lang="en-US" sz="800" dirty="0"/>
          </a:p>
        </p:txBody>
      </p:sp>
      <p:sp>
        <p:nvSpPr>
          <p:cNvPr id="9" name="Text 7"/>
          <p:cNvSpPr/>
          <p:nvPr/>
        </p:nvSpPr>
        <p:spPr>
          <a:xfrm>
            <a:off x="804672" y="1618488"/>
            <a:ext cx="4919472" cy="310896"/>
          </a:xfrm>
          <a:prstGeom prst="rect">
            <a:avLst/>
          </a:prstGeom>
          <a:noFill/>
          <a:ln/>
        </p:spPr>
        <p:txBody>
          <a:bodyPr wrap="square" lIns="0" tIns="0" rIns="0" bIns="0" rtlCol="0" anchor="ctr"/>
          <a:lstStyle/>
          <a:p>
            <a:pPr indent="0" marL="0">
              <a:buNone/>
            </a:pPr>
            <a:r>
              <a:rPr lang="en-US" sz="1600" b="1" dirty="0">
                <a:solidFill>
                  <a:srgbClr val="10161D"/>
                </a:solidFill>
                <a:latin typeface="Cambria" pitchFamily="34" charset="0"/>
                <a:ea typeface="Cambria" pitchFamily="34" charset="-122"/>
                <a:cs typeface="Cambria" pitchFamily="34" charset="-120"/>
              </a:rPr>
              <a:t>A sub-monthly airfare signal</a:t>
            </a:r>
            <a:endParaRPr lang="en-US" sz="1600" dirty="0"/>
          </a:p>
        </p:txBody>
      </p:sp>
      <p:sp>
        <p:nvSpPr>
          <p:cNvPr id="10" name="Text 8"/>
          <p:cNvSpPr/>
          <p:nvPr/>
        </p:nvSpPr>
        <p:spPr>
          <a:xfrm>
            <a:off x="804672" y="1965960"/>
            <a:ext cx="4919472" cy="1042416"/>
          </a:xfrm>
          <a:prstGeom prst="rect">
            <a:avLst/>
          </a:prstGeom>
          <a:noFill/>
          <a:ln/>
        </p:spPr>
        <p:txBody>
          <a:bodyPr wrap="square" lIns="0" tIns="0" rIns="0" bIns="0" rtlCol="0" anchor="ctr"/>
          <a:lstStyle/>
          <a:p>
            <a:pPr indent="0" marL="0">
              <a:lnSpc>
                <a:spcPts val="1500"/>
              </a:lnSpc>
              <a:buNone/>
            </a:pPr>
            <a:r>
              <a:rPr lang="en-US" sz="1100" dirty="0">
                <a:solidFill>
                  <a:srgbClr val="4C5764"/>
                </a:solidFill>
                <a:latin typeface="Calibri" pitchFamily="34" charset="0"/>
                <a:ea typeface="Calibri" pitchFamily="34" charset="-122"/>
                <a:cs typeface="Calibri" pitchFamily="34" charset="-120"/>
              </a:rPr>
              <a:t>CPI publishes one airfare index a month. AeroDex produces a daily national series with route, carrier and booking-horizon breakdowns beneath it — granularity an item index cannot carry. Imputation share and coverage ratio ship with every point, so the Ministry can see how much of each number was actually observed.</a:t>
            </a:r>
            <a:endParaRPr lang="en-US" sz="1100" dirty="0"/>
          </a:p>
        </p:txBody>
      </p:sp>
      <p:sp>
        <p:nvSpPr>
          <p:cNvPr id="11" name="Shape 9"/>
          <p:cNvSpPr/>
          <p:nvPr/>
        </p:nvSpPr>
        <p:spPr>
          <a:xfrm>
            <a:off x="6208776" y="1143000"/>
            <a:ext cx="5413248" cy="1965960"/>
          </a:xfrm>
          <a:prstGeom prst="roundRect">
            <a:avLst>
              <a:gd name="adj" fmla="val 2791"/>
            </a:avLst>
          </a:prstGeom>
          <a:solidFill>
            <a:srgbClr val="F3F5F8"/>
          </a:solidFill>
          <a:ln w="9525">
            <a:solidFill>
              <a:srgbClr val="D8DEE5"/>
            </a:solidFill>
            <a:prstDash val="solid"/>
          </a:ln>
        </p:spPr>
      </p:sp>
      <p:sp>
        <p:nvSpPr>
          <p:cNvPr id="12" name="Shape 10"/>
          <p:cNvSpPr/>
          <p:nvPr/>
        </p:nvSpPr>
        <p:spPr>
          <a:xfrm>
            <a:off x="6446520" y="1325880"/>
            <a:ext cx="658368" cy="214884"/>
          </a:xfrm>
          <a:prstGeom prst="roundRect">
            <a:avLst>
              <a:gd name="adj" fmla="val 46809"/>
            </a:avLst>
          </a:prstGeom>
          <a:solidFill>
            <a:srgbClr val="E4EAF4"/>
          </a:solidFill>
          <a:ln/>
        </p:spPr>
      </p:sp>
      <p:sp>
        <p:nvSpPr>
          <p:cNvPr id="13" name="Text 11"/>
          <p:cNvSpPr/>
          <p:nvPr/>
        </p:nvSpPr>
        <p:spPr>
          <a:xfrm>
            <a:off x="6446520" y="1325880"/>
            <a:ext cx="658368" cy="214884"/>
          </a:xfrm>
          <a:prstGeom prst="rect">
            <a:avLst/>
          </a:prstGeom>
          <a:noFill/>
          <a:ln/>
        </p:spPr>
        <p:txBody>
          <a:bodyPr wrap="square" lIns="0" tIns="0" rIns="0" bIns="0" rtlCol="0" anchor="ctr"/>
          <a:lstStyle/>
          <a:p>
            <a:pPr algn="ctr" indent="0" marL="0">
              <a:buNone/>
            </a:pPr>
            <a:r>
              <a:rPr lang="en-US" sz="800" b="1" spc="80" kern="0" dirty="0">
                <a:solidFill>
                  <a:srgbClr val="1B3A6B"/>
                </a:solidFill>
                <a:latin typeface="Calibri" pitchFamily="34" charset="0"/>
                <a:ea typeface="Calibri" pitchFamily="34" charset="-122"/>
                <a:cs typeface="Calibri" pitchFamily="34" charset="-120"/>
              </a:rPr>
              <a:t>DGCA</a:t>
            </a:r>
            <a:endParaRPr lang="en-US" sz="800" dirty="0"/>
          </a:p>
        </p:txBody>
      </p:sp>
      <p:sp>
        <p:nvSpPr>
          <p:cNvPr id="14" name="Text 12"/>
          <p:cNvSpPr/>
          <p:nvPr/>
        </p:nvSpPr>
        <p:spPr>
          <a:xfrm>
            <a:off x="6446520" y="1618488"/>
            <a:ext cx="4937760" cy="310896"/>
          </a:xfrm>
          <a:prstGeom prst="rect">
            <a:avLst/>
          </a:prstGeom>
          <a:noFill/>
          <a:ln/>
        </p:spPr>
        <p:txBody>
          <a:bodyPr wrap="square" lIns="0" tIns="0" rIns="0" bIns="0" rtlCol="0" anchor="ctr"/>
          <a:lstStyle/>
          <a:p>
            <a:pPr indent="0" marL="0">
              <a:buNone/>
            </a:pPr>
            <a:r>
              <a:rPr lang="en-US" sz="1600" b="1" dirty="0">
                <a:solidFill>
                  <a:srgbClr val="10161D"/>
                </a:solidFill>
                <a:latin typeface="Cambria" pitchFamily="34" charset="0"/>
                <a:ea typeface="Cambria" pitchFamily="34" charset="-122"/>
                <a:cs typeface="Cambria" pitchFamily="34" charset="-120"/>
              </a:rPr>
              <a:t>An evidence base for tariff monitoring</a:t>
            </a:r>
            <a:endParaRPr lang="en-US" sz="1600" dirty="0"/>
          </a:p>
        </p:txBody>
      </p:sp>
      <p:sp>
        <p:nvSpPr>
          <p:cNvPr id="15" name="Text 13"/>
          <p:cNvSpPr/>
          <p:nvPr/>
        </p:nvSpPr>
        <p:spPr>
          <a:xfrm>
            <a:off x="6446520" y="1965960"/>
            <a:ext cx="4937760" cy="1042416"/>
          </a:xfrm>
          <a:prstGeom prst="rect">
            <a:avLst/>
          </a:prstGeom>
          <a:noFill/>
          <a:ln/>
        </p:spPr>
        <p:txBody>
          <a:bodyPr wrap="square" lIns="0" tIns="0" rIns="0" bIns="0" rtlCol="0" anchor="ctr"/>
          <a:lstStyle/>
          <a:p>
            <a:pPr indent="0" marL="0">
              <a:lnSpc>
                <a:spcPts val="1500"/>
              </a:lnSpc>
              <a:buNone/>
            </a:pPr>
            <a:r>
              <a:rPr lang="en-US" sz="1100" dirty="0">
                <a:solidFill>
                  <a:srgbClr val="4C5764"/>
                </a:solidFill>
                <a:latin typeface="Calibri" pitchFamily="34" charset="0"/>
                <a:ea typeface="Calibri" pitchFamily="34" charset="-122"/>
                <a:cs typeface="Calibri" pitchFamily="34" charset="-120"/>
              </a:rPr>
              <a:t>The regulator monitors fares on selected routes today. A continuously observed, horizon-controlled panel turns spot checks into a series: which routes move, how far ahead the movement starts, and whether a festival window or a capacity change is driving it.</a:t>
            </a:r>
            <a:endParaRPr lang="en-US" sz="1100" dirty="0"/>
          </a:p>
        </p:txBody>
      </p:sp>
      <p:sp>
        <p:nvSpPr>
          <p:cNvPr id="16" name="Shape 14"/>
          <p:cNvSpPr/>
          <p:nvPr/>
        </p:nvSpPr>
        <p:spPr>
          <a:xfrm>
            <a:off x="566928" y="3291840"/>
            <a:ext cx="5394960" cy="1965960"/>
          </a:xfrm>
          <a:prstGeom prst="roundRect">
            <a:avLst>
              <a:gd name="adj" fmla="val 2791"/>
            </a:avLst>
          </a:prstGeom>
          <a:solidFill>
            <a:srgbClr val="FFFFFF"/>
          </a:solidFill>
          <a:ln w="9525">
            <a:solidFill>
              <a:srgbClr val="D8DEE5"/>
            </a:solidFill>
            <a:prstDash val="solid"/>
          </a:ln>
        </p:spPr>
      </p:sp>
      <p:sp>
        <p:nvSpPr>
          <p:cNvPr id="17" name="Shape 15"/>
          <p:cNvSpPr/>
          <p:nvPr/>
        </p:nvSpPr>
        <p:spPr>
          <a:xfrm>
            <a:off x="804672" y="3474720"/>
            <a:ext cx="1289304" cy="214884"/>
          </a:xfrm>
          <a:prstGeom prst="roundRect">
            <a:avLst>
              <a:gd name="adj" fmla="val 46809"/>
            </a:avLst>
          </a:prstGeom>
          <a:solidFill>
            <a:srgbClr val="F7EEDC"/>
          </a:solidFill>
          <a:ln/>
        </p:spPr>
      </p:sp>
      <p:sp>
        <p:nvSpPr>
          <p:cNvPr id="18" name="Text 16"/>
          <p:cNvSpPr/>
          <p:nvPr/>
        </p:nvSpPr>
        <p:spPr>
          <a:xfrm>
            <a:off x="804672" y="3474720"/>
            <a:ext cx="1289304" cy="214884"/>
          </a:xfrm>
          <a:prstGeom prst="rect">
            <a:avLst/>
          </a:prstGeom>
          <a:noFill/>
          <a:ln/>
        </p:spPr>
        <p:txBody>
          <a:bodyPr wrap="square" lIns="0" tIns="0" rIns="0" bIns="0" rtlCol="0" anchor="ctr"/>
          <a:lstStyle/>
          <a:p>
            <a:pPr algn="ctr" indent="0" marL="0">
              <a:buNone/>
            </a:pPr>
            <a:r>
              <a:rPr lang="en-US" sz="800" b="1" spc="80" kern="0" dirty="0">
                <a:solidFill>
                  <a:srgbClr val="9A5A12"/>
                </a:solidFill>
                <a:latin typeface="Calibri" pitchFamily="34" charset="0"/>
                <a:ea typeface="Calibri" pitchFamily="34" charset="-122"/>
                <a:cs typeface="Calibri" pitchFamily="34" charset="-120"/>
              </a:rPr>
              <a:t>TRAVELLERS</a:t>
            </a:r>
            <a:endParaRPr lang="en-US" sz="800" dirty="0"/>
          </a:p>
        </p:txBody>
      </p:sp>
      <p:sp>
        <p:nvSpPr>
          <p:cNvPr id="19" name="Text 17"/>
          <p:cNvSpPr/>
          <p:nvPr/>
        </p:nvSpPr>
        <p:spPr>
          <a:xfrm>
            <a:off x="804672" y="3767328"/>
            <a:ext cx="4919472" cy="310896"/>
          </a:xfrm>
          <a:prstGeom prst="rect">
            <a:avLst/>
          </a:prstGeom>
          <a:noFill/>
          <a:ln/>
        </p:spPr>
        <p:txBody>
          <a:bodyPr wrap="square" lIns="0" tIns="0" rIns="0" bIns="0" rtlCol="0" anchor="ctr"/>
          <a:lstStyle/>
          <a:p>
            <a:pPr indent="0" marL="0">
              <a:buNone/>
            </a:pPr>
            <a:r>
              <a:rPr lang="en-US" sz="1600" b="1" dirty="0">
                <a:solidFill>
                  <a:srgbClr val="10161D"/>
                </a:solidFill>
                <a:latin typeface="Cambria" pitchFamily="34" charset="0"/>
                <a:ea typeface="Cambria" pitchFamily="34" charset="-122"/>
                <a:cs typeface="Cambria" pitchFamily="34" charset="-120"/>
              </a:rPr>
              <a:t>Fare behaviour made legible</a:t>
            </a:r>
            <a:endParaRPr lang="en-US" sz="1600" dirty="0"/>
          </a:p>
        </p:txBody>
      </p:sp>
      <p:sp>
        <p:nvSpPr>
          <p:cNvPr id="20" name="Text 18"/>
          <p:cNvSpPr/>
          <p:nvPr/>
        </p:nvSpPr>
        <p:spPr>
          <a:xfrm>
            <a:off x="804672" y="4114800"/>
            <a:ext cx="4919472" cy="1042416"/>
          </a:xfrm>
          <a:prstGeom prst="rect">
            <a:avLst/>
          </a:prstGeom>
          <a:noFill/>
          <a:ln/>
        </p:spPr>
        <p:txBody>
          <a:bodyPr wrap="square" lIns="0" tIns="0" rIns="0" bIns="0" rtlCol="0" anchor="ctr"/>
          <a:lstStyle/>
          <a:p>
            <a:pPr indent="0" marL="0">
              <a:lnSpc>
                <a:spcPts val="1500"/>
              </a:lnSpc>
              <a:buNone/>
            </a:pPr>
            <a:r>
              <a:rPr lang="en-US" sz="1100" dirty="0">
                <a:solidFill>
                  <a:srgbClr val="4C5764"/>
                </a:solidFill>
                <a:latin typeface="Calibri" pitchFamily="34" charset="0"/>
                <a:ea typeface="Calibri" pitchFamily="34" charset="-122"/>
                <a:cs typeface="Calibri" pitchFamily="34" charset="-120"/>
              </a:rPr>
              <a:t>Published openly, methodology alongside: how far ahead to book on a given route, what a festival window costs, and how last-minute pricing differs between full-service and low-cost carriers. The calendar already encodes 8 festivals and 3 vacation windows with lead-day markers.</a:t>
            </a:r>
            <a:endParaRPr lang="en-US" sz="1100" dirty="0"/>
          </a:p>
        </p:txBody>
      </p:sp>
      <p:sp>
        <p:nvSpPr>
          <p:cNvPr id="21" name="Shape 19"/>
          <p:cNvSpPr/>
          <p:nvPr/>
        </p:nvSpPr>
        <p:spPr>
          <a:xfrm>
            <a:off x="6208776" y="3291840"/>
            <a:ext cx="5413248" cy="1965960"/>
          </a:xfrm>
          <a:prstGeom prst="roundRect">
            <a:avLst>
              <a:gd name="adj" fmla="val 2791"/>
            </a:avLst>
          </a:prstGeom>
          <a:solidFill>
            <a:srgbClr val="FFFFFF"/>
          </a:solidFill>
          <a:ln w="9525">
            <a:solidFill>
              <a:srgbClr val="D8DEE5"/>
            </a:solidFill>
            <a:prstDash val="solid"/>
          </a:ln>
        </p:spPr>
      </p:sp>
      <p:sp>
        <p:nvSpPr>
          <p:cNvPr id="22" name="Shape 20"/>
          <p:cNvSpPr/>
          <p:nvPr/>
        </p:nvSpPr>
        <p:spPr>
          <a:xfrm>
            <a:off x="6446520" y="3474720"/>
            <a:ext cx="1920240" cy="214884"/>
          </a:xfrm>
          <a:prstGeom prst="roundRect">
            <a:avLst>
              <a:gd name="adj" fmla="val 46809"/>
            </a:avLst>
          </a:prstGeom>
          <a:solidFill>
            <a:srgbClr val="E1EFE8"/>
          </a:solidFill>
          <a:ln/>
        </p:spPr>
      </p:sp>
      <p:sp>
        <p:nvSpPr>
          <p:cNvPr id="23" name="Text 21"/>
          <p:cNvSpPr/>
          <p:nvPr/>
        </p:nvSpPr>
        <p:spPr>
          <a:xfrm>
            <a:off x="6446520" y="3474720"/>
            <a:ext cx="1920240" cy="214884"/>
          </a:xfrm>
          <a:prstGeom prst="rect">
            <a:avLst/>
          </a:prstGeom>
          <a:noFill/>
          <a:ln/>
        </p:spPr>
        <p:txBody>
          <a:bodyPr wrap="square" lIns="0" tIns="0" rIns="0" bIns="0" rtlCol="0" anchor="ctr"/>
          <a:lstStyle/>
          <a:p>
            <a:pPr algn="ctr" indent="0" marL="0">
              <a:buNone/>
            </a:pPr>
            <a:r>
              <a:rPr lang="en-US" sz="800" b="1" spc="80" kern="0" dirty="0">
                <a:solidFill>
                  <a:srgbClr val="1F6A4A"/>
                </a:solidFill>
                <a:latin typeface="Calibri" pitchFamily="34" charset="0"/>
                <a:ea typeface="Calibri" pitchFamily="34" charset="-122"/>
                <a:cs typeface="Calibri" pitchFamily="34" charset="-120"/>
              </a:rPr>
              <a:t>THE WIDER SYSTEM</a:t>
            </a:r>
            <a:endParaRPr lang="en-US" sz="800" dirty="0"/>
          </a:p>
        </p:txBody>
      </p:sp>
      <p:sp>
        <p:nvSpPr>
          <p:cNvPr id="24" name="Text 22"/>
          <p:cNvSpPr/>
          <p:nvPr/>
        </p:nvSpPr>
        <p:spPr>
          <a:xfrm>
            <a:off x="6446520" y="3767328"/>
            <a:ext cx="4937760" cy="310896"/>
          </a:xfrm>
          <a:prstGeom prst="rect">
            <a:avLst/>
          </a:prstGeom>
          <a:noFill/>
          <a:ln/>
        </p:spPr>
        <p:txBody>
          <a:bodyPr wrap="square" lIns="0" tIns="0" rIns="0" bIns="0" rtlCol="0" anchor="ctr"/>
          <a:lstStyle/>
          <a:p>
            <a:pPr indent="0" marL="0">
              <a:buNone/>
            </a:pPr>
            <a:r>
              <a:rPr lang="en-US" sz="1600" b="1" dirty="0">
                <a:solidFill>
                  <a:srgbClr val="10161D"/>
                </a:solidFill>
                <a:latin typeface="Cambria" pitchFamily="34" charset="0"/>
                <a:ea typeface="Cambria" pitchFamily="34" charset="-122"/>
                <a:cs typeface="Cambria" pitchFamily="34" charset="-120"/>
              </a:rPr>
              <a:t>Reusable well beyond airfares</a:t>
            </a:r>
            <a:endParaRPr lang="en-US" sz="1600" dirty="0"/>
          </a:p>
        </p:txBody>
      </p:sp>
      <p:sp>
        <p:nvSpPr>
          <p:cNvPr id="25" name="Text 23"/>
          <p:cNvSpPr/>
          <p:nvPr/>
        </p:nvSpPr>
        <p:spPr>
          <a:xfrm>
            <a:off x="6446520" y="4114800"/>
            <a:ext cx="4937760" cy="1042416"/>
          </a:xfrm>
          <a:prstGeom prst="rect">
            <a:avLst/>
          </a:prstGeom>
          <a:noFill/>
          <a:ln/>
        </p:spPr>
        <p:txBody>
          <a:bodyPr wrap="square" lIns="0" tIns="0" rIns="0" bIns="0" rtlCol="0" anchor="ctr"/>
          <a:lstStyle/>
          <a:p>
            <a:pPr indent="0" marL="0">
              <a:lnSpc>
                <a:spcPts val="1500"/>
              </a:lnSpc>
              <a:buNone/>
            </a:pPr>
            <a:r>
              <a:rPr lang="en-US" sz="1100" dirty="0">
                <a:solidFill>
                  <a:srgbClr val="4C5764"/>
                </a:solidFill>
                <a:latin typeface="Calibri" pitchFamily="34" charset="0"/>
                <a:ea typeface="Calibri" pitchFamily="34" charset="-122"/>
                <a:cs typeface="Calibri" pitchFamily="34" charset="-120"/>
              </a:rPr>
              <a:t>The reproducibility machinery — append-only archive, hashed config, a pure index function, golden tests — is not airfare-specific. Any high-frequency price collection the statistical system takes on can reuse it. At ₹0 recurring, handover carries no budget line.</a:t>
            </a:r>
            <a:endParaRPr lang="en-US" sz="1100" dirty="0"/>
          </a:p>
        </p:txBody>
      </p:sp>
      <p:sp>
        <p:nvSpPr>
          <p:cNvPr id="26" name="Shape 24"/>
          <p:cNvSpPr/>
          <p:nvPr/>
        </p:nvSpPr>
        <p:spPr>
          <a:xfrm>
            <a:off x="566928" y="5468112"/>
            <a:ext cx="11057839" cy="786384"/>
          </a:xfrm>
          <a:prstGeom prst="roundRect">
            <a:avLst>
              <a:gd name="adj" fmla="val 6977"/>
            </a:avLst>
          </a:prstGeom>
          <a:solidFill>
            <a:srgbClr val="E4EAF4"/>
          </a:solidFill>
          <a:ln/>
        </p:spPr>
      </p:sp>
      <p:sp>
        <p:nvSpPr>
          <p:cNvPr id="27" name="Text 25"/>
          <p:cNvSpPr/>
          <p:nvPr/>
        </p:nvSpPr>
        <p:spPr>
          <a:xfrm>
            <a:off x="822960" y="5559552"/>
            <a:ext cx="10545775" cy="603504"/>
          </a:xfrm>
          <a:prstGeom prst="rect">
            <a:avLst/>
          </a:prstGeom>
          <a:noFill/>
          <a:ln/>
        </p:spPr>
        <p:txBody>
          <a:bodyPr wrap="square" lIns="0" tIns="0" rIns="0" bIns="0" rtlCol="0" anchor="ctr"/>
          <a:lstStyle/>
          <a:p>
            <a:pPr indent="0" marL="0">
              <a:lnSpc>
                <a:spcPts val="1350"/>
              </a:lnSpc>
              <a:buNone/>
            </a:pPr>
            <a:r>
              <a:rPr lang="en-US" sz="1000" b="1" spc="60" kern="0" dirty="0">
                <a:solidFill>
                  <a:srgbClr val="1B3A6B"/>
                </a:solidFill>
                <a:latin typeface="Calibri" pitchFamily="34" charset="0"/>
                <a:ea typeface="Calibri" pitchFamily="34" charset="-122"/>
                <a:cs typeface="Calibri" pitchFamily="34" charset="-120"/>
              </a:rPr>
              <a:t>INDEPENDENTLY CORROBORATED — </a:t>
            </a:r>
            <a:pPr indent="0" marL="0">
              <a:lnSpc>
                <a:spcPts val="1350"/>
              </a:lnSpc>
              <a:buNone/>
            </a:pPr>
            <a:r>
              <a:rPr lang="en-US" sz="1000" dirty="0">
                <a:solidFill>
                  <a:srgbClr val="4C5764"/>
                </a:solidFill>
                <a:latin typeface="Calibri" pitchFamily="34" charset="0"/>
                <a:ea typeface="Calibri" pitchFamily="34" charset="-122"/>
                <a:cs typeface="Calibri" pitchFamily="34" charset="-120"/>
              </a:rPr>
              <a:t>MoSPI's own CPI 2024 series uses Jevons for elementary indices and a Laspeyres-family aggregation above it — the two most consequential choices AeroDex made, arrived at independently and before we knew. The IMF Technical Assistance mission to MoSPI separately recommended a greater variety of advance-purchase timings and treating the airline as a price-determining characteristic; the 7-horizon, carrier-attributed panel already does both.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475488"/>
            <a:ext cx="402336" cy="402336"/>
          </a:xfrm>
          <a:prstGeom prst="roundRect">
            <a:avLst>
              <a:gd name="adj" fmla="val 11364"/>
            </a:avLst>
          </a:prstGeom>
          <a:solidFill>
            <a:srgbClr val="2F5C9E"/>
          </a:solidFill>
          <a:ln/>
        </p:spPr>
      </p:sp>
      <p:sp>
        <p:nvSpPr>
          <p:cNvPr id="3" name="Text 1"/>
          <p:cNvSpPr/>
          <p:nvPr/>
        </p:nvSpPr>
        <p:spPr>
          <a:xfrm>
            <a:off x="566928" y="4754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4" name="Text 2"/>
          <p:cNvSpPr/>
          <p:nvPr/>
        </p:nvSpPr>
        <p:spPr>
          <a:xfrm>
            <a:off x="1088136" y="420624"/>
            <a:ext cx="6583680" cy="51206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Research and References</a:t>
            </a:r>
            <a:endParaRPr lang="en-US" sz="3100" dirty="0"/>
          </a:p>
        </p:txBody>
      </p:sp>
      <p:sp>
        <p:nvSpPr>
          <p:cNvPr id="5" name="Text 3"/>
          <p:cNvSpPr/>
          <p:nvPr/>
        </p:nvSpPr>
        <p:spPr>
          <a:xfrm>
            <a:off x="6400800" y="457200"/>
            <a:ext cx="5223967" cy="438912"/>
          </a:xfrm>
          <a:prstGeom prst="rect">
            <a:avLst/>
          </a:prstGeom>
          <a:noFill/>
          <a:ln/>
        </p:spPr>
        <p:txBody>
          <a:bodyPr wrap="square" lIns="0" tIns="0" rIns="0" bIns="0" rtlCol="0" anchor="ctr"/>
          <a:lstStyle/>
          <a:p>
            <a:pPr algn="r" indent="0" marL="0">
              <a:buNone/>
            </a:pPr>
            <a:r>
              <a:rPr lang="en-US" sz="950" spc="30" kern="0" dirty="0">
                <a:solidFill>
                  <a:srgbClr val="7E93AE"/>
                </a:solidFill>
                <a:latin typeface="Calibri" pitchFamily="34" charset="0"/>
                <a:ea typeface="Calibri" pitchFamily="34" charset="-122"/>
                <a:cs typeface="Calibri" pitchFamily="34" charset="-120"/>
              </a:rPr>
              <a:t>Everything below is in the repository and citable</a:t>
            </a:r>
            <a:endParaRPr lang="en-US" sz="950" dirty="0"/>
          </a:p>
        </p:txBody>
      </p:sp>
      <p:sp>
        <p:nvSpPr>
          <p:cNvPr id="6" name="Shape 4"/>
          <p:cNvSpPr/>
          <p:nvPr/>
        </p:nvSpPr>
        <p:spPr>
          <a:xfrm>
            <a:off x="566928" y="1143000"/>
            <a:ext cx="4160520" cy="4645152"/>
          </a:xfrm>
          <a:prstGeom prst="roundRect">
            <a:avLst>
              <a:gd name="adj" fmla="val 1319"/>
            </a:avLst>
          </a:prstGeom>
          <a:solidFill>
            <a:srgbClr val="16263D"/>
          </a:solidFill>
          <a:ln w="9525">
            <a:solidFill>
              <a:srgbClr val="26384F"/>
            </a:solidFill>
            <a:prstDash val="solid"/>
          </a:ln>
        </p:spPr>
      </p:sp>
      <p:sp>
        <p:nvSpPr>
          <p:cNvPr id="7" name="Text 5"/>
          <p:cNvSpPr/>
          <p:nvPr/>
        </p:nvSpPr>
        <p:spPr>
          <a:xfrm>
            <a:off x="804672" y="1298448"/>
            <a:ext cx="3685032" cy="219456"/>
          </a:xfrm>
          <a:prstGeom prst="rect">
            <a:avLst/>
          </a:prstGeom>
          <a:noFill/>
          <a:ln/>
        </p:spPr>
        <p:txBody>
          <a:bodyPr wrap="square" lIns="0" tIns="0" rIns="0" bIns="0" rtlCol="0" anchor="ctr"/>
          <a:lstStyle/>
          <a:p>
            <a:pPr indent="0" marL="0">
              <a:buNone/>
            </a:pPr>
            <a:r>
              <a:rPr lang="en-US" sz="950" b="1" spc="110" kern="0" dirty="0">
                <a:solidFill>
                  <a:srgbClr val="D99A4A"/>
                </a:solidFill>
                <a:latin typeface="Calibri" pitchFamily="34" charset="0"/>
                <a:ea typeface="Calibri" pitchFamily="34" charset="-122"/>
                <a:cs typeface="Calibri" pitchFamily="34" charset="-120"/>
              </a:rPr>
              <a:t>THE RESEARCH RECORD</a:t>
            </a:r>
            <a:endParaRPr lang="en-US" sz="950" dirty="0"/>
          </a:p>
        </p:txBody>
      </p:sp>
      <p:sp>
        <p:nvSpPr>
          <p:cNvPr id="8" name="Text 6"/>
          <p:cNvSpPr/>
          <p:nvPr/>
        </p:nvSpPr>
        <p:spPr>
          <a:xfrm>
            <a:off x="804672" y="1627632"/>
            <a:ext cx="914400" cy="329184"/>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4</a:t>
            </a:r>
            <a:endParaRPr lang="en-US" sz="2100" dirty="0"/>
          </a:p>
        </p:txBody>
      </p:sp>
      <p:sp>
        <p:nvSpPr>
          <p:cNvPr id="9" name="Text 7"/>
          <p:cNvSpPr/>
          <p:nvPr/>
        </p:nvSpPr>
        <p:spPr>
          <a:xfrm>
            <a:off x="1755648" y="1600200"/>
            <a:ext cx="2697480" cy="402336"/>
          </a:xfrm>
          <a:prstGeom prst="rect">
            <a:avLst/>
          </a:prstGeom>
          <a:noFill/>
          <a:ln/>
        </p:spPr>
        <p:txBody>
          <a:bodyPr wrap="square" lIns="0" tIns="0" rIns="0" bIns="0" rtlCol="0" anchor="ctr"/>
          <a:lstStyle/>
          <a:p>
            <a:pPr indent="0" marL="0">
              <a:lnSpc>
                <a:spcPts val="1200"/>
              </a:lnSpc>
              <a:buNone/>
            </a:pPr>
            <a:r>
              <a:rPr lang="en-US" sz="900" dirty="0">
                <a:solidFill>
                  <a:srgbClr val="A9BBD3"/>
                </a:solidFill>
                <a:latin typeface="Calibri" pitchFamily="34" charset="0"/>
                <a:ea typeface="Calibri" pitchFamily="34" charset="-122"/>
                <a:cs typeface="Calibri" pitchFamily="34" charset="-120"/>
              </a:rPr>
              <a:t>research passes, each one auditing the last</a:t>
            </a:r>
            <a:endParaRPr lang="en-US" sz="900" dirty="0"/>
          </a:p>
        </p:txBody>
      </p:sp>
      <p:sp>
        <p:nvSpPr>
          <p:cNvPr id="10" name="Text 8"/>
          <p:cNvSpPr/>
          <p:nvPr/>
        </p:nvSpPr>
        <p:spPr>
          <a:xfrm>
            <a:off x="804672" y="2176272"/>
            <a:ext cx="914400" cy="329184"/>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40+</a:t>
            </a:r>
            <a:endParaRPr lang="en-US" sz="2100" dirty="0"/>
          </a:p>
        </p:txBody>
      </p:sp>
      <p:sp>
        <p:nvSpPr>
          <p:cNvPr id="11" name="Text 9"/>
          <p:cNvSpPr/>
          <p:nvPr/>
        </p:nvSpPr>
        <p:spPr>
          <a:xfrm>
            <a:off x="1755648" y="2148840"/>
            <a:ext cx="2697480" cy="402336"/>
          </a:xfrm>
          <a:prstGeom prst="rect">
            <a:avLst/>
          </a:prstGeom>
          <a:noFill/>
          <a:ln/>
        </p:spPr>
        <p:txBody>
          <a:bodyPr wrap="square" lIns="0" tIns="0" rIns="0" bIns="0" rtlCol="0" anchor="ctr"/>
          <a:lstStyle/>
          <a:p>
            <a:pPr indent="0" marL="0">
              <a:lnSpc>
                <a:spcPts val="1200"/>
              </a:lnSpc>
              <a:buNone/>
            </a:pPr>
            <a:r>
              <a:rPr lang="en-US" sz="900" dirty="0">
                <a:solidFill>
                  <a:srgbClr val="A9BBD3"/>
                </a:solidFill>
                <a:latin typeface="Calibri" pitchFamily="34" charset="0"/>
                <a:ea typeface="Calibri" pitchFamily="34" charset="-122"/>
                <a:cs typeface="Calibri" pitchFamily="34" charset="-120"/>
              </a:rPr>
              <a:t>candidate sources assessed end to end</a:t>
            </a:r>
            <a:endParaRPr lang="en-US" sz="900" dirty="0"/>
          </a:p>
        </p:txBody>
      </p:sp>
      <p:sp>
        <p:nvSpPr>
          <p:cNvPr id="12" name="Text 10"/>
          <p:cNvSpPr/>
          <p:nvPr/>
        </p:nvSpPr>
        <p:spPr>
          <a:xfrm>
            <a:off x="804672" y="2724912"/>
            <a:ext cx="914400" cy="329184"/>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9</a:t>
            </a:r>
            <a:endParaRPr lang="en-US" sz="2100" dirty="0"/>
          </a:p>
        </p:txBody>
      </p:sp>
      <p:sp>
        <p:nvSpPr>
          <p:cNvPr id="13" name="Text 11"/>
          <p:cNvSpPr/>
          <p:nvPr/>
        </p:nvSpPr>
        <p:spPr>
          <a:xfrm>
            <a:off x="1755648" y="2697480"/>
            <a:ext cx="2697480" cy="402336"/>
          </a:xfrm>
          <a:prstGeom prst="rect">
            <a:avLst/>
          </a:prstGeom>
          <a:noFill/>
          <a:ln/>
        </p:spPr>
        <p:txBody>
          <a:bodyPr wrap="square" lIns="0" tIns="0" rIns="0" bIns="0" rtlCol="0" anchor="ctr"/>
          <a:lstStyle/>
          <a:p>
            <a:pPr indent="0" marL="0">
              <a:lnSpc>
                <a:spcPts val="1200"/>
              </a:lnSpc>
              <a:buNone/>
            </a:pPr>
            <a:r>
              <a:rPr lang="en-US" sz="900" dirty="0">
                <a:solidFill>
                  <a:srgbClr val="A9BBD3"/>
                </a:solidFill>
                <a:latin typeface="Calibri" pitchFamily="34" charset="0"/>
                <a:ea typeface="Calibri" pitchFamily="34" charset="-122"/>
                <a:cs typeface="Calibri" pitchFamily="34" charset="-120"/>
              </a:rPr>
              <a:t>independent axes resolved per source</a:t>
            </a:r>
            <a:endParaRPr lang="en-US" sz="900" dirty="0"/>
          </a:p>
        </p:txBody>
      </p:sp>
      <p:sp>
        <p:nvSpPr>
          <p:cNvPr id="14" name="Text 12"/>
          <p:cNvSpPr/>
          <p:nvPr/>
        </p:nvSpPr>
        <p:spPr>
          <a:xfrm>
            <a:off x="804672" y="3273552"/>
            <a:ext cx="914400" cy="329184"/>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38</a:t>
            </a:r>
            <a:endParaRPr lang="en-US" sz="2100" dirty="0"/>
          </a:p>
        </p:txBody>
      </p:sp>
      <p:sp>
        <p:nvSpPr>
          <p:cNvPr id="15" name="Text 13"/>
          <p:cNvSpPr/>
          <p:nvPr/>
        </p:nvSpPr>
        <p:spPr>
          <a:xfrm>
            <a:off x="1755648" y="3246120"/>
            <a:ext cx="2697480" cy="402336"/>
          </a:xfrm>
          <a:prstGeom prst="rect">
            <a:avLst/>
          </a:prstGeom>
          <a:noFill/>
          <a:ln/>
        </p:spPr>
        <p:txBody>
          <a:bodyPr wrap="square" lIns="0" tIns="0" rIns="0" bIns="0" rtlCol="0" anchor="ctr"/>
          <a:lstStyle/>
          <a:p>
            <a:pPr indent="0" marL="0">
              <a:lnSpc>
                <a:spcPts val="1200"/>
              </a:lnSpc>
              <a:buNone/>
            </a:pPr>
            <a:r>
              <a:rPr lang="en-US" sz="900" dirty="0">
                <a:solidFill>
                  <a:srgbClr val="A9BBD3"/>
                </a:solidFill>
                <a:latin typeface="Calibri" pitchFamily="34" charset="0"/>
                <a:ea typeface="Calibri" pitchFamily="34" charset="-122"/>
                <a:cs typeface="Calibri" pitchFamily="34" charset="-120"/>
              </a:rPr>
              <a:t>claims registered with evidence and a confidence level</a:t>
            </a:r>
            <a:endParaRPr lang="en-US" sz="900" dirty="0"/>
          </a:p>
        </p:txBody>
      </p:sp>
      <p:sp>
        <p:nvSpPr>
          <p:cNvPr id="16" name="Text 14"/>
          <p:cNvSpPr/>
          <p:nvPr/>
        </p:nvSpPr>
        <p:spPr>
          <a:xfrm>
            <a:off x="804672" y="3822192"/>
            <a:ext cx="914400" cy="329184"/>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14</a:t>
            </a:r>
            <a:endParaRPr lang="en-US" sz="2100" dirty="0"/>
          </a:p>
        </p:txBody>
      </p:sp>
      <p:sp>
        <p:nvSpPr>
          <p:cNvPr id="17" name="Text 15"/>
          <p:cNvSpPr/>
          <p:nvPr/>
        </p:nvSpPr>
        <p:spPr>
          <a:xfrm>
            <a:off x="1755648" y="3794760"/>
            <a:ext cx="2697480" cy="402336"/>
          </a:xfrm>
          <a:prstGeom prst="rect">
            <a:avLst/>
          </a:prstGeom>
          <a:noFill/>
          <a:ln/>
        </p:spPr>
        <p:txBody>
          <a:bodyPr wrap="square" lIns="0" tIns="0" rIns="0" bIns="0" rtlCol="0" anchor="ctr"/>
          <a:lstStyle/>
          <a:p>
            <a:pPr indent="0" marL="0">
              <a:lnSpc>
                <a:spcPts val="1200"/>
              </a:lnSpc>
              <a:buNone/>
            </a:pPr>
            <a:r>
              <a:rPr lang="en-US" sz="900" dirty="0">
                <a:solidFill>
                  <a:srgbClr val="A9BBD3"/>
                </a:solidFill>
                <a:latin typeface="Calibri" pitchFamily="34" charset="0"/>
                <a:ea typeface="Calibri" pitchFamily="34" charset="-122"/>
                <a:cs typeface="Calibri" pitchFamily="34" charset="-120"/>
              </a:rPr>
              <a:t>archived tariff sheets parsed in the one empirical experiment</a:t>
            </a:r>
            <a:endParaRPr lang="en-US" sz="900" dirty="0"/>
          </a:p>
        </p:txBody>
      </p:sp>
      <p:sp>
        <p:nvSpPr>
          <p:cNvPr id="18" name="Text 16"/>
          <p:cNvSpPr/>
          <p:nvPr/>
        </p:nvSpPr>
        <p:spPr>
          <a:xfrm>
            <a:off x="804672" y="4370832"/>
            <a:ext cx="914400" cy="329184"/>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3,200+</a:t>
            </a:r>
            <a:endParaRPr lang="en-US" sz="2100" dirty="0"/>
          </a:p>
        </p:txBody>
      </p:sp>
      <p:sp>
        <p:nvSpPr>
          <p:cNvPr id="19" name="Text 17"/>
          <p:cNvSpPr/>
          <p:nvPr/>
        </p:nvSpPr>
        <p:spPr>
          <a:xfrm>
            <a:off x="1755648" y="4343400"/>
            <a:ext cx="2697480" cy="402336"/>
          </a:xfrm>
          <a:prstGeom prst="rect">
            <a:avLst/>
          </a:prstGeom>
          <a:noFill/>
          <a:ln/>
        </p:spPr>
        <p:txBody>
          <a:bodyPr wrap="square" lIns="0" tIns="0" rIns="0" bIns="0" rtlCol="0" anchor="ctr"/>
          <a:lstStyle/>
          <a:p>
            <a:pPr indent="0" marL="0">
              <a:lnSpc>
                <a:spcPts val="1200"/>
              </a:lnSpc>
              <a:buNone/>
            </a:pPr>
            <a:r>
              <a:rPr lang="en-US" sz="900" dirty="0">
                <a:solidFill>
                  <a:srgbClr val="A9BBD3"/>
                </a:solidFill>
                <a:latin typeface="Calibri" pitchFamily="34" charset="0"/>
                <a:ea typeface="Calibri" pitchFamily="34" charset="-122"/>
                <a:cs typeface="Calibri" pitchFamily="34" charset="-120"/>
              </a:rPr>
              <a:t>lines of primary-source research checked into the repo</a:t>
            </a:r>
            <a:endParaRPr lang="en-US" sz="900" dirty="0"/>
          </a:p>
        </p:txBody>
      </p:sp>
      <p:sp>
        <p:nvSpPr>
          <p:cNvPr id="20" name="Text 18"/>
          <p:cNvSpPr/>
          <p:nvPr/>
        </p:nvSpPr>
        <p:spPr>
          <a:xfrm>
            <a:off x="804672" y="4992624"/>
            <a:ext cx="3685032" cy="658368"/>
          </a:xfrm>
          <a:prstGeom prst="rect">
            <a:avLst/>
          </a:prstGeom>
          <a:noFill/>
          <a:ln/>
        </p:spPr>
        <p:txBody>
          <a:bodyPr wrap="square" lIns="0" tIns="0" rIns="0" bIns="0" rtlCol="0" anchor="ctr"/>
          <a:lstStyle/>
          <a:p>
            <a:pPr indent="0" marL="0">
              <a:lnSpc>
                <a:spcPts val="1150"/>
              </a:lnSpc>
              <a:buNone/>
            </a:pPr>
            <a:r>
              <a:rPr lang="en-US" sz="850" i="1" dirty="0">
                <a:solidFill>
                  <a:srgbClr val="7E93AE"/>
                </a:solidFill>
                <a:latin typeface="Calibri" pitchFamily="34" charset="0"/>
                <a:ea typeface="Calibri" pitchFamily="34" charset="-122"/>
                <a:cs typeface="Calibri" pitchFamily="34" charset="-120"/>
              </a:rPr>
              <a:t>Two verdicts were reversed by later passes. Both reversals are preserved in place rather than rewritten; claims resting on secondary sources are marked PRIMARY SOURCE NOT VERIFIED; and “not found” is kept distinct from “does not exist”.</a:t>
            </a:r>
            <a:endParaRPr lang="en-US" sz="850" dirty="0"/>
          </a:p>
        </p:txBody>
      </p:sp>
      <p:sp>
        <p:nvSpPr>
          <p:cNvPr id="21" name="Shape 19"/>
          <p:cNvSpPr/>
          <p:nvPr/>
        </p:nvSpPr>
        <p:spPr>
          <a:xfrm>
            <a:off x="4946904" y="1143000"/>
            <a:ext cx="6677863" cy="4645152"/>
          </a:xfrm>
          <a:prstGeom prst="roundRect">
            <a:avLst>
              <a:gd name="adj" fmla="val 1181"/>
            </a:avLst>
          </a:prstGeom>
          <a:solidFill>
            <a:srgbClr val="16263D"/>
          </a:solidFill>
          <a:ln w="9525">
            <a:solidFill>
              <a:srgbClr val="26384F"/>
            </a:solidFill>
            <a:prstDash val="solid"/>
          </a:ln>
        </p:spPr>
      </p:sp>
      <p:sp>
        <p:nvSpPr>
          <p:cNvPr id="22" name="Text 20"/>
          <p:cNvSpPr/>
          <p:nvPr/>
        </p:nvSpPr>
        <p:spPr>
          <a:xfrm>
            <a:off x="5184648" y="1316736"/>
            <a:ext cx="6199632" cy="201168"/>
          </a:xfrm>
          <a:prstGeom prst="rect">
            <a:avLst/>
          </a:prstGeom>
          <a:noFill/>
          <a:ln/>
        </p:spPr>
        <p:txBody>
          <a:bodyPr wrap="square" lIns="0" tIns="0" rIns="0" bIns="0" rtlCol="0" anchor="ctr"/>
          <a:lstStyle/>
          <a:p>
            <a:pPr indent="0" marL="0">
              <a:buNone/>
            </a:pPr>
            <a:r>
              <a:rPr lang="en-US" sz="800" b="1" spc="100" kern="0" dirty="0">
                <a:solidFill>
                  <a:srgbClr val="D99A4A"/>
                </a:solidFill>
                <a:latin typeface="Calibri" pitchFamily="34" charset="0"/>
                <a:ea typeface="Calibri" pitchFamily="34" charset="-122"/>
                <a:cs typeface="Calibri" pitchFamily="34" charset="-120"/>
              </a:rPr>
              <a:t>STATUTORY AND OFFICIAL</a:t>
            </a:r>
            <a:endParaRPr lang="en-US" sz="800" dirty="0"/>
          </a:p>
        </p:txBody>
      </p:sp>
      <p:sp>
        <p:nvSpPr>
          <p:cNvPr id="23" name="Text 21"/>
          <p:cNvSpPr/>
          <p:nvPr/>
        </p:nvSpPr>
        <p:spPr>
          <a:xfrm>
            <a:off x="5230368" y="1554480"/>
            <a:ext cx="6153912" cy="1019556"/>
          </a:xfrm>
          <a:prstGeom prst="rect">
            <a:avLst/>
          </a:prstGeom>
          <a:noFill/>
          <a:ln/>
        </p:spPr>
        <p:txBody>
          <a:bodyPr wrap="square" lIns="0" tIns="0" rIns="0" bIns="0" rtlCol="0" anchor="ctr"/>
          <a:lstStyle/>
          <a:p>
            <a:pPr marL="139700" indent="-139700">
              <a:lnSpc>
                <a:spcPts val="1150"/>
              </a:lnSpc>
              <a:spcAft>
                <a:spcPts val="200"/>
              </a:spcAft>
              <a:buSzPct val="100000"/>
              <a:buChar char="•"/>
            </a:pPr>
            <a:r>
              <a:rPr lang="en-US" sz="850" dirty="0">
                <a:solidFill>
                  <a:srgbClr val="A9BBD3"/>
                </a:solidFill>
                <a:latin typeface="Calibri" pitchFamily="34" charset="0"/>
                <a:ea typeface="Calibri" pitchFamily="34" charset="-122"/>
                <a:cs typeface="Calibri" pitchFamily="34" charset="-120"/>
              </a:rPr>
              <a:t>MoSPI, Consumer Price Index 2024 series — FAQ Q27, on airfare collection through online platforms</a:t>
            </a:r>
            <a:endParaRPr lang="en-US" sz="850" dirty="0"/>
          </a:p>
          <a:p>
            <a:pPr marL="139700" indent="-139700">
              <a:lnSpc>
                <a:spcPts val="1150"/>
              </a:lnSpc>
              <a:spcAft>
                <a:spcPts val="200"/>
              </a:spcAft>
              <a:buSzPct val="100000"/>
              <a:buChar char="•"/>
            </a:pPr>
            <a:r>
              <a:rPr lang="en-US" sz="850" dirty="0">
                <a:solidFill>
                  <a:srgbClr val="A9BBD3"/>
                </a:solidFill>
                <a:latin typeface="Calibri" pitchFamily="34" charset="0"/>
                <a:ea typeface="Calibri" pitchFamily="34" charset="-122"/>
                <a:cs typeface="Calibri" pitchFamily="34" charset="-120"/>
              </a:rPr>
              <a:t>MoSPI Expert Group report — recommendation 11(a): DGCA airfare data already supplied to MoSPI</a:t>
            </a:r>
            <a:endParaRPr lang="en-US" sz="850" dirty="0"/>
          </a:p>
          <a:p>
            <a:pPr marL="139700" indent="-139700">
              <a:lnSpc>
                <a:spcPts val="1150"/>
              </a:lnSpc>
              <a:spcAft>
                <a:spcPts val="200"/>
              </a:spcAft>
              <a:buSzPct val="100000"/>
              <a:buChar char="•"/>
            </a:pPr>
            <a:r>
              <a:rPr lang="en-US" sz="850" dirty="0">
                <a:solidFill>
                  <a:srgbClr val="A9BBD3"/>
                </a:solidFill>
                <a:latin typeface="Calibri" pitchFamily="34" charset="0"/>
                <a:ea typeface="Calibri" pitchFamily="34" charset="-122"/>
                <a:cs typeface="Calibri" pitchFamily="34" charset="-120"/>
              </a:rPr>
              <a:t>IMF Technical Assistance mission to MoSPI — CPI specification recommendations</a:t>
            </a:r>
            <a:endParaRPr lang="en-US" sz="850" dirty="0"/>
          </a:p>
          <a:p>
            <a:pPr marL="139700" indent="-139700">
              <a:lnSpc>
                <a:spcPts val="1150"/>
              </a:lnSpc>
              <a:spcAft>
                <a:spcPts val="200"/>
              </a:spcAft>
              <a:buSzPct val="100000"/>
              <a:buChar char="•"/>
            </a:pPr>
            <a:r>
              <a:rPr lang="en-US" sz="850" dirty="0">
                <a:solidFill>
                  <a:srgbClr val="A9BBD3"/>
                </a:solidFill>
                <a:latin typeface="Calibri" pitchFamily="34" charset="0"/>
                <a:ea typeface="Calibri" pitchFamily="34" charset="-122"/>
                <a:cs typeface="Calibri" pitchFamily="34" charset="-120"/>
              </a:rPr>
              <a:t>The Collection of Statistics Act, 2008</a:t>
            </a:r>
            <a:endParaRPr lang="en-US" sz="850" dirty="0"/>
          </a:p>
          <a:p>
            <a:pPr marL="139700" indent="-139700">
              <a:lnSpc>
                <a:spcPts val="1150"/>
              </a:lnSpc>
              <a:spcAft>
                <a:spcPts val="200"/>
              </a:spcAft>
              <a:buSzPct val="100000"/>
              <a:buChar char="•"/>
            </a:pPr>
            <a:r>
              <a:rPr lang="en-US" sz="850" dirty="0">
                <a:solidFill>
                  <a:srgbClr val="A9BBD3"/>
                </a:solidFill>
                <a:latin typeface="Calibri" pitchFamily="34" charset="0"/>
                <a:ea typeface="Calibri" pitchFamily="34" charset="-122"/>
                <a:cs typeface="Calibri" pitchFamily="34" charset="-120"/>
              </a:rPr>
              <a:t>Rule 135, Aircraft Rules 1937, and the DGCA tariff direction of 13 May 2025 — cited secondhand, marked primary source not verified</a:t>
            </a:r>
            <a:endParaRPr lang="en-US" sz="850" dirty="0"/>
          </a:p>
        </p:txBody>
      </p:sp>
      <p:sp>
        <p:nvSpPr>
          <p:cNvPr id="24" name="Text 22"/>
          <p:cNvSpPr/>
          <p:nvPr/>
        </p:nvSpPr>
        <p:spPr>
          <a:xfrm>
            <a:off x="5184648" y="2720340"/>
            <a:ext cx="6199632" cy="201168"/>
          </a:xfrm>
          <a:prstGeom prst="rect">
            <a:avLst/>
          </a:prstGeom>
          <a:noFill/>
          <a:ln/>
        </p:spPr>
        <p:txBody>
          <a:bodyPr wrap="square" lIns="0" tIns="0" rIns="0" bIns="0" rtlCol="0" anchor="ctr"/>
          <a:lstStyle/>
          <a:p>
            <a:pPr indent="0" marL="0">
              <a:buNone/>
            </a:pPr>
            <a:r>
              <a:rPr lang="en-US" sz="800" b="1" spc="100" kern="0" dirty="0">
                <a:solidFill>
                  <a:srgbClr val="D99A4A"/>
                </a:solidFill>
                <a:latin typeface="Calibri" pitchFamily="34" charset="0"/>
                <a:ea typeface="Calibri" pitchFamily="34" charset="-122"/>
                <a:cs typeface="Calibri" pitchFamily="34" charset="-120"/>
              </a:rPr>
              <a:t>DATA SOURCES</a:t>
            </a:r>
            <a:endParaRPr lang="en-US" sz="800" dirty="0"/>
          </a:p>
        </p:txBody>
      </p:sp>
      <p:sp>
        <p:nvSpPr>
          <p:cNvPr id="25" name="Text 23"/>
          <p:cNvSpPr/>
          <p:nvPr/>
        </p:nvSpPr>
        <p:spPr>
          <a:xfrm>
            <a:off x="5230368" y="2958084"/>
            <a:ext cx="6153912" cy="507492"/>
          </a:xfrm>
          <a:prstGeom prst="rect">
            <a:avLst/>
          </a:prstGeom>
          <a:noFill/>
          <a:ln/>
        </p:spPr>
        <p:txBody>
          <a:bodyPr wrap="square" lIns="0" tIns="0" rIns="0" bIns="0" rtlCol="0" anchor="ctr"/>
          <a:lstStyle/>
          <a:p>
            <a:pPr marL="139700" indent="-139700">
              <a:lnSpc>
                <a:spcPts val="1150"/>
              </a:lnSpc>
              <a:spcAft>
                <a:spcPts val="200"/>
              </a:spcAft>
              <a:buSzPct val="100000"/>
              <a:buChar char="•"/>
            </a:pPr>
            <a:r>
              <a:rPr lang="en-US" sz="850" dirty="0">
                <a:solidFill>
                  <a:srgbClr val="A9BBD3"/>
                </a:solidFill>
                <a:latin typeface="Calibri" pitchFamily="34" charset="0"/>
                <a:ea typeface="Calibri" pitchFamily="34" charset="-122"/>
                <a:cs typeface="Calibri" pitchFamily="34" charset="-120"/>
              </a:rPr>
              <a:t>MoSPI eSankhyiki portal — CPI “Air fare (normal): economy class”, REST API — esankhyiki.mospi.gov.in</a:t>
            </a:r>
            <a:endParaRPr lang="en-US" sz="850" dirty="0"/>
          </a:p>
          <a:p>
            <a:pPr marL="139700" indent="-139700">
              <a:lnSpc>
                <a:spcPts val="1150"/>
              </a:lnSpc>
              <a:spcAft>
                <a:spcPts val="200"/>
              </a:spcAft>
              <a:buSzPct val="100000"/>
              <a:buChar char="•"/>
            </a:pPr>
            <a:r>
              <a:rPr lang="en-US" sz="850" dirty="0">
                <a:solidFill>
                  <a:srgbClr val="A9BBD3"/>
                </a:solidFill>
                <a:latin typeface="Calibri" pitchFamily="34" charset="0"/>
                <a:ea typeface="Calibri" pitchFamily="34" charset="-122"/>
                <a:cs typeface="Calibri" pitchFamily="34" charset="-120"/>
              </a:rPr>
              <a:t>DGCA monthly city-pair traffic — dgca.gov.in; data.gov.in, Monthly Air Traffic Statistics</a:t>
            </a:r>
            <a:endParaRPr lang="en-US" sz="850" dirty="0"/>
          </a:p>
          <a:p>
            <a:pPr marL="139700" indent="-139700">
              <a:lnSpc>
                <a:spcPts val="1150"/>
              </a:lnSpc>
              <a:spcAft>
                <a:spcPts val="200"/>
              </a:spcAft>
              <a:buSzPct val="100000"/>
              <a:buChar char="•"/>
            </a:pPr>
            <a:r>
              <a:rPr lang="en-US" sz="850" dirty="0">
                <a:solidFill>
                  <a:srgbClr val="A9BBD3"/>
                </a:solidFill>
                <a:latin typeface="Calibri" pitchFamily="34" charset="0"/>
                <a:ea typeface="Calibri" pitchFamily="34" charset="-122"/>
                <a:cs typeface="Calibri" pitchFamily="34" charset="-120"/>
              </a:rPr>
              <a:t>Vonter/india-aviation-traffic (ODbL, DGCA-derived) — github.com/Vonter/india-aviation-traffic</a:t>
            </a:r>
            <a:endParaRPr lang="en-US" sz="850" dirty="0"/>
          </a:p>
        </p:txBody>
      </p:sp>
      <p:sp>
        <p:nvSpPr>
          <p:cNvPr id="26" name="Text 24"/>
          <p:cNvSpPr/>
          <p:nvPr/>
        </p:nvSpPr>
        <p:spPr>
          <a:xfrm>
            <a:off x="5184648" y="3611880"/>
            <a:ext cx="6199632" cy="201168"/>
          </a:xfrm>
          <a:prstGeom prst="rect">
            <a:avLst/>
          </a:prstGeom>
          <a:noFill/>
          <a:ln/>
        </p:spPr>
        <p:txBody>
          <a:bodyPr wrap="square" lIns="0" tIns="0" rIns="0" bIns="0" rtlCol="0" anchor="ctr"/>
          <a:lstStyle/>
          <a:p>
            <a:pPr indent="0" marL="0">
              <a:buNone/>
            </a:pPr>
            <a:r>
              <a:rPr lang="en-US" sz="800" b="1" spc="100" kern="0" dirty="0">
                <a:solidFill>
                  <a:srgbClr val="D99A4A"/>
                </a:solidFill>
                <a:latin typeface="Calibri" pitchFamily="34" charset="0"/>
                <a:ea typeface="Calibri" pitchFamily="34" charset="-122"/>
                <a:cs typeface="Calibri" pitchFamily="34" charset="-120"/>
              </a:rPr>
              <a:t>METHODOLOGY AND STANDARDS</a:t>
            </a:r>
            <a:endParaRPr lang="en-US" sz="800" dirty="0"/>
          </a:p>
        </p:txBody>
      </p:sp>
      <p:sp>
        <p:nvSpPr>
          <p:cNvPr id="27" name="Text 25"/>
          <p:cNvSpPr/>
          <p:nvPr/>
        </p:nvSpPr>
        <p:spPr>
          <a:xfrm>
            <a:off x="5230368" y="3849624"/>
            <a:ext cx="6153912" cy="512064"/>
          </a:xfrm>
          <a:prstGeom prst="rect">
            <a:avLst/>
          </a:prstGeom>
          <a:noFill/>
          <a:ln/>
        </p:spPr>
        <p:txBody>
          <a:bodyPr wrap="square" lIns="0" tIns="0" rIns="0" bIns="0" rtlCol="0" anchor="ctr"/>
          <a:lstStyle/>
          <a:p>
            <a:pPr marL="139700" indent="-139700">
              <a:lnSpc>
                <a:spcPts val="1150"/>
              </a:lnSpc>
              <a:spcAft>
                <a:spcPts val="200"/>
              </a:spcAft>
              <a:buSzPct val="100000"/>
              <a:buChar char="•"/>
            </a:pPr>
            <a:r>
              <a:rPr lang="en-US" sz="850" dirty="0">
                <a:solidFill>
                  <a:srgbClr val="A9BBD3"/>
                </a:solidFill>
                <a:latin typeface="Calibri" pitchFamily="34" charset="0"/>
                <a:ea typeface="Calibri" pitchFamily="34" charset="-122"/>
                <a:cs typeface="Calibri" pitchFamily="34" charset="-120"/>
              </a:rPr>
              <a:t>ILO / IMF / OECD / UNECE / World Bank, Consumer Price Index Manual: Concepts and Methods — Jevons, Lowe, hedonic adjustment, chain-linking</a:t>
            </a:r>
            <a:endParaRPr lang="en-US" sz="850" dirty="0"/>
          </a:p>
          <a:p>
            <a:pPr marL="139700" indent="-139700">
              <a:lnSpc>
                <a:spcPts val="1150"/>
              </a:lnSpc>
              <a:spcAft>
                <a:spcPts val="200"/>
              </a:spcAft>
              <a:buSzPct val="100000"/>
              <a:buChar char="•"/>
            </a:pPr>
            <a:r>
              <a:rPr lang="en-US" sz="850" dirty="0">
                <a:solidFill>
                  <a:srgbClr val="A9BBD3"/>
                </a:solidFill>
                <a:latin typeface="Calibri" pitchFamily="34" charset="0"/>
                <a:ea typeface="Calibri" pitchFamily="34" charset="-122"/>
                <a:cs typeface="Calibri" pitchFamily="34" charset="-120"/>
              </a:rPr>
              <a:t>RFC 9309, Robots Exclusion Protocol</a:t>
            </a:r>
            <a:endParaRPr lang="en-US" sz="850" dirty="0"/>
          </a:p>
        </p:txBody>
      </p:sp>
      <p:sp>
        <p:nvSpPr>
          <p:cNvPr id="28" name="Text 26"/>
          <p:cNvSpPr/>
          <p:nvPr/>
        </p:nvSpPr>
        <p:spPr>
          <a:xfrm>
            <a:off x="5184648" y="4507992"/>
            <a:ext cx="6199632" cy="201168"/>
          </a:xfrm>
          <a:prstGeom prst="rect">
            <a:avLst/>
          </a:prstGeom>
          <a:noFill/>
          <a:ln/>
        </p:spPr>
        <p:txBody>
          <a:bodyPr wrap="square" lIns="0" tIns="0" rIns="0" bIns="0" rtlCol="0" anchor="ctr"/>
          <a:lstStyle/>
          <a:p>
            <a:pPr indent="0" marL="0">
              <a:buNone/>
            </a:pPr>
            <a:r>
              <a:rPr lang="en-US" sz="800" b="1" spc="100" kern="0" dirty="0">
                <a:solidFill>
                  <a:srgbClr val="D99A4A"/>
                </a:solidFill>
                <a:latin typeface="Calibri" pitchFamily="34" charset="0"/>
                <a:ea typeface="Calibri" pitchFamily="34" charset="-122"/>
                <a:cs typeface="Calibri" pitchFamily="34" charset="-120"/>
              </a:rPr>
              <a:t>MARKET AND FREE-TIER FACTS, VERIFIED 22 AUGUST 2026</a:t>
            </a:r>
            <a:endParaRPr lang="en-US" sz="800" dirty="0"/>
          </a:p>
        </p:txBody>
      </p:sp>
      <p:sp>
        <p:nvSpPr>
          <p:cNvPr id="29" name="Text 27"/>
          <p:cNvSpPr/>
          <p:nvPr/>
        </p:nvSpPr>
        <p:spPr>
          <a:xfrm>
            <a:off x="5230368" y="4745736"/>
            <a:ext cx="6153912" cy="507492"/>
          </a:xfrm>
          <a:prstGeom prst="rect">
            <a:avLst/>
          </a:prstGeom>
          <a:noFill/>
          <a:ln/>
        </p:spPr>
        <p:txBody>
          <a:bodyPr wrap="square" lIns="0" tIns="0" rIns="0" bIns="0" rtlCol="0" anchor="ctr"/>
          <a:lstStyle/>
          <a:p>
            <a:pPr marL="139700" indent="-139700">
              <a:lnSpc>
                <a:spcPts val="1150"/>
              </a:lnSpc>
              <a:spcAft>
                <a:spcPts val="200"/>
              </a:spcAft>
              <a:buSzPct val="100000"/>
              <a:buChar char="•"/>
            </a:pPr>
            <a:r>
              <a:rPr lang="en-US" sz="850" dirty="0">
                <a:solidFill>
                  <a:srgbClr val="A9BBD3"/>
                </a:solidFill>
                <a:latin typeface="Calibri" pitchFamily="34" charset="0"/>
                <a:ea typeface="Calibri" pitchFamily="34" charset="-122"/>
                <a:cs typeface="Calibri" pitchFamily="34" charset="-120"/>
              </a:rPr>
              <a:t>Amadeus Self-Service developer portal decommissioned, 17 July 2026 (PhocusWire)</a:t>
            </a:r>
            <a:endParaRPr lang="en-US" sz="850" dirty="0"/>
          </a:p>
          <a:p>
            <a:pPr marL="139700" indent="-139700">
              <a:lnSpc>
                <a:spcPts val="1150"/>
              </a:lnSpc>
              <a:spcAft>
                <a:spcPts val="200"/>
              </a:spcAft>
              <a:buSzPct val="100000"/>
              <a:buChar char="•"/>
            </a:pPr>
            <a:r>
              <a:rPr lang="en-US" sz="850" dirty="0">
                <a:solidFill>
                  <a:srgbClr val="A9BBD3"/>
                </a:solidFill>
                <a:latin typeface="Calibri" pitchFamily="34" charset="0"/>
                <a:ea typeface="Calibri" pitchFamily="34" charset="-122"/>
                <a:cs typeface="Calibri" pitchFamily="34" charset="-120"/>
              </a:rPr>
              <a:t>Oracle Cloud Always Free Ampere A1 reduced to 2 OCPU / 12 GB, 15 June 2026</a:t>
            </a:r>
            <a:endParaRPr lang="en-US" sz="850" dirty="0"/>
          </a:p>
          <a:p>
            <a:pPr marL="139700" indent="-139700">
              <a:lnSpc>
                <a:spcPts val="1150"/>
              </a:lnSpc>
              <a:spcAft>
                <a:spcPts val="200"/>
              </a:spcAft>
              <a:buSzPct val="100000"/>
              <a:buChar char="•"/>
            </a:pPr>
            <a:r>
              <a:rPr lang="en-US" sz="850" dirty="0">
                <a:solidFill>
                  <a:srgbClr val="A9BBD3"/>
                </a:solidFill>
                <a:latin typeface="Calibri" pitchFamily="34" charset="0"/>
                <a:ea typeface="Calibri" pitchFamily="34" charset="-122"/>
                <a:cs typeface="Calibri" pitchFamily="34" charset="-120"/>
              </a:rPr>
              <a:t>Cloudflare R2 and Pages, Grafana Cloud and UptimeRobot published free-tier limits</a:t>
            </a:r>
            <a:endParaRPr lang="en-US" sz="850" dirty="0"/>
          </a:p>
        </p:txBody>
      </p:sp>
      <p:sp>
        <p:nvSpPr>
          <p:cNvPr id="30" name="Text 28"/>
          <p:cNvSpPr/>
          <p:nvPr/>
        </p:nvSpPr>
        <p:spPr>
          <a:xfrm>
            <a:off x="566928" y="5961888"/>
            <a:ext cx="11057839" cy="292608"/>
          </a:xfrm>
          <a:prstGeom prst="rect">
            <a:avLst/>
          </a:prstGeom>
          <a:noFill/>
          <a:ln/>
        </p:spPr>
        <p:txBody>
          <a:bodyPr wrap="square" lIns="0" tIns="0" rIns="0" bIns="0" rtlCol="0" anchor="ctr"/>
          <a:lstStyle/>
          <a:p>
            <a:pPr indent="0" marL="0">
              <a:buNone/>
            </a:pPr>
            <a:r>
              <a:rPr lang="en-US" sz="900" dirty="0">
                <a:solidFill>
                  <a:srgbClr val="7E93AE"/>
                </a:solidFill>
                <a:latin typeface="Calibri" pitchFamily="34" charset="0"/>
                <a:ea typeface="Calibri" pitchFamily="34" charset="-122"/>
                <a:cs typeface="Calibri" pitchFamily="34" charset="-120"/>
              </a:rPr>
              <a:t>Full record: </a:t>
            </a:r>
            <a:pPr indent="0" marL="0">
              <a:buNone/>
            </a:pPr>
            <a:r>
              <a:rPr lang="en-US" sz="900" dirty="0">
                <a:solidFill>
                  <a:srgbClr val="A9BBD3"/>
                </a:solidFill>
                <a:latin typeface="Courier New" pitchFamily="34" charset="0"/>
                <a:ea typeface="Courier New" pitchFamily="34" charset="-122"/>
                <a:cs typeface="Courier New" pitchFamily="34" charset="-120"/>
              </a:rPr>
              <a:t>docs/research/s3/</a:t>
            </a:r>
            <a:pPr indent="0" marL="0">
              <a:buNone/>
            </a:pPr>
            <a:r>
              <a:rPr lang="en-US" sz="900" dirty="0">
                <a:solidFill>
                  <a:srgbClr val="7E93AE"/>
                </a:solidFill>
                <a:latin typeface="Calibri" pitchFamily="34" charset="0"/>
                <a:ea typeface="Calibri" pitchFamily="34" charset="-122"/>
                <a:cs typeface="Calibri" pitchFamily="34" charset="-120"/>
              </a:rPr>
              <a:t>  —  source decision matrix, claim–evidence register, decision record, and the tariff comparability experiment.        </a:t>
            </a:r>
            <a:pPr indent="0" marL="0">
              <a:buNone/>
            </a:pPr>
            <a:r>
              <a:rPr lang="en-US" sz="900" dirty="0">
                <a:solidFill>
                  <a:srgbClr val="A9BBD3"/>
                </a:solidFill>
                <a:latin typeface="Courier New" pitchFamily="34" charset="0"/>
                <a:ea typeface="Courier New" pitchFamily="34" charset="-122"/>
                <a:cs typeface="Courier New" pitchFamily="34" charset="-120"/>
              </a:rPr>
              <a:t>github.com/Naveen-Boddepalli/aerodex</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AeroDex — SIH 2026 Idea Submission</dc:title>
  <dc:subject>PptxGenJS Presentation</dc:subject>
  <dc:creator>Team AeroDex</dc:creator>
  <cp:lastModifiedBy>Team AeroDex</cp:lastModifiedBy>
  <cp:revision>1</cp:revision>
  <dcterms:created xsi:type="dcterms:W3CDTF">2026-08-25T02:57:12Z</dcterms:created>
  <dcterms:modified xsi:type="dcterms:W3CDTF">2026-08-25T02:57:12Z</dcterms:modified>
</cp:coreProperties>
</file>