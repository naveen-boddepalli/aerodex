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Fare index (illustrative)</c:v>
                </c:pt>
              </c:strCache>
            </c:strRef>
          </c:tx>
          <c:spPr>
            <a:solidFill>
              <a:srgbClr val="D98A21"/>
            </a:solidFill>
            <a:ln w="38100" cap="flat">
              <a:solidFill>
                <a:srgbClr val="D98A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A21"/>
              </a:solidFill>
              <a:ln w="9525" cap="flat">
                <a:solidFill>
                  <a:srgbClr val="D98A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60</c:v>
                  </c:pt>
                  <c:pt idx="1">
                    <c:v>45</c:v>
                  </c:pt>
                  <c:pt idx="2">
                    <c:v>30</c:v>
                  </c:pt>
                  <c:pt idx="3">
                    <c:v>21</c:v>
                  </c:pt>
                  <c:pt idx="4">
                    <c:v>14</c:v>
                  </c:pt>
                  <c:pt idx="5">
                    <c:v>10</c:v>
                  </c:pt>
                  <c:pt idx="6">
                    <c:v>7</c:v>
                  </c:pt>
                  <c:pt idx="7">
                    <c:v>4</c:v>
                  </c:pt>
                  <c:pt idx="8">
                    <c:v>2</c:v>
                  </c:pt>
                  <c:pt idx="9">
                    <c:v>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102</c:v>
                </c:pt>
                <c:pt idx="2">
                  <c:v>106</c:v>
                </c:pt>
                <c:pt idx="3">
                  <c:v>111</c:v>
                </c:pt>
                <c:pt idx="4">
                  <c:v>119</c:v>
                </c:pt>
                <c:pt idx="5">
                  <c:v>126</c:v>
                </c:pt>
                <c:pt idx="6">
                  <c:v>137</c:v>
                </c:pt>
                <c:pt idx="7">
                  <c:v>151</c:v>
                </c:pt>
                <c:pt idx="8">
                  <c:v>168</c:v>
                </c:pt>
                <c:pt idx="9">
                  <c:v>182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days before departure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90"/>
        </c:scaling>
        <c:delete val="0"/>
        <c:axPos val="l"/>
        <c:majorGridlines>
          <c:spPr>
            <a:ln w="12700" cap="flat">
              <a:solidFill>
                <a:srgbClr val="E6ED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fare (index, 60-day = 100)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basket</c:v>
                </c:pt>
              </c:strCache>
            </c:strRef>
          </c:tx>
          <c:spPr>
            <a:solidFill>
              <a:srgbClr val="3E8F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8F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55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E4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India 2012</c:v>
                  </c:pt>
                  <c:pt idx="1">
                    <c:v>India 2024</c:v>
                  </c:pt>
                  <c:pt idx="2">
                    <c:v>China 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</c:v>
                </c:pt>
                <c:pt idx="1">
                  <c:v>12.4</c:v>
                </c:pt>
                <c:pt idx="2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A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E6ED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BRIEF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Airfares in the CPI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world already does — and why India doesn't, yet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that measures airfares well owns a data tap. India has none of them yet.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12405E"/>
          </a:solidFill>
          <a:ln w="12700">
            <a:solidFill>
              <a:srgbClr val="1C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718304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664.7 M vs 161.3 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75504"/>
            <a:ext cx="30580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fliers — China vs India,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3938" y="461772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12405E"/>
          </a:solidFill>
          <a:ln w="12700">
            <a:solidFill>
              <a:srgbClr val="1C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6818" y="4718304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686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5175504"/>
            <a:ext cx="30580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items for airfare in India's CPI 2012 (international only)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82077" y="461772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12405E"/>
          </a:solidFill>
          <a:ln w="12700">
            <a:solidFill>
              <a:srgbClr val="1C5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4957" y="4718304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64957" y="5175504"/>
            <a:ext cx="30580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domestic airfare indices in India (China: monthly since 2004)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26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— real-time airfare price index for India  ·  SIH 2026  ·  PS SIH26056 (MoSPI)  ·  10 Sep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PS SIH26056 asks for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2801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"Development of a real-time airfare price index for India through automated web scraping of airline and online travel aggregator portals, for augmentation of the Consumer Price Index."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2532888"/>
            <a:ext cx="104909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</a:t>
            </a:r>
            <a:pPr indent="0" marL="0">
              <a:buNone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across the mandated airlines (IndiGo, Air India, AI Express, Akasa, SpiceJet) and OTAs (MakeMyTrip, Yatra, EaseMyTrip, Cleartrip, Ixigo, Goibibo) — by route and booking horizon.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401568"/>
            <a:ext cx="104909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 </a:t>
            </a:r>
            <a:pPr indent="0" marL="0">
              <a:buNone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fare, fuel surcharge, airport user-development fee, taxes, dynamic surge — a granular price break-up.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4270248"/>
            <a:ext cx="104909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 </a:t>
            </a:r>
            <a:pPr indent="0" marL="0">
              <a:buNone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weighted, reproducible series a national statistical office would accept, tracking it over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5157216"/>
            <a:ext cx="107652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around scraping because the free fare APIs are gone — Amadeus retired its self-service tier in July 2026, Kiwi went invitation-only.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SIH 2026 problem-statement catalogue (MoSPI); AeroDex plan.md §1.1.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airfares are the hardest item in the basket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2120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2984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0934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seat's fare changes many times a day as inventory sells.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2120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2468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Booking-horizon structure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77977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60-day fare and a 1-day fare are different products; the index must hold the horizon fixed.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52120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6393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seasonality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5020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Festivals, school holidays, weddings — a one-week sample misreads the year.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718304"/>
            <a:ext cx="52120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48097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free feed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20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machine-readable fares; OTA terms forbid scraping; quotes vary by the shopper's country.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188720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the same seat, priced by days before departure</a:t>
            </a:r>
            <a:endParaRPr lang="en-US" sz="10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17920" y="1591056"/>
          <a:ext cx="5425135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217920" y="6053328"/>
            <a:ext cx="5425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illustrative, not a measurement. AeroDex controls this by pricing every route at 1/3/7/14/21/30/60 days out.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scrape your way to a national airfare index.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countries that have one own a data tap: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05530" cy="3200400"/>
          </a:xfrm>
          <a:prstGeom prst="roundRect">
            <a:avLst>
              <a:gd name="adj" fmla="val 1714"/>
            </a:avLst>
          </a:prstGeom>
          <a:solidFill>
            <a:srgbClr val="12405E"/>
          </a:solidFill>
          <a:ln w="12700">
            <a:solidFill>
              <a:srgbClr val="1C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697480"/>
            <a:ext cx="402336" cy="402336"/>
          </a:xfrm>
          <a:prstGeom prst="ellipse">
            <a:avLst/>
          </a:prstGeom>
          <a:solidFill>
            <a:srgbClr val="D98A2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29483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state reservation system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06240"/>
            <a:ext cx="29483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TravelSky — the monopoly reservation system for every domestic Chinese carrier. The state sees every fare by construction.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93082" y="2468880"/>
            <a:ext cx="3405530" cy="3200400"/>
          </a:xfrm>
          <a:prstGeom prst="roundRect">
            <a:avLst>
              <a:gd name="adj" fmla="val 1714"/>
            </a:avLst>
          </a:prstGeom>
          <a:solidFill>
            <a:srgbClr val="12405E"/>
          </a:solidFill>
          <a:ln w="12700">
            <a:solidFill>
              <a:srgbClr val="1C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1682" y="2697480"/>
            <a:ext cx="402336" cy="402336"/>
          </a:xfrm>
          <a:prstGeom prst="ellipse">
            <a:avLst/>
          </a:prstGeom>
          <a:solidFill>
            <a:srgbClr val="D98A2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21682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21682" y="3200400"/>
            <a:ext cx="29483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reporting mandate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21682" y="3840480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21682" y="4206240"/>
            <a:ext cx="29483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law (14 CFR 241), carriers file a 40% sample of real tickets to the DOT. BLS builds the CPI on top.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1221" y="2468880"/>
            <a:ext cx="3405530" cy="3200400"/>
          </a:xfrm>
          <a:prstGeom prst="roundRect">
            <a:avLst>
              <a:gd name="adj" fmla="val 1714"/>
            </a:avLst>
          </a:prstGeom>
          <a:solidFill>
            <a:srgbClr val="12405E"/>
          </a:solidFill>
          <a:ln w="12700">
            <a:solidFill>
              <a:srgbClr val="1C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9821" y="2697480"/>
            <a:ext cx="402336" cy="402336"/>
          </a:xfrm>
          <a:prstGeom prst="ellipse">
            <a:avLst/>
          </a:prstGeom>
          <a:solidFill>
            <a:srgbClr val="D98A2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19821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19821" y="3200400"/>
            <a:ext cx="29483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funded NSO scraping unit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19821" y="3840480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Australia · Netherlands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19821" y="4206240"/>
            <a:ext cx="29483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office runs its own web-scraping pipeline against a fixed route panel, at fixed lead times.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slowly building the third. It has neither of the first two.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— solve it structurally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097280"/>
            <a:ext cx="10317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5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is a non-problem because the plumbing is state-owned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72768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TravelSky — a central state-owned enterprise, the monopoly reservation system for essentially every domestic Chinese airline's flights.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CAAC set the fare formula (benchmark 0.75 yuan / passenger-km, 2004) and still administers price bands on thin routes.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CAAC publishes a monthly domestic air-ticket price index — base January 2004 = 100 (plus international sub-indices).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Umetrip (CAAC-linked): 100 M+ users, 12,000+ domestic flights monitored daily, direct ticket sales for 37 airlines.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NBS folds air transport into CPI “transport &amp; communication” — 14.3% weight in the 2025 base — and uses scanner / web big-data.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572768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liberalisation, step by step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0" y="2029968"/>
            <a:ext cx="4144975" cy="960120"/>
          </a:xfrm>
          <a:prstGeom prst="roundRect">
            <a:avLst>
              <a:gd name="adj" fmla="val 5714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62672" y="2121408"/>
            <a:ext cx="3815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62672" y="2432304"/>
            <a:ext cx="38157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+ band (+25% / −40%)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98080" y="3127248"/>
            <a:ext cx="4144975" cy="960120"/>
          </a:xfrm>
          <a:prstGeom prst="roundRect">
            <a:avLst>
              <a:gd name="adj" fmla="val 5714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62672" y="3218688"/>
            <a:ext cx="3815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62672" y="3529584"/>
            <a:ext cx="38157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floor removed on guided routes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98080" y="4224528"/>
            <a:ext cx="4144975" cy="960120"/>
          </a:xfrm>
          <a:prstGeom prst="roundRect">
            <a:avLst>
              <a:gd name="adj" fmla="val 5714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62672" y="4315968"/>
            <a:ext cx="3815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2018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62672" y="4626864"/>
            <a:ext cx="381579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~300+ routes fully freed; 5-carrier rule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5440680"/>
            <a:ext cx="107652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China didn't out-engineer scraping — it never had the problem. India can't retrofit a TravelSky, but it can legislate the same visibility.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Wikipedia / AsianCentury (TravelSky); Aviation Week; CEIC (CAAC ticket-price index); ChinaTravelNews (Umetrip); SCIO / NBS (CPI weights).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 vs India — the structural gap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758184"/>
                <a:gridCol w="376732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(2024)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air passengers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161.3 million  (+6.1%)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664.7 million  (+12.6%)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civil-aviation passengers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~174 million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730.2 million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concentration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IndiGo 61.9% of domestic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majors + regionals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reservation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PSS (Navitaire/Accelya, Amadeus) + many OTAs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TravelSky — one state-owned GDS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ticket-transaction filing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carriers refused DGCA (Mar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Implicit, via TravelSky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domestic airfare 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(DGCA monitors 78 routes, no index)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CAAC — monthly, since 2004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Airfare in the CPI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routes only (domestic from CPI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CPI transport group (14.3% weight)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Business Standard / IBEF (India traffic); CAAC 2024 annual report (China traffic); CEIC; Outlook Business (data refusal).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 — make it law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98448"/>
            <a:ext cx="1984797" cy="1920240"/>
          </a:xfrm>
          <a:prstGeom prst="roundRect">
            <a:avLst>
              <a:gd name="adj" fmla="val 285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408176"/>
            <a:ext cx="17653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121408"/>
            <a:ext cx="17653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large certificated passenger airline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515149" y="20299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26045" y="1298448"/>
            <a:ext cx="1984797" cy="1920240"/>
          </a:xfrm>
          <a:prstGeom prst="roundRect">
            <a:avLst>
              <a:gd name="adj" fmla="val 2857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35773" y="1408176"/>
            <a:ext cx="17653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CFR Part 241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35773" y="2121408"/>
            <a:ext cx="17653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Origin-&amp;-Destination Survey — a legal obligation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792553" y="20299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03449" y="1298448"/>
            <a:ext cx="1984797" cy="1920240"/>
          </a:xfrm>
          <a:prstGeom prst="roundRect">
            <a:avLst>
              <a:gd name="adj" fmla="val 285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3177" y="1408176"/>
            <a:ext cx="17653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 / BTS — “Databank 1B”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213177" y="2121408"/>
            <a:ext cx="17653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sample of real tickets: fare + tax, full itinerary, fare basis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069958" y="20299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80854" y="1298448"/>
            <a:ext cx="1984797" cy="1920240"/>
          </a:xfrm>
          <a:prstGeom prst="roundRect">
            <a:avLst>
              <a:gd name="adj" fmla="val 285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0582" y="1408176"/>
            <a:ext cx="17653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BLS draws the route sample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490582" y="2121408"/>
            <a:ext cx="17653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pairs chosen ∝ passenger volume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347363" y="20299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58259" y="1298448"/>
            <a:ext cx="1984797" cy="1920240"/>
          </a:xfrm>
          <a:prstGeom prst="roundRect">
            <a:avLst>
              <a:gd name="adj" fmla="val 285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67987" y="1408176"/>
            <a:ext cx="17653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 — “Airline fares”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767987" y="2121408"/>
            <a:ext cx="17653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monthly, fixed advance-purchase + day-of-week specs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493008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was 10% for decades; raised to 40% (“OD40”) for travel from July 2025 — a bigger tap, same principle.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include all taxes plus fuel, airport, security and first-checked-bag fees; published monthly, seasonally adjusted.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IMF / ILO CPI Manual holds this up as the model: “a sample … selected using detailed ticket data from the US Department of Transportation.”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5138928"/>
            <a:ext cx="107652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office spends its effort pricing a constant trip — not on acquisition.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eCFR 14 CFR Part 241 §19-8; BTS “OD-40”; BLS CPI factsheet — airline fares; ILO CPI Manual §6.43.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· Australia · EU — build the capability in-house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3484778" cy="4114800"/>
          </a:xfrm>
          <a:prstGeom prst="roundRect">
            <a:avLst>
              <a:gd name="adj" fmla="val 1574"/>
            </a:avLst>
          </a:prstGeom>
          <a:solidFill>
            <a:srgbClr val="E7F0F5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353312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Kingdom — 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75688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route panel priced at fixed lead times: 6 / 3 / 1 months (long-haul), 1 month (domestic).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is booked to the month the flight departs, not when the ticket was bought.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monthly “index day”, published only after the fact, stops gaming.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3458" y="1207008"/>
            <a:ext cx="3484778" cy="4114800"/>
          </a:xfrm>
          <a:prstGeom prst="roundRect">
            <a:avLst>
              <a:gd name="adj" fmla="val 1574"/>
            </a:avLst>
          </a:prstGeom>
          <a:solidFill>
            <a:srgbClr val="E7F0F5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36338" y="1353312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 — ABS + BITRE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2075688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has web-scraped airfares since 2016; priced two months ahead, booked to the travel month.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BITRE has run a separate route monitor since 1992 — Fisher index, top ~70 domestic routes.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58277" y="1207008"/>
            <a:ext cx="3484778" cy="4114800"/>
          </a:xfrm>
          <a:prstGeom prst="roundRect">
            <a:avLst>
              <a:gd name="adj" fmla="val 1574"/>
            </a:avLst>
          </a:prstGeom>
          <a:solidFill>
            <a:srgbClr val="E7F0F5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41157" y="1353312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Netherlands / EU — CBS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2075688"/>
            <a:ext cx="311901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put web scraping into the HICP in 2015 — the pioneer.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coordinates method: its 2020 web-scraping guidelines say scrape at several anticipation dates.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550468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5504688"/>
            <a:ext cx="107652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rely on a reservation-system monopoly. They fund a team and a pipeline — the model open to India now.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996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ONS air-fares methodology (FOI) &amp; transformation programme; ABS web-scraping notes; BITRE method; Eurostat 2020 web-scraping guidelines for the HICP.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routes to the same index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11094415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880360"/>
                <a:gridCol w="2971800"/>
                <a:gridCol w="2651760"/>
                <a:gridCol w="1536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 for 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Booking-horizon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7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TravelSky (state GDS) + CAAC band monitoring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ownership of the reservation system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Regulator-set bands; CPI method not public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CAAC monthly (2004=100)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Databank 1B → GDS/online pricing by BLS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CFR Part 241 reporting rule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advance-reservation + day-of-week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BLS CPI, monthly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 in-house collection; web-scraped data growing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NSO powers + negotiated access; site T&amp;Cs a live constraint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6/3/1-mo long, 1-mo domestic; to travel month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CPI/CPIH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 web scraping (2016+); BITRE monitor (1992+)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&amp; Statistics Act; ABS scraping policy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months ahead, to travel month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CPI; BITRE Fisher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/ NL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NSO web scraping (CBS 2015+), Eurostat-coordinated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statistical law + scraping guidelines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anticipation dates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HICP 07.3.3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(now)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officers read airline/OTA sites by hand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specific; Collection of Statistics Act unused for this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to 21 days with CPI 2024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only; domestic new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2362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Condensed from docs/research/INTERNATIONAL_AIRFARE_INDEX_PRACTICE.md §3.6.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India hasn't done this — six compounding reasons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351525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38988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1389888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the CPI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993392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international airfare is priced — one of 686 items. Domestic airfare enters only with the CPI 2024 series.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8218" y="1207008"/>
            <a:ext cx="351525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1098" y="138988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1098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51450" y="1389888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Indian TravelSky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1098" y="1993392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are spread across private passenger-service systems and a dozen OTAs, each with its own terms.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27797" y="1207008"/>
            <a:ext cx="351525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0677" y="138988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10677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41029" y="1389888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US-style mandate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10677" y="1993392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Rules r. 135 requires only a filed fare band — not transaction-level fares or booking dates.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630168"/>
            <a:ext cx="351525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813048"/>
            <a:ext cx="402336" cy="402336"/>
          </a:xfrm>
          <a:prstGeom prst="ellipse">
            <a:avLst/>
          </a:prstGeom>
          <a:solidFill>
            <a:srgbClr val="D98A2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3813048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Airlines refuse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416552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India, IndiGo and SpiceJet declined DGCA's Dec-2025 request for passenger-level data — “commercially sensitive”.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38218" y="3630168"/>
            <a:ext cx="351525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1098" y="381304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21098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051450" y="3813048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mandate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21098" y="4416552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(consumer protection) and MoSPI (the CPI) run separate efforts with no shared collection pipeline.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7797" y="3630168"/>
            <a:ext cx="351525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10677" y="3813048"/>
            <a:ext cx="402336" cy="402336"/>
          </a:xfrm>
          <a:prstGeom prst="ellipse">
            <a:avLst/>
          </a:prstGeom>
          <a:solidFill>
            <a:srgbClr val="12557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10677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841029" y="3813048"/>
            <a:ext cx="2600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collection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310677" y="4416552"/>
            <a:ext cx="31494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 look fares up by hand; web-scraping / scanner-data capability is a 2024-onwards procurement.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2727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MoSPI Expert Group Report on Comprehensive Updation of CPI; Outlook Business; DGCA / PIB.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CPI has only ever carried international airfare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852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298448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755648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airfare line item in CPI 2012 — out of 686 priced items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5852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9808" y="2670048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routes only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127248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fares were out of scope entirely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5852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4041648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 2024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498848"/>
            <a:ext cx="5449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airfare's first appearance — 21-day advance purchase, Jevons elementary formula, routes supplied by DGCA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207008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communication — share of the CPI basket (%)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858000" y="1618488"/>
          <a:ext cx="478505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61447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travel was long treated as a small, elite category. Sources: MoSPI CPI-2024 FAQ &amp; Expert Group Report; ThePrint; SCIO/NBS.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India needs is the data airlines won't give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2567864" cy="2651760"/>
          </a:xfrm>
          <a:prstGeom prst="roundRect">
            <a:avLst>
              <a:gd name="adj" fmla="val 213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8132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83664"/>
            <a:ext cx="22935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asks carriers for two years of passenger-level data: fare charged, booking date, base fare, passenger count.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089072" y="248716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90824" y="1389888"/>
            <a:ext cx="2567864" cy="2651760"/>
          </a:xfrm>
          <a:prstGeom prst="roundRect">
            <a:avLst>
              <a:gd name="adj" fmla="val 2137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7984" y="148132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Mar 2026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27984" y="1883664"/>
            <a:ext cx="22935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India, IndiGo, SpiceJet (via the Federation of Indian Airlines) refuse — “commercially sensitive and proprietary.”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31256" y="248716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3008" y="1389888"/>
            <a:ext cx="2567864" cy="2651760"/>
          </a:xfrm>
          <a:prstGeom prst="roundRect">
            <a:avLst>
              <a:gd name="adj" fmla="val 213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0168" y="148132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1883664"/>
            <a:ext cx="22935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climbdown: airlines agree to share only aggregated fare-bucket shares.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773439" y="2487168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75191" y="1389888"/>
            <a:ext cx="2567864" cy="2651760"/>
          </a:xfrm>
          <a:prstGeom prst="roundRect">
            <a:avLst>
              <a:gd name="adj" fmla="val 2137"/>
            </a:avLst>
          </a:prstGeom>
          <a:solidFill>
            <a:srgbClr val="E7F0F5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2351" y="148132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212351" y="1883664"/>
            <a:ext cx="22935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engages a consultant, floats an AI monitor (“AirPrice Guardian”); a Parliamentary panel urges temporary price-cap power.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270248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270248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catch a gouging spike. They cannot build a constant-quality price index — which needs the same trip, at the same lead time, over time.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Outlook Business; Aviation Today; Deccan Herald; PIB. India deregulated fares in 1994; COVID fare caps lifted 2022.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raw data, two disconnected users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272888" cy="3291840"/>
          </a:xfrm>
          <a:prstGeom prst="roundRect">
            <a:avLst>
              <a:gd name="adj" fmla="val 1667"/>
            </a:avLst>
          </a:prstGeom>
          <a:solidFill>
            <a:srgbClr val="E7F0F5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371600"/>
            <a:ext cx="487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5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DGCA  (Ministry of Civil Aviation)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38528"/>
            <a:ext cx="48705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consumer protection — catch predatory or “excessive” fares.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Instrument: the declared tariff band; a Tariff Monitoring Unit on ~78 routes.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holds: a route-popularity ranking per airport, and airlines' filed min/max tariffs.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70168" y="1207008"/>
            <a:ext cx="5272888" cy="3291840"/>
          </a:xfrm>
          <a:prstGeom prst="roundRect">
            <a:avLst>
              <a:gd name="adj" fmla="val 1667"/>
            </a:avLst>
          </a:prstGeom>
          <a:solidFill>
            <a:srgbClr val="E7F0F5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71336" y="1371600"/>
            <a:ext cx="487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MoSPI  (National Statistical Office)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71336" y="1938528"/>
            <a:ext cx="48705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Consumer Price Index.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a weighted, reproducible, horizon-controlled series.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from DGCA today: only a list of routes.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727448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4727448"/>
            <a:ext cx="107652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one collection pipeline under an MoU — MoSPI compiles the index, DGCA feeds routes + tariff filings + (once mandated) the transaction feed, RBI is the anchor consumer.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2362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MoSPI Expert Group Report; PIB / Business Standard (DGCA TMU); PRS Legislative Research.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India should do — a sequenced programme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3503066" cy="457200"/>
          </a:xfrm>
          <a:prstGeom prst="roundRect">
            <a:avLst>
              <a:gd name="adj" fmla="val 12000"/>
            </a:avLst>
          </a:prstGeom>
          <a:solidFill>
            <a:srgbClr val="3E8F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1207008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 ·  0–6 months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3232" y="1901952"/>
            <a:ext cx="317388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93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Ship the web-scraped experimental index to NSO method — route panel, horizon strata, Jevons → Lowe on DGCA weights, published coverage &amp; imputation, fully reproducible. Label it experimental.</a:t>
            </a:r>
            <a:endParaRPr lang="en-US" sz="93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93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Validate it against a purchased GDS / aggregator feed to quantify scraping bias.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344314" y="1207008"/>
            <a:ext cx="3503066" cy="457200"/>
          </a:xfrm>
          <a:prstGeom prst="roundRect">
            <a:avLst>
              <a:gd name="adj" fmla="val 12000"/>
            </a:avLst>
          </a:prstGeom>
          <a:solidFill>
            <a:srgbClr val="1255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54042" y="1207008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6–18 months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4314" y="1755648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08906" y="1901952"/>
            <a:ext cx="317388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93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One pipeline + an MoU: MoSPI · DGCA · RBI.</a:t>
            </a:r>
            <a:endParaRPr lang="en-US" sz="93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93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An NSO web-scraping code of practice + a statutory data-access right that overrides site terms.</a:t>
            </a:r>
            <a:endParaRPr lang="en-US" sz="93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93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A small dedicated real-time-prices unit (4–6 people), not 150 field officers.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39989" y="1207008"/>
            <a:ext cx="3503066" cy="457200"/>
          </a:xfrm>
          <a:prstGeom prst="roundRect">
            <a:avLst>
              <a:gd name="adj" fmla="val 12000"/>
            </a:avLst>
          </a:prstGeom>
          <a:solidFill>
            <a:srgbClr val="0B2E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9717" y="1207008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 ·  12–24 months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9989" y="1755648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 w="12700">
            <a:solidFill>
              <a:srgbClr val="CBD9E1"/>
            </a:solidFill>
            <a:prstDash val="solid"/>
          </a:ln>
          <a:effectLst>
            <a:outerShdw sx="100000" sy="100000" kx="0" ky="0" algn="bl" rotWithShape="0" blurRad="76200" dist="25400" dir="8100000">
              <a:srgbClr val="8AA5B3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04581" y="1901952"/>
            <a:ext cx="317388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93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Legislate transaction-level origin–destination fare reporting on airlines and their reservation-system operators — amend Aircraft Rules r. 135 or use the Collection of Statistics Act 2008, with statutory confidentiality.</a:t>
            </a:r>
            <a:endParaRPr lang="en-US" sz="93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93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Keep it an experimental sub-index until it clears a back-test against CPI-Transport and DGCA references.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046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25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useful ships in months; the durable fix is legislated in parallel.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docs/research/INTERNATIONAL_AIRFARE_INDEX_PRACTICE.md §5.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AeroDex is Recommendation A — already built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395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statistical office would require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5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AeroDex today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DGCA-weighted route panel, in hashed config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routes; weight vintage dgca-2025-city-pairs-r2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Booking-horizon strata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3 / 7 / 14 / 21 / 30 / 60 days → 420 strata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daily slots, Indian IP, timestamped quotes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IST slots; Oracle Mumbai region in the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Jevons elementary → Lowe aggregation on DGCA weights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aerodex/index/ (pure function, no clock/DB/network)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coverage + imputation; refuse to publish on breach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 refuses &gt;5% imputed weight (M5) and fixture-only panels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from archived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golden tests; `aerodex verify` re-derives the hash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experimental until validated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in compliance.py + the data_source contract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349240"/>
            <a:ext cx="11094415" cy="603504"/>
          </a:xfrm>
          <a:prstGeom prst="roundRect">
            <a:avLst>
              <a:gd name="adj" fmla="val 9091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5349240"/>
            <a:ext cx="107652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gap: a real, compliant fare source (spike S3) — a bought feed now, a legislated mandate later. Everything downstream of acquisition is done.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Cross-reference: README.md §Status; docs/research/S3_FINAL_SOURCE_FEASIBILITY.md.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98A2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65760"/>
            <a:ext cx="10317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 this — what to say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judge asks “why doesn't this already exist?”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18488"/>
            <a:ext cx="110944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structural, not technical: India has no state reservation system and no fare-reporting law, so nobody holds the data.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has had a monthly airfare index since 2004 because fare data lives inside a state-owned system (TravelSky).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own regulator asked airlines for this data in 2025 — and was formally refused in March 2026.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airfare is entering the CPI only now, with the 2024 series. The timing is on our side.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is the near-term answer the statistical frontier would recognise; the durable fix is a reporting mandate.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70248"/>
            <a:ext cx="11094415" cy="1691640"/>
          </a:xfrm>
          <a:prstGeom prst="roundRect">
            <a:avLst>
              <a:gd name="adj" fmla="val 3243"/>
            </a:avLst>
          </a:prstGeom>
          <a:solidFill>
            <a:srgbClr val="FBF0DE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370832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overclaim — it builds credibility with an NSO reviewer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736592"/>
            <a:ext cx="106920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system runs on a fixture adapter; every fare shown is synthetic and labelled as such. </a:t>
            </a:r>
            <a:pPr indent="0" marL="0">
              <a:buNone/>
            </a:pPr>
            <a:r>
              <a:rPr lang="en-US" sz="1050" dirty="0">
                <a:solidFill>
                  <a:srgbClr val="6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structurally correct but unpublishable until a real source (spike S3) lands — the publisher refuses fixture-derived runs by design. Saying this out loud is a strength, not a weakness.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memory: aerodex-synthetic-data-honesty; aerodex-international-benchmarking.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AeroDex  ·  airfare-index benchmarking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109441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list with dates read: docs/research/INTERNATIONAL_AIRFARE_INDEX_PRACTICE.md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standard  </a:t>
            </a:r>
            <a:pPr indent="0" marL="0">
              <a:buNone/>
            </a:pPr>
            <a:r>
              <a:rPr lang="en-US" sz="95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/ ILO CPI Manual (2004 &amp; 2020); Eurostat, Practical guidelines on web scraping for the HICP (Nov 2020).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7168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 </a:t>
            </a:r>
            <a:pPr indent="0" marL="0">
              <a:buNone/>
            </a:pPr>
            <a:r>
              <a:rPr lang="en-US" sz="95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TravelSky (Wikipedia; AsianCentury Stocks); Aviation Week &amp; Simple Flying (fare deregulation); CEIC (CAAC ticket-price index, 2004=100); ChinaTravelNews / Yicai (Umetrip); CAAC 2024 Annual Report; SCIO &amp; NBS (CPI weights).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19856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 </a:t>
            </a:r>
            <a:pPr indent="0" marL="0">
              <a:buNone/>
            </a:pPr>
            <a:r>
              <a:rPr lang="en-US" sz="95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eCFR 14 CFR Part 241 §19-8; Federal Register / BTS “OD-40”; BLS CPI factsheet — airline fares; BLS Handbook of Methods.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52544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Australia / EU  </a:t>
            </a:r>
            <a:pPr indent="0" marL="0">
              <a:buNone/>
            </a:pPr>
            <a:r>
              <a:rPr lang="en-US" sz="95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air-fares methodology (FOI) &amp; Transformation of consumer price statistics; ABS web-scraping notes &amp; CPI methodology; BITRE air-fares method; CBS / Eurostat HICP metadata.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85232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 </a:t>
            </a:r>
            <a:pPr indent="0" marL="0">
              <a:buNone/>
            </a:pPr>
            <a:r>
              <a:rPr lang="en-US" sz="95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 Expert Group Report on Comprehensive Updation of CPI; MoSPI FAQs on CPI 2024; ThePrint (new CPI basket); DGCA / PIB (Tariff Monitoring Unit, Rule 135); Outlook Business (airlines refuse fare data); Aviation Today (DGCA AI monitoring); Deccan Herald (price-cap panel); Collection of Statistics Act 2008; Business Standard / IBEF (traffic).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SIH 2026 · PS SIH26056 (MoSPI)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Airfares in the CPI — international practice and India</dc:title>
  <dc:subject>PptxGenJS Presentation</dc:subject>
  <dc:creator>AeroDex</dc:creator>
  <cp:lastModifiedBy>AeroDex</cp:lastModifiedBy>
  <cp:revision>1</cp:revision>
  <dcterms:created xsi:type="dcterms:W3CDTF">2026-09-10T04:27:43Z</dcterms:created>
  <dcterms:modified xsi:type="dcterms:W3CDTF">2026-09-10T04:27:43Z</dcterms:modified>
</cp:coreProperties>
</file>