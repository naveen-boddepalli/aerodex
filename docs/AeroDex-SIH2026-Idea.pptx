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1783080"/>
            <a:ext cx="5989320" cy="466344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spcBef>
                <a:spcPts val="2000"/>
              </a:spcBef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26056</a:t>
            </a:r>
          </a:p>
          <a:p>
            <a:pPr marL="285750" indent="-285750" algn="l">
              <a:buFont typeface="Arial" panose="020B0604020202020204" pitchFamily="34" charset="0"/>
              <a:buChar char="•"/>
              <a:spcBef>
                <a:spcPts val="2000"/>
              </a:spcBef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Development of a Real-time Airfare Price Index for India through Automated Web Scraping of Airline and Online Travel Aggregator Portals for Augmentation of the Consumer Price Index (CPI)</a:t>
            </a:r>
          </a:p>
          <a:p>
            <a:pPr marL="285750" indent="-285750" algn="l">
              <a:buFont typeface="Arial" panose="020B0604020202020204" pitchFamily="34" charset="0"/>
              <a:buChar char="•"/>
              <a:spcBef>
                <a:spcPts val="2000"/>
              </a:spcBef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Travel &amp; Tourism</a:t>
            </a:r>
          </a:p>
          <a:p>
            <a:pPr marL="285750" indent="-285750" algn="l">
              <a:buFont typeface="Arial" panose="020B0604020202020204" pitchFamily="34" charset="0"/>
              <a:buChar char="•"/>
              <a:spcBef>
                <a:spcPts val="2000"/>
              </a:spcBef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buFont typeface="Arial" panose="020B0604020202020204" pitchFamily="34" charset="0"/>
              <a:buChar char="•"/>
              <a:spcBef>
                <a:spcPts val="2000"/>
              </a:spcBef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[TEAM ID]</a:t>
            </a:r>
          </a:p>
          <a:p>
            <a:pPr marL="285750" indent="-285750" algn="l">
              <a:buFont typeface="Arial" panose="020B0604020202020204" pitchFamily="34" charset="0"/>
              <a:buChar char="•"/>
              <a:spcBef>
                <a:spcPts val="2000"/>
              </a:spcBef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[TEAM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AeroDex — Real-Time Airfare Price Index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57200" y="1298448"/>
            <a:ext cx="11292840" cy="3703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  <a:spcBef>
                <a:spcPts val="900"/>
              </a:spcBef>
            </a:pPr>
            <a:r>
              <a:rPr lang="en-US" sz="165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 — a daily, route-level index that augments the CPI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Method: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Jevons elementary index → hedonic quality adjustment on log fare → Lowe aggregation on DGCA passenger-traffic weights → chain-linked monthly.</a:t>
            </a:r>
          </a:p>
          <a:p>
            <a:pPr marL="285750" indent="-285750">
              <a:buFont typeface="Wingdings" panose="05000000000000000000" pitchFamily="2" charset="2"/>
              <a:buChar char="v"/>
              <a:spcBef>
                <a:spcPts val="900"/>
              </a:spcBef>
            </a:pPr>
            <a:r>
              <a:rPr lang="en-US" sz="165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it addresses the problem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CPI carries one airfare figure a month. AeroDex measures daily movement by route, carrier and advance-purchase window — the augmentation PS 26056 asks for.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Booking horizon is controlled by construction, so a genuine fare rise is separated from travellers simply booking later.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Coverage ratio and imputed weight share are published with every index point.</a:t>
            </a:r>
          </a:p>
          <a:p>
            <a:pPr marL="285750" indent="-285750">
              <a:buFont typeface="Wingdings" panose="05000000000000000000" pitchFamily="2" charset="2"/>
              <a:buChar char="v"/>
              <a:spcBef>
                <a:spcPts val="900"/>
              </a:spcBef>
            </a:pPr>
            <a:r>
              <a:rPr lang="en-US" sz="165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 and uniqueness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Reproducibility is a code property: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compute_index() is a pure function — no clock, no database, no network. 11 golden tests assert bit-identical re-runs.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Compliance is executable code: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no authentication, no CAPTCHA, no personal data, a 20-second floor per host, robots.txt honoured at run time by our own RFC 9309 parser.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₹0 recurring on permanent free tiers, and the publisher refuses to release any run it cannot stand behind.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01" name="cell1"/>
          <p:cNvSpPr/>
          <p:nvPr/>
        </p:nvSpPr>
        <p:spPr>
          <a:xfrm>
            <a:off x="932688" y="5285232"/>
            <a:ext cx="1755648" cy="731520"/>
          </a:xfrm>
          <a:prstGeom prst="roundRect">
            <a:avLst>
              <a:gd name="adj" fmla="val 14000"/>
            </a:avLst>
          </a:prstGeom>
          <a:solidFill>
            <a:srgbClr val="DCE6F1"/>
          </a:solidFill>
          <a:ln w="9525">
            <a:solidFill>
              <a:srgbClr val="4F81BD"/>
            </a:solidFill>
          </a:ln>
        </p:spPr>
        <p:txBody>
          <a:bodyPr lIns="45720" rIns="45720" tIns="18000" bIns="18000" anchor="ctr" wrap="square">
            <a:normAutofit/>
          </a:bodyPr>
          <a:lstStyle/>
          <a:p>
            <a:pPr algn="ctr"/>
            <a:r>
              <a:rPr lang="en-US" sz="1600" b="1" dirty="0">
                <a:solidFill>
                  <a:srgbClr val="1F49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</a:p>
          <a:p>
            <a:pPr algn="ctr"/>
            <a:r>
              <a:rPr lang="en-US" sz="80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routes</a:t>
            </a:r>
          </a:p>
        </p:txBody>
      </p:sp>
      <p:sp>
        <p:nvSpPr>
          <p:cNvPr id="902" name="lbl902"/>
          <p:cNvSpPr txBox="1"/>
          <p:nvPr/>
        </p:nvSpPr>
        <p:spPr>
          <a:xfrm>
            <a:off x="2688336" y="5285232"/>
            <a:ext cx="566928" cy="7315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</a:p>
        </p:txBody>
      </p:sp>
      <p:sp>
        <p:nvSpPr>
          <p:cNvPr id="903" name="cell2"/>
          <p:cNvSpPr/>
          <p:nvPr/>
        </p:nvSpPr>
        <p:spPr>
          <a:xfrm>
            <a:off x="3255264" y="5285232"/>
            <a:ext cx="1755648" cy="731520"/>
          </a:xfrm>
          <a:prstGeom prst="roundRect">
            <a:avLst>
              <a:gd name="adj" fmla="val 14000"/>
            </a:avLst>
          </a:prstGeom>
          <a:solidFill>
            <a:srgbClr val="DCE6F1"/>
          </a:solidFill>
          <a:ln w="9525">
            <a:solidFill>
              <a:srgbClr val="4F81BD"/>
            </a:solidFill>
          </a:ln>
        </p:spPr>
        <p:txBody>
          <a:bodyPr lIns="45720" rIns="45720" tIns="18000" bIns="18000" anchor="ctr" wrap="square">
            <a:normAutofit/>
          </a:bodyPr>
          <a:lstStyle/>
          <a:p>
            <a:pPr algn="ctr"/>
            <a:r>
              <a:rPr lang="en-US" sz="1600" b="1" dirty="0">
                <a:solidFill>
                  <a:srgbClr val="1F49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sz="80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horizons</a:t>
            </a:r>
          </a:p>
        </p:txBody>
      </p:sp>
      <p:sp>
        <p:nvSpPr>
          <p:cNvPr id="904" name="lbl904"/>
          <p:cNvSpPr txBox="1"/>
          <p:nvPr/>
        </p:nvSpPr>
        <p:spPr>
          <a:xfrm>
            <a:off x="5010912" y="5285232"/>
            <a:ext cx="566928" cy="7315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</a:p>
        </p:txBody>
      </p:sp>
      <p:sp>
        <p:nvSpPr>
          <p:cNvPr id="905" name="cell3"/>
          <p:cNvSpPr/>
          <p:nvPr/>
        </p:nvSpPr>
        <p:spPr>
          <a:xfrm>
            <a:off x="5577840" y="5285232"/>
            <a:ext cx="1755648" cy="731520"/>
          </a:xfrm>
          <a:prstGeom prst="roundRect">
            <a:avLst>
              <a:gd name="adj" fmla="val 14000"/>
            </a:avLst>
          </a:prstGeom>
          <a:solidFill>
            <a:srgbClr val="DCE6F1"/>
          </a:solidFill>
          <a:ln w="9525">
            <a:solidFill>
              <a:srgbClr val="4F81BD"/>
            </a:solidFill>
          </a:ln>
        </p:spPr>
        <p:txBody>
          <a:bodyPr lIns="45720" rIns="45720" tIns="18000" bIns="18000" anchor="ctr" wrap="square">
            <a:normAutofit/>
          </a:bodyPr>
          <a:lstStyle/>
          <a:p>
            <a:pPr algn="ctr"/>
            <a:r>
              <a:rPr lang="en-US" sz="1600" b="1" dirty="0">
                <a:solidFill>
                  <a:srgbClr val="1F49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sz="80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slots/day</a:t>
            </a:r>
          </a:p>
        </p:txBody>
      </p:sp>
      <p:sp>
        <p:nvSpPr>
          <p:cNvPr id="906" name="lbl906"/>
          <p:cNvSpPr txBox="1"/>
          <p:nvPr/>
        </p:nvSpPr>
        <p:spPr>
          <a:xfrm>
            <a:off x="7333488" y="5285232"/>
            <a:ext cx="566928" cy="7315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907" name="cell4"/>
          <p:cNvSpPr/>
          <p:nvPr/>
        </p:nvSpPr>
        <p:spPr>
          <a:xfrm>
            <a:off x="7900416" y="5285232"/>
            <a:ext cx="1755648" cy="731520"/>
          </a:xfrm>
          <a:prstGeom prst="roundRect">
            <a:avLst>
              <a:gd name="adj" fmla="val 14000"/>
            </a:avLst>
          </a:prstGeom>
          <a:solidFill>
            <a:srgbClr val="DCE6F1"/>
          </a:solidFill>
          <a:ln w="9525">
            <a:solidFill>
              <a:srgbClr val="4F81BD"/>
            </a:solidFill>
          </a:ln>
        </p:spPr>
        <p:txBody>
          <a:bodyPr lIns="45720" rIns="45720" tIns="18000" bIns="18000" anchor="ctr" wrap="square">
            <a:normAutofit/>
          </a:bodyPr>
          <a:lstStyle/>
          <a:p>
            <a:pPr algn="ctr"/>
            <a:r>
              <a:rPr lang="en-US" sz="1600" b="1" dirty="0">
                <a:solidFill>
                  <a:srgbClr val="1F49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420</a:t>
            </a:r>
          </a:p>
          <a:p>
            <a:pPr algn="ctr"/>
            <a:r>
              <a:rPr lang="en-US" sz="80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strata</a:t>
            </a:r>
          </a:p>
        </p:txBody>
      </p:sp>
      <p:sp>
        <p:nvSpPr>
          <p:cNvPr id="908" name="lbl908"/>
          <p:cNvSpPr txBox="1"/>
          <p:nvPr/>
        </p:nvSpPr>
        <p:spPr>
          <a:xfrm>
            <a:off x="9656064" y="5285232"/>
            <a:ext cx="566928" cy="7315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</a:p>
        </p:txBody>
      </p:sp>
      <p:sp>
        <p:nvSpPr>
          <p:cNvPr id="909" name="cell5"/>
          <p:cNvSpPr/>
          <p:nvPr/>
        </p:nvSpPr>
        <p:spPr>
          <a:xfrm>
            <a:off x="10222992" y="5285232"/>
            <a:ext cx="1755648" cy="731520"/>
          </a:xfrm>
          <a:prstGeom prst="roundRect">
            <a:avLst>
              <a:gd name="adj" fmla="val 14000"/>
            </a:avLst>
          </a:prstGeom>
          <a:solidFill>
            <a:srgbClr val="1F497D"/>
          </a:solidFill>
          <a:ln>
            <a:noFill/>
          </a:ln>
        </p:spPr>
        <p:txBody>
          <a:bodyPr lIns="45720" rIns="45720" tIns="18000" bIns="18000" anchor="ctr" wrap="square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~1,155</a:t>
            </a:r>
          </a:p>
          <a:p>
            <a:pPr algn="ctr"/>
            <a:r>
              <a:rPr lang="en-US" sz="800" b="0" dirty="0">
                <a:solidFill>
                  <a:srgbClr val="D6E2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observations/day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298448"/>
            <a:ext cx="1129284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  <a:spcBef>
                <a:spcPts val="900"/>
              </a:spcBef>
            </a:pPr>
            <a:r>
              <a:rPr lang="en-US" sz="165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 to be used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Python 3.12 · pandas · NumPy · statsmodels (Jevons, hedonic OLS, STL / X-13ARIMA-SEATS)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PostgreSQL 16 + TimescaleDB — hypertables, append-only raw archive, SELECT … FOR UPDATE SKIP LOCKED job queue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systemd timers (not cron — avoids 10–30 min scheduler drift) · FastAPI · Next.js static export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Cloudflare R2 + Pages + Tunnel · Grafana Cloud · UptimeRobot · Telegram alerts · GitHub Actions CI</a:t>
            </a:r>
          </a:p>
          <a:p>
            <a:pPr marL="285750" indent="-285750">
              <a:buFont typeface="Wingdings" panose="05000000000000000000" pitchFamily="2" charset="2"/>
              <a:buChar char="v"/>
              <a:spcBef>
                <a:spcPts val="900"/>
              </a:spcBef>
            </a:pPr>
            <a:r>
              <a:rPr lang="en-US" sz="165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 and process for implementation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quote_raw is append-only, enforced by database triggers on UPDATE, DELETE and TRUNCATE; the index is a pure function of (panel, config).</a:t>
            </a:r>
          </a:p>
          <a:p>
            <a:pPr marL="285750" indent="-285750">
              <a:buFont typeface="Wingdings" panose="05000000000000000000" pitchFamily="2" charset="2"/>
              <a:buChar char="v"/>
              <a:spcBef>
                <a:spcPts val="900"/>
              </a:spcBef>
            </a:pPr>
            <a:r>
              <a:rPr lang="en-US" sz="165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and proven today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148 automated tests passing · ~4,500 lines across 20 modules · 11 golden tests freeze the published numbers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Methodology config is SHA-256 hashed into every release; CI recomputes an archived panel nightly and diffs the output hash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10" name="stage1"/>
          <p:cNvSpPr/>
          <p:nvPr/>
        </p:nvSpPr>
        <p:spPr>
          <a:xfrm>
            <a:off x="475488" y="4882896"/>
            <a:ext cx="1773936" cy="713232"/>
          </a:xfrm>
          <a:prstGeom prst="chevron">
            <a:avLst>
              <a:gd name="adj" fmla="val 26000"/>
            </a:avLst>
          </a:prstGeom>
          <a:solidFill>
            <a:srgbClr val="4F81BD"/>
          </a:solidFill>
          <a:ln>
            <a:noFill/>
          </a:ln>
        </p:spPr>
        <p:txBody>
          <a:bodyPr lIns="274320" rIns="274320" tIns="18000" bIns="18000" anchor="ctr" wrap="square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Scheduler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systemd timers</a:t>
            </a:r>
          </a:p>
        </p:txBody>
      </p:sp>
      <p:sp>
        <p:nvSpPr>
          <p:cNvPr id="911" name="stage2"/>
          <p:cNvSpPr/>
          <p:nvPr/>
        </p:nvSpPr>
        <p:spPr>
          <a:xfrm>
            <a:off x="2057400" y="4882896"/>
            <a:ext cx="1773936" cy="713232"/>
          </a:xfrm>
          <a:prstGeom prst="chevron">
            <a:avLst>
              <a:gd name="adj" fmla="val 26000"/>
            </a:avLst>
          </a:prstGeom>
          <a:solidFill>
            <a:srgbClr val="F79646"/>
          </a:solidFill>
          <a:ln>
            <a:noFill/>
          </a:ln>
        </p:spPr>
        <p:txBody>
          <a:bodyPr lIns="274320" rIns="274320" tIns="18000" bIns="18000" anchor="ctr" wrap="square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Acquire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3-tier ladder</a:t>
            </a:r>
          </a:p>
        </p:txBody>
      </p:sp>
      <p:sp>
        <p:nvSpPr>
          <p:cNvPr id="912" name="stage3"/>
          <p:cNvSpPr/>
          <p:nvPr/>
        </p:nvSpPr>
        <p:spPr>
          <a:xfrm>
            <a:off x="3639312" y="4882896"/>
            <a:ext cx="1773936" cy="713232"/>
          </a:xfrm>
          <a:prstGeom prst="chevron">
            <a:avLst>
              <a:gd name="adj" fmla="val 26000"/>
            </a:avLst>
          </a:prstGeom>
          <a:solidFill>
            <a:srgbClr val="4F81BD"/>
          </a:solidFill>
          <a:ln>
            <a:noFill/>
          </a:ln>
        </p:spPr>
        <p:txBody>
          <a:bodyPr lIns="274320" rIns="274320" tIns="18000" bIns="18000" anchor="ctr" wrap="square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Normalise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dedup + tag</a:t>
            </a:r>
          </a:p>
        </p:txBody>
      </p:sp>
      <p:sp>
        <p:nvSpPr>
          <p:cNvPr id="913" name="stage4"/>
          <p:cNvSpPr/>
          <p:nvPr/>
        </p:nvSpPr>
        <p:spPr>
          <a:xfrm>
            <a:off x="5221223" y="4882896"/>
            <a:ext cx="1773936" cy="713232"/>
          </a:xfrm>
          <a:prstGeom prst="chevron">
            <a:avLst>
              <a:gd name="adj" fmla="val 26000"/>
            </a:avLst>
          </a:prstGeom>
          <a:solidFill>
            <a:srgbClr val="4F81BD"/>
          </a:solidFill>
          <a:ln>
            <a:noFill/>
          </a:ln>
        </p:spPr>
        <p:txBody>
          <a:bodyPr lIns="274320" rIns="274320" tIns="18000" bIns="18000" anchor="ctr" wrap="square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Validate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quarantine</a:t>
            </a:r>
          </a:p>
        </p:txBody>
      </p:sp>
      <p:sp>
        <p:nvSpPr>
          <p:cNvPr id="914" name="stage5"/>
          <p:cNvSpPr/>
          <p:nvPr/>
        </p:nvSpPr>
        <p:spPr>
          <a:xfrm>
            <a:off x="6803136" y="4882896"/>
            <a:ext cx="1773936" cy="713232"/>
          </a:xfrm>
          <a:prstGeom prst="chevron">
            <a:avLst>
              <a:gd name="adj" fmla="val 26000"/>
            </a:avLst>
          </a:prstGeom>
          <a:solidFill>
            <a:srgbClr val="4F81BD"/>
          </a:solidFill>
          <a:ln>
            <a:noFill/>
          </a:ln>
        </p:spPr>
        <p:txBody>
          <a:bodyPr lIns="274320" rIns="274320" tIns="18000" bIns="18000" anchor="ctr" wrap="square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append-only</a:t>
            </a:r>
          </a:p>
        </p:txBody>
      </p:sp>
      <p:sp>
        <p:nvSpPr>
          <p:cNvPr id="915" name="stage6"/>
          <p:cNvSpPr/>
          <p:nvPr/>
        </p:nvSpPr>
        <p:spPr>
          <a:xfrm>
            <a:off x="8385048" y="4882896"/>
            <a:ext cx="1773936" cy="713232"/>
          </a:xfrm>
          <a:prstGeom prst="chevron">
            <a:avLst>
              <a:gd name="adj" fmla="val 26000"/>
            </a:avLst>
          </a:prstGeom>
          <a:solidFill>
            <a:srgbClr val="4F81BD"/>
          </a:solidFill>
          <a:ln>
            <a:noFill/>
          </a:ln>
        </p:spPr>
        <p:txBody>
          <a:bodyPr lIns="274320" rIns="274320" tIns="18000" bIns="18000" anchor="ctr" wrap="square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pure function</a:t>
            </a:r>
          </a:p>
        </p:txBody>
      </p:sp>
      <p:sp>
        <p:nvSpPr>
          <p:cNvPr id="916" name="stage7"/>
          <p:cNvSpPr/>
          <p:nvPr/>
        </p:nvSpPr>
        <p:spPr>
          <a:xfrm>
            <a:off x="9966959" y="4882896"/>
            <a:ext cx="1773936" cy="713232"/>
          </a:xfrm>
          <a:prstGeom prst="chevron">
            <a:avLst>
              <a:gd name="adj" fmla="val 26000"/>
            </a:avLst>
          </a:prstGeom>
          <a:solidFill>
            <a:srgbClr val="1F497D"/>
          </a:solidFill>
          <a:ln>
            <a:noFill/>
          </a:ln>
        </p:spPr>
        <p:txBody>
          <a:bodyPr lIns="274320" rIns="274320" tIns="18000" bIns="18000" anchor="ctr" wrap="square">
            <a:norm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</a:t>
            </a:r>
          </a:p>
          <a:p>
            <a:pPr algn="ctr"/>
            <a:r>
              <a:rPr lang="en-US" sz="7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refusal gate</a:t>
            </a:r>
          </a:p>
        </p:txBody>
      </p:sp>
      <p:sp>
        <p:nvSpPr>
          <p:cNvPr id="917" name="lbl917"/>
          <p:cNvSpPr txBox="1"/>
          <p:nvPr/>
        </p:nvSpPr>
        <p:spPr>
          <a:xfrm>
            <a:off x="475488" y="5650992"/>
            <a:ext cx="1120140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US" sz="90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Six stages are complete and test-covered.  Acquire holds a deterministic fixture until a permitted source is secured — and Publish then refuses any index built on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298448"/>
            <a:ext cx="11292840" cy="3310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  <a:spcBef>
                <a:spcPts val="900"/>
              </a:spcBef>
            </a:pPr>
            <a:r>
              <a:rPr lang="en-US" sz="165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of feasibility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full pipeline runs end to end today; the index engine, weighting and validation layers are complete and covered by tests.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DGCA city-pair passenger weights are already in hand (ODbL) and the 60-route panel is built, normalised and version-stamped.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Infrastructure is sized and costed against permanent free tiers — ₹0 recurring, so the project is viable without a budget line.</a:t>
            </a:r>
          </a:p>
          <a:p>
            <a:pPr marL="285750" indent="-285750">
              <a:buFont typeface="Wingdings" panose="05000000000000000000" pitchFamily="2" charset="2"/>
              <a:buChar char="v"/>
              <a:spcBef>
                <a:spcPts val="900"/>
              </a:spcBef>
            </a:pPr>
            <a:r>
              <a:rPr lang="en-US" sz="165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challenges and risks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Source access: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40+ candidate sources assessed across four research passes on nine independent axes. Every source carrying a booking horizon restricts automated collection; every source permitting collection carries no horizon.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 tested dead end: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published airline tariff sheets were tested against 14 archived sheets and rejected — a fare level is a band, not a price (median max/min 1.25–1.52×), and the route panel churns to 46.6% survival in one step.</a:t>
            </a:r>
          </a:p>
          <a:p>
            <a:pPr marL="285750" indent="-285750">
              <a:buFont typeface="Wingdings" panose="05000000000000000000" pitchFamily="2" charset="2"/>
              <a:buChar char="v"/>
              <a:spcBef>
                <a:spcPts val="900"/>
              </a:spcBef>
            </a:pPr>
            <a:r>
              <a:rPr lang="en-US" sz="165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 for overcoming these challenges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18" name="roundRect918"/>
          <p:cNvSpPr/>
          <p:nvPr/>
        </p:nvSpPr>
        <p:spPr>
          <a:xfrm>
            <a:off x="475488" y="4626864"/>
            <a:ext cx="356616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txBody>
          <a:bodyPr lIns="128016" rIns="128016" tIns="18000" bIns="18000" anchor="t" wrap="square">
            <a:normAutofit/>
          </a:bodyPr>
          <a:lstStyle/>
          <a:p>
            <a:pPr algn="ctr"/>
            <a:r>
              <a:rPr lang="en-US" sz="900" b="1" dirty="0">
                <a:solidFill>
                  <a:srgbClr val="1F49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INSTITUTIONAL PERMISSION</a:t>
            </a:r>
          </a:p>
          <a:p>
            <a:pPr algn="ctr"/>
            <a:r>
              <a:rPr lang="en-US" sz="85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Written to MoSPI Price Statistics Division for guidance, a letter of support and an introduction to the platforms it already collects from. DGCA approached in parallel.</a:t>
            </a:r>
          </a:p>
        </p:txBody>
      </p:sp>
      <p:sp>
        <p:nvSpPr>
          <p:cNvPr id="919" name="ellipse919"/>
          <p:cNvSpPr/>
          <p:nvPr/>
        </p:nvSpPr>
        <p:spPr>
          <a:xfrm>
            <a:off x="603504" y="4471416"/>
            <a:ext cx="329184" cy="329184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lIns="45720" rIns="45720" tIns="18000" bIns="18000" anchor="ctr" wrap="square">
            <a:norm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20" name="roundRect920"/>
          <p:cNvSpPr/>
          <p:nvPr/>
        </p:nvSpPr>
        <p:spPr>
          <a:xfrm>
            <a:off x="4297679" y="4626864"/>
            <a:ext cx="356616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F81BD"/>
            </a:solidFill>
          </a:ln>
        </p:spPr>
        <p:txBody>
          <a:bodyPr lIns="128016" rIns="128016" tIns="18000" bIns="18000" anchor="t" wrap="square">
            <a:normAutofit/>
          </a:bodyPr>
          <a:lstStyle/>
          <a:p>
            <a:pPr algn="ctr"/>
            <a:r>
              <a:rPr lang="en-US" sz="900" b="1" dirty="0">
                <a:solidFill>
                  <a:srgbClr val="4F81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COSTED FALLBACK</a:t>
            </a:r>
          </a:p>
          <a:p>
            <a:pPr algn="ctr"/>
            <a:r>
              <a:rPr lang="en-US" sz="85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licensed fare-data API covers the demo panel at ~$25/month and the full 60-route panel at ~$99/month, with the switch-over date fixed in advance.</a:t>
            </a:r>
          </a:p>
        </p:txBody>
      </p:sp>
      <p:sp>
        <p:nvSpPr>
          <p:cNvPr id="921" name="ellipse921"/>
          <p:cNvSpPr/>
          <p:nvPr/>
        </p:nvSpPr>
        <p:spPr>
          <a:xfrm>
            <a:off x="4425695" y="4471416"/>
            <a:ext cx="329184" cy="329184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txBody>
          <a:bodyPr lIns="45720" rIns="45720" tIns="18000" bIns="18000" anchor="ctr" wrap="square">
            <a:norm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22" name="roundRect922"/>
          <p:cNvSpPr/>
          <p:nvPr/>
        </p:nvSpPr>
        <p:spPr>
          <a:xfrm>
            <a:off x="8119871" y="4626864"/>
            <a:ext cx="356616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7933C"/>
            </a:solidFill>
          </a:ln>
        </p:spPr>
        <p:txBody>
          <a:bodyPr lIns="128016" rIns="128016" tIns="18000" bIns="18000" anchor="t" wrap="square">
            <a:normAutofit/>
          </a:bodyPr>
          <a:lstStyle/>
          <a:p>
            <a:pPr algn="ctr"/>
            <a:r>
              <a:rPr lang="en-US" sz="900" b="1" dirty="0">
                <a:solidFill>
                  <a:srgbClr val="7793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REDUNDANCY, NOT EVASION</a:t>
            </a:r>
          </a:p>
          <a:p>
            <a:pPr algn="ctr"/>
            <a:r>
              <a:rPr lang="en-US" sz="85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a source blocks it is dropped and the coverage ratio is published — degradation is visible in the statistics, never hidden.</a:t>
            </a:r>
          </a:p>
        </p:txBody>
      </p:sp>
      <p:sp>
        <p:nvSpPr>
          <p:cNvPr id="923" name="ellipse923"/>
          <p:cNvSpPr/>
          <p:nvPr/>
        </p:nvSpPr>
        <p:spPr>
          <a:xfrm>
            <a:off x="8247888" y="4471416"/>
            <a:ext cx="329184" cy="329184"/>
          </a:xfrm>
          <a:prstGeom prst="ellipse">
            <a:avLst/>
          </a:prstGeom>
          <a:solidFill>
            <a:srgbClr val="77933C"/>
          </a:solidFill>
          <a:ln>
            <a:noFill/>
          </a:ln>
        </p:spPr>
        <p:txBody>
          <a:bodyPr lIns="45720" rIns="45720" tIns="18000" bIns="18000" anchor="ctr" wrap="square">
            <a:norm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298448"/>
            <a:ext cx="11292840" cy="3127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  <a:spcBef>
                <a:spcPts val="900"/>
              </a:spcBef>
            </a:pPr>
            <a:r>
              <a:rPr lang="en-US" sz="165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of the solution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Economic: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₹0 recurring cost, no vendor lock-in and no licensing conversation — the system can be handed to the Ministry without a budget line.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Social: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 index that publishes its own coverage ratio and imputation share, with open methodology and open code — trust through disclosure rather than assertion.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Systemic: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reproducibility machinery — append-only archive, hashed config, pure index function, golden tests — is reusable for any high-frequency price collection the statistical system takes on.</a:t>
            </a:r>
          </a:p>
          <a:p>
            <a:pPr marL="285750" indent="-285750">
              <a:buFont typeface="Wingdings" panose="05000000000000000000" pitchFamily="2" charset="2"/>
              <a:buChar char="v"/>
              <a:spcBef>
                <a:spcPts val="900"/>
              </a:spcBef>
            </a:pPr>
            <a:r>
              <a:rPr lang="en-US" sz="165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Independently corroborated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MoSPI's own CPI 2024 series uses Jevons for elementary indices and a Laspeyres-family aggregation above it — the two most consequential choices AeroDex arrived at independently.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IMF Technical Assistance mission to MoSPI recommended a greater variety of advance-purchase timings and treating the airline as a price-determining characteristic; the 7-horizon, carrier-attributed panel already does both.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24" name="lbl924"/>
          <p:cNvSpPr txBox="1"/>
          <p:nvPr/>
        </p:nvSpPr>
        <p:spPr>
          <a:xfrm>
            <a:off x="475488" y="4681728"/>
            <a:ext cx="11201400" cy="256032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pPr algn="l"/>
            <a:r>
              <a:rPr lang="en-US" sz="1000" b="1" dirty="0">
                <a:solidFill>
                  <a:srgbClr val="1F49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IMPACT ON THE TARGET AUDIENCE</a:t>
            </a:r>
          </a:p>
        </p:txBody>
      </p:sp>
      <p:sp>
        <p:nvSpPr>
          <p:cNvPr id="925" name="roundRect925"/>
          <p:cNvSpPr/>
          <p:nvPr/>
        </p:nvSpPr>
        <p:spPr>
          <a:xfrm>
            <a:off x="475488" y="5193792"/>
            <a:ext cx="2724912" cy="841247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 w="12700">
            <a:solidFill>
              <a:srgbClr val="1F497D"/>
            </a:solidFill>
          </a:ln>
        </p:spPr>
        <p:txBody>
          <a:bodyPr lIns="109728" rIns="109728" tIns="18000" bIns="18000" anchor="t" wrap="square">
            <a:normAutofit/>
          </a:bodyPr>
          <a:lstStyle/>
          <a:p>
            <a:pPr algn="ctr"/>
            <a:r>
              <a:rPr lang="en-US" sz="40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algn="ctr"/>
            <a:r>
              <a:rPr lang="en-US" sz="85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daily series beneath the monthly CPI air-fare item</a:t>
            </a:r>
          </a:p>
        </p:txBody>
      </p:sp>
      <p:sp>
        <p:nvSpPr>
          <p:cNvPr id="926" name="roundRect926"/>
          <p:cNvSpPr/>
          <p:nvPr/>
        </p:nvSpPr>
        <p:spPr>
          <a:xfrm>
            <a:off x="749808" y="4956048"/>
            <a:ext cx="2176272" cy="384048"/>
          </a:xfrm>
          <a:prstGeom prst="roundRect">
            <a:avLst>
              <a:gd name="adj" fmla="val 32000"/>
            </a:avLst>
          </a:prstGeom>
          <a:solidFill>
            <a:srgbClr val="1F497D"/>
          </a:solidFill>
          <a:ln>
            <a:noFill/>
          </a:ln>
        </p:spPr>
        <p:txBody>
          <a:bodyPr lIns="45720" rIns="45720" tIns="18000" bIns="18000" anchor="ctr" wrap="square">
            <a:norm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MoSPI</a:t>
            </a:r>
          </a:p>
        </p:txBody>
      </p:sp>
      <p:sp>
        <p:nvSpPr>
          <p:cNvPr id="927" name="roundRect927"/>
          <p:cNvSpPr/>
          <p:nvPr/>
        </p:nvSpPr>
        <p:spPr>
          <a:xfrm>
            <a:off x="3447288" y="5193792"/>
            <a:ext cx="2724912" cy="841247"/>
          </a:xfrm>
          <a:prstGeom prst="roundRect">
            <a:avLst>
              <a:gd name="adj" fmla="val 8000"/>
            </a:avLst>
          </a:prstGeom>
          <a:solidFill>
            <a:srgbClr val="DCE6F1"/>
          </a:solidFill>
          <a:ln w="12700">
            <a:solidFill>
              <a:srgbClr val="4F81BD"/>
            </a:solidFill>
          </a:ln>
        </p:spPr>
        <p:txBody>
          <a:bodyPr lIns="109728" rIns="109728" tIns="18000" bIns="18000" anchor="t" wrap="square">
            <a:normAutofit/>
          </a:bodyPr>
          <a:lstStyle/>
          <a:p>
            <a:pPr algn="ctr"/>
            <a:r>
              <a:rPr lang="en-US" sz="40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algn="ctr"/>
            <a:r>
              <a:rPr lang="en-US" sz="85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Tariff spot-checks become a continuous, horizon-controlled series</a:t>
            </a:r>
          </a:p>
        </p:txBody>
      </p:sp>
      <p:sp>
        <p:nvSpPr>
          <p:cNvPr id="928" name="roundRect928"/>
          <p:cNvSpPr/>
          <p:nvPr/>
        </p:nvSpPr>
        <p:spPr>
          <a:xfrm>
            <a:off x="3721608" y="4956048"/>
            <a:ext cx="2176272" cy="384048"/>
          </a:xfrm>
          <a:prstGeom prst="roundRect">
            <a:avLst>
              <a:gd name="adj" fmla="val 32000"/>
            </a:avLst>
          </a:prstGeom>
          <a:solidFill>
            <a:srgbClr val="4F81BD"/>
          </a:solidFill>
          <a:ln>
            <a:noFill/>
          </a:ln>
        </p:spPr>
        <p:txBody>
          <a:bodyPr lIns="45720" rIns="45720" tIns="18000" bIns="18000" anchor="ctr" wrap="square">
            <a:norm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DGCA</a:t>
            </a:r>
          </a:p>
        </p:txBody>
      </p:sp>
      <p:sp>
        <p:nvSpPr>
          <p:cNvPr id="929" name="roundRect929"/>
          <p:cNvSpPr/>
          <p:nvPr/>
        </p:nvSpPr>
        <p:spPr>
          <a:xfrm>
            <a:off x="6419088" y="5193792"/>
            <a:ext cx="2724912" cy="841247"/>
          </a:xfrm>
          <a:prstGeom prst="roundRect">
            <a:avLst>
              <a:gd name="adj" fmla="val 8000"/>
            </a:avLst>
          </a:prstGeom>
          <a:solidFill>
            <a:srgbClr val="F7F3EC"/>
          </a:solidFill>
          <a:ln w="12700">
            <a:solidFill>
              <a:srgbClr val="F79646"/>
            </a:solidFill>
          </a:ln>
        </p:spPr>
        <p:txBody>
          <a:bodyPr lIns="109728" rIns="109728" tIns="18000" bIns="18000" anchor="t" wrap="square">
            <a:normAutofit/>
          </a:bodyPr>
          <a:lstStyle/>
          <a:p>
            <a:pPr algn="ctr"/>
            <a:r>
              <a:rPr lang="en-US" sz="40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algn="ctr"/>
            <a:r>
              <a:rPr lang="en-US" sz="85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to book, what a festival window costs, LCC vs full-service</a:t>
            </a:r>
          </a:p>
        </p:txBody>
      </p:sp>
      <p:sp>
        <p:nvSpPr>
          <p:cNvPr id="930" name="roundRect930"/>
          <p:cNvSpPr/>
          <p:nvPr/>
        </p:nvSpPr>
        <p:spPr>
          <a:xfrm>
            <a:off x="6693407" y="4956048"/>
            <a:ext cx="2176272" cy="384048"/>
          </a:xfrm>
          <a:prstGeom prst="roundRect">
            <a:avLst>
              <a:gd name="adj" fmla="val 32000"/>
            </a:avLst>
          </a:prstGeom>
          <a:solidFill>
            <a:srgbClr val="F79646"/>
          </a:solidFill>
          <a:ln>
            <a:noFill/>
          </a:ln>
        </p:spPr>
        <p:txBody>
          <a:bodyPr lIns="45720" rIns="45720" tIns="18000" bIns="18000" anchor="ctr" wrap="square">
            <a:norm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TRAVELLERS</a:t>
            </a:r>
          </a:p>
        </p:txBody>
      </p:sp>
      <p:sp>
        <p:nvSpPr>
          <p:cNvPr id="931" name="roundRect931"/>
          <p:cNvSpPr/>
          <p:nvPr/>
        </p:nvSpPr>
        <p:spPr>
          <a:xfrm>
            <a:off x="9390888" y="5193792"/>
            <a:ext cx="2724912" cy="841247"/>
          </a:xfrm>
          <a:prstGeom prst="roundRect">
            <a:avLst>
              <a:gd name="adj" fmla="val 8000"/>
            </a:avLst>
          </a:prstGeom>
          <a:solidFill>
            <a:srgbClr val="F7F3EC"/>
          </a:solidFill>
          <a:ln w="12700">
            <a:solidFill>
              <a:srgbClr val="77933C"/>
            </a:solidFill>
          </a:ln>
        </p:spPr>
        <p:txBody>
          <a:bodyPr lIns="109728" rIns="109728" tIns="18000" bIns="18000" anchor="t" wrap="square">
            <a:normAutofit/>
          </a:bodyPr>
          <a:lstStyle/>
          <a:p>
            <a:pPr algn="ctr"/>
            <a:r>
              <a:rPr lang="en-US" sz="40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algn="ctr"/>
            <a:r>
              <a:rPr lang="en-US" sz="850" b="0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Reproducibility machinery reusable for any price collection</a:t>
            </a:r>
          </a:p>
        </p:txBody>
      </p:sp>
      <p:sp>
        <p:nvSpPr>
          <p:cNvPr id="932" name="roundRect932"/>
          <p:cNvSpPr/>
          <p:nvPr/>
        </p:nvSpPr>
        <p:spPr>
          <a:xfrm>
            <a:off x="9665208" y="4956048"/>
            <a:ext cx="2176272" cy="384048"/>
          </a:xfrm>
          <a:prstGeom prst="roundRect">
            <a:avLst>
              <a:gd name="adj" fmla="val 32000"/>
            </a:avLst>
          </a:prstGeom>
          <a:solidFill>
            <a:srgbClr val="77933C"/>
          </a:solidFill>
          <a:ln>
            <a:noFill/>
          </a:ln>
        </p:spPr>
        <p:txBody>
          <a:bodyPr lIns="45720" rIns="45720" tIns="18000" bIns="18000" anchor="ctr" wrap="square">
            <a:norm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WIDER SYSTEM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298448"/>
            <a:ext cx="11292840" cy="3977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  <a:spcBef>
                <a:spcPts val="900"/>
              </a:spcBef>
            </a:pPr>
            <a:r>
              <a:rPr lang="en-US" sz="165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research work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Two verdicts were reversed by later passes. Both reversals are preserved rather than rewritten, and claims resting on secondary sources are marked PRIMARY SOURCE NOT VERIFIED.</a:t>
            </a:r>
          </a:p>
          <a:p>
            <a:pPr marL="285750" indent="-285750">
              <a:buFont typeface="Wingdings" panose="05000000000000000000" pitchFamily="2" charset="2"/>
              <a:buChar char="v"/>
              <a:spcBef>
                <a:spcPts val="900"/>
              </a:spcBef>
            </a:pPr>
            <a:r>
              <a:rPr lang="en-US" sz="165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 and statutory sources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MoSPI — National Metadata Structure for the Consumer Price Index (18 March 2026); CPI 2024 series, base 2024=100, COICOP 2018, weights from HCES 2023–24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MoSPI — Expert Group Report on Comprehensive Updation of the Consumer Price Index (recommendation 11(a))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Collection of Statistics Act, 2008 — section 4, appointment of agencies to aid in the collection of statistics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MoSPI eSankhyiki portal — CPI item “Air fare (normal): economy class” — esankhyiki.mospi.gov.in</a:t>
            </a:r>
          </a:p>
          <a:p>
            <a:pPr marL="285750" indent="-285750">
              <a:buFont typeface="Wingdings" panose="05000000000000000000" pitchFamily="2" charset="2"/>
              <a:buChar char="v"/>
              <a:spcBef>
                <a:spcPts val="900"/>
              </a:spcBef>
            </a:pPr>
            <a:r>
              <a:rPr lang="en-US" sz="165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sources, methodology and standards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DGCA monthly city-pair traffic — dgca.gov.in · data.gov.in · Vonter/india-aviation-traffic (ODbL, DGCA-derived)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ILO / IMF / OECD / UNECE / World Bank — Consumer Price Index Manual: Concepts and Methods</a:t>
            </a:r>
          </a:p>
          <a:p>
            <a:pPr marL="285750" indent="-285750" algn="just">
              <a:buFont typeface="Arial" panose="020B0604020202020204" pitchFamily="34" charset="0"/>
              <a:buChar char="•"/>
              <a:spcBef>
                <a:spcPts val="500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RFC 9309 — Robots Exclusion Protocol · Repository and research record — github.com/Naveen-Boddepalli/aerodex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33" name="homePlate933"/>
          <p:cNvSpPr/>
          <p:nvPr/>
        </p:nvSpPr>
        <p:spPr>
          <a:xfrm>
            <a:off x="475488" y="5431536"/>
            <a:ext cx="2395728" cy="585216"/>
          </a:xfrm>
          <a:prstGeom prst="homePlate">
            <a:avLst>
              <a:gd name="adj" fmla="val 18000"/>
            </a:avLst>
          </a:prstGeom>
          <a:solidFill>
            <a:srgbClr val="4F81BD"/>
          </a:solidFill>
          <a:ln>
            <a:noFill/>
          </a:ln>
        </p:spPr>
        <p:txBody>
          <a:bodyPr lIns="201168" rIns="201168" tIns="18000" bIns="18000" anchor="ctr" wrap="square">
            <a:norm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 research passes</a:t>
            </a:r>
          </a:p>
        </p:txBody>
      </p:sp>
      <p:sp>
        <p:nvSpPr>
          <p:cNvPr id="934" name="homePlate934"/>
          <p:cNvSpPr/>
          <p:nvPr/>
        </p:nvSpPr>
        <p:spPr>
          <a:xfrm>
            <a:off x="2715768" y="5431536"/>
            <a:ext cx="2395728" cy="585216"/>
          </a:xfrm>
          <a:prstGeom prst="homePlate">
            <a:avLst>
              <a:gd name="adj" fmla="val 18000"/>
            </a:avLst>
          </a:prstGeom>
          <a:solidFill>
            <a:srgbClr val="1F497D"/>
          </a:solidFill>
          <a:ln>
            <a:noFill/>
          </a:ln>
        </p:spPr>
        <p:txBody>
          <a:bodyPr lIns="201168" rIns="201168" tIns="18000" bIns="18000" anchor="ctr" wrap="square">
            <a:norm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40+  sources assessed</a:t>
            </a:r>
          </a:p>
        </p:txBody>
      </p:sp>
      <p:sp>
        <p:nvSpPr>
          <p:cNvPr id="935" name="homePlate935"/>
          <p:cNvSpPr/>
          <p:nvPr/>
        </p:nvSpPr>
        <p:spPr>
          <a:xfrm>
            <a:off x="4956048" y="5431536"/>
            <a:ext cx="2395728" cy="585216"/>
          </a:xfrm>
          <a:prstGeom prst="homePlate">
            <a:avLst>
              <a:gd name="adj" fmla="val 18000"/>
            </a:avLst>
          </a:prstGeom>
          <a:solidFill>
            <a:srgbClr val="4F81BD"/>
          </a:solidFill>
          <a:ln>
            <a:noFill/>
          </a:ln>
        </p:spPr>
        <p:txBody>
          <a:bodyPr lIns="201168" rIns="201168" tIns="18000" bIns="18000" anchor="ctr" wrap="square">
            <a:norm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 axes per source</a:t>
            </a:r>
          </a:p>
        </p:txBody>
      </p:sp>
      <p:sp>
        <p:nvSpPr>
          <p:cNvPr id="936" name="homePlate936"/>
          <p:cNvSpPr/>
          <p:nvPr/>
        </p:nvSpPr>
        <p:spPr>
          <a:xfrm>
            <a:off x="7196328" y="5431536"/>
            <a:ext cx="2395728" cy="585216"/>
          </a:xfrm>
          <a:prstGeom prst="homePlate">
            <a:avLst>
              <a:gd name="adj" fmla="val 18000"/>
            </a:avLst>
          </a:prstGeom>
          <a:solidFill>
            <a:srgbClr val="1F497D"/>
          </a:solidFill>
          <a:ln>
            <a:noFill/>
          </a:ln>
        </p:spPr>
        <p:txBody>
          <a:bodyPr lIns="201168" rIns="201168" tIns="18000" bIns="18000" anchor="ctr" wrap="square">
            <a:norm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  claims registered</a:t>
            </a:r>
          </a:p>
        </p:txBody>
      </p:sp>
      <p:sp>
        <p:nvSpPr>
          <p:cNvPr id="937" name="homePlate937"/>
          <p:cNvSpPr/>
          <p:nvPr/>
        </p:nvSpPr>
        <p:spPr>
          <a:xfrm>
            <a:off x="9436608" y="5431536"/>
            <a:ext cx="2395728" cy="585216"/>
          </a:xfrm>
          <a:prstGeom prst="homePlate">
            <a:avLst>
              <a:gd name="adj" fmla="val 18000"/>
            </a:avLst>
          </a:prstGeom>
          <a:solidFill>
            <a:srgbClr val="4F81BD"/>
          </a:solidFill>
          <a:ln>
            <a:noFill/>
          </a:ln>
        </p:spPr>
        <p:txBody>
          <a:bodyPr lIns="201168" rIns="201168" tIns="18000" bIns="18000" anchor="ctr" wrap="square">
            <a:norm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  tariff sheets parsed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