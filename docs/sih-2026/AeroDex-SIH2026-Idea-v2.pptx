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claim: AeroDex is a daily airfare index that a third party can recompute from its published inputs. Then name the PS (SIH26056, MoSPI) and move on — the next slide is where the idea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to solution in one sentence, then the four steps. The innovation row is the pitch: reproducibility, honesty about coverage, horizon control, and statistical-office method. Everything in the bottom row is verifiable in the repo: `aerodex verify`, the publisher refusal, and config/methodology.yaml.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Be upfront about the one amber box: Acquire runs on a fixture today because no lawful free source exists; the publisher therefore refuses to release fixture-derived numbers, which is what the terminal snippet and the dashboard banner show. Hedonic and seasonal adjustment are configured but not yet implemented — say so before a judge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"what is real and what is not". Green is built and tested; amber is honestly partial. The strongest sentence is the last risk row: we built the guardrail that stops a fixture number being mistaken for a measurement. Costs are provider list prices read on 25 Aug 2026 (docs/research/S3_PRICING_AND_COST_MODEL.md).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MoSPI and DGCA, then the wider reuse argument. The corroboration row is deliberate: the two most consequential methodological choices (Jevons at the elementary level, Lowe-family aggregation above it) match what MoSPI’s own CPI 2024 FAQ says, and the multi-horizon panel operationalises the IMF technical-assistance recommendation. All three are primary-source claims in docs/research/s3/CLAIM_EVIDENCE_REGISTER.md.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"why has nobody done this" slide. The pattern abroad is that every country that measures airfares well owns a data tap (state reservation system, mandatory ticket filing, or an in-house scraping unit). India has none of the three yet, which is why AeroDex is framed as a reproducible bridge. Full case study: docs/research/INTERNATIONAL_AIRFARE_INDEX_PRACTICE.md.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5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4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spi.gov.in/uploads/documents/documents/1770891066052-Annexure_V.pdf" TargetMode="External"/><Relationship Id="rId3" Type="http://schemas.openxmlformats.org/officeDocument/2006/relationships/hyperlink" Target="https://www.mospi.gov.in/uploads/Marquee/doc-0aee0026-bf32-4213-ae4f-c5308088444e.pdf" TargetMode="External"/><Relationship Id="rId4" Type="http://schemas.openxmlformats.org/officeDocument/2006/relationships/hyperlink" Target="https://www.bls.gov/cpi/factsheets/airline-fares.htm" TargetMode="External"/><Relationship Id="rId5" Type="http://schemas.openxmlformats.org/officeDocument/2006/relationships/hyperlink" Target="https://github.com/Vonter/india-aviation-traffic" TargetMode="External"/><Relationship Id="rId6" Type="http://schemas.openxmlformats.org/officeDocument/2006/relationships/hyperlink" Target="https://mospi.gov.in/sites/default/files/CoSAct2008.pdf" TargetMode="External"/><Relationship Id="rId7" Type="http://schemas.openxmlformats.org/officeDocument/2006/relationships/hyperlink" Target="https://www.rfc-editor.org/rfc/rfc9309" TargetMode="External"/><Relationship Id="rId8" Type="http://schemas.openxmlformats.org/officeDocument/2006/relationships/hyperlink" Target="https://www.cpi.mospi.gov.in/PDFile/CPI-Changes_in_the_Revised_Series.pdf" TargetMode="External"/><Relationship Id="rId9" Type="http://schemas.openxmlformats.org/officeDocument/2006/relationships/hyperlink" Target="https://github.com/Naveen-Boddepalli/aerodex" TargetMode="External"/><Relationship Id="rId1" Type="http://schemas.openxmlformats.org/officeDocument/2006/relationships/image" Target="../media/image-6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549640" y="868680"/>
            <a:ext cx="3383280" cy="3383280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5" name="Image 0" descr="Smart India Hackathon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1170432"/>
            <a:ext cx="2468880" cy="2734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371600"/>
            <a:ext cx="7680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pPr algn="l" indent="0" marL="0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SIH26056</a:t>
            </a:r>
            <a:endParaRPr lang="en-US" sz="1800" dirty="0"/>
          </a:p>
          <a:p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5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Development of a Real-time Airfare Price Index for India through Automated Web Scraping of Airline and Online Travel Aggregator Portals for Augmentation of the Consumer Price Index (CPI)</a:t>
            </a:r>
            <a:endParaRPr lang="en-US" sz="1800" dirty="0"/>
          </a:p>
          <a:p>
            <a:pPr algn="l" indent="0" marL="0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pPr algn="l" indent="0" marL="0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Travel &amp; Tourism</a:t>
            </a:r>
            <a:endParaRPr lang="en-US" sz="1800" dirty="0"/>
          </a:p>
          <a:p>
            <a:pPr algn="l" indent="0" marL="0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</a:t>
            </a:r>
            <a:pPr algn="l" indent="0" marL="0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Software</a:t>
            </a:r>
            <a:endParaRPr lang="en-US" sz="1800" dirty="0"/>
          </a:p>
          <a:p>
            <a:pPr algn="l" indent="0" marL="0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pPr algn="l" indent="0" marL="0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__________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(Registered on portal)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AeroDex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81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Statistics and Programme Implementation (MoSPI) · Data Informatics &amp; Innovation Division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5138928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0B25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52303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AeroDex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760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FE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reproducible, daily Domestic Airfare Price Index (DAPI) for India, built to national-statistics standards.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5330952"/>
            <a:ext cx="2697480" cy="438912"/>
          </a:xfrm>
          <a:prstGeom prst="roundRect">
            <a:avLst>
              <a:gd name="adj" fmla="val 50000"/>
            </a:avLst>
          </a:prstGeom>
          <a:solidFill>
            <a:srgbClr val="17386A"/>
          </a:solidFill>
          <a:ln/>
        </p:spPr>
      </p:sp>
      <p:pic>
        <p:nvPicPr>
          <p:cNvPr id="12" name="Image 1" descr="/Users/boddepallinaveen/Desktop/aerodex/docs/sih-2026/build/icons/FaRout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336" y="544068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46520" y="53309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routes · 420 strata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787384" y="5330952"/>
            <a:ext cx="2697480" cy="438912"/>
          </a:xfrm>
          <a:prstGeom prst="roundRect">
            <a:avLst>
              <a:gd name="adj" fmla="val 50000"/>
            </a:avLst>
          </a:prstGeom>
          <a:solidFill>
            <a:srgbClr val="17386A"/>
          </a:solidFill>
          <a:ln/>
        </p:spPr>
      </p:sp>
      <p:pic>
        <p:nvPicPr>
          <p:cNvPr id="15" name="Image 2" descr="/Users/boddepallinaveen/Desktop/aerodex/docs/sih-2026/build/icons/FaCheckCircl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544068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44584" y="53309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 automated tests passing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989320" y="5861304"/>
            <a:ext cx="2697480" cy="438912"/>
          </a:xfrm>
          <a:prstGeom prst="roundRect">
            <a:avLst>
              <a:gd name="adj" fmla="val 50000"/>
            </a:avLst>
          </a:prstGeom>
          <a:solidFill>
            <a:srgbClr val="17386A"/>
          </a:solidFill>
          <a:ln/>
        </p:spPr>
      </p:sp>
      <p:pic>
        <p:nvPicPr>
          <p:cNvPr id="18" name="Image 3" descr="/Users/boddepallinaveen/Desktop/aerodex/docs/sih-2026/build/icons/FaFingerprin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59710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46520" y="58613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Bit-identical re-runs (SHA-256)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787384" y="5861304"/>
            <a:ext cx="2697480" cy="438912"/>
          </a:xfrm>
          <a:prstGeom prst="roundRect">
            <a:avLst>
              <a:gd name="adj" fmla="val 50000"/>
            </a:avLst>
          </a:prstGeom>
          <a:solidFill>
            <a:srgbClr val="17386A"/>
          </a:solidFill>
          <a:ln/>
        </p:spPr>
      </p:sp>
      <p:pic>
        <p:nvPicPr>
          <p:cNvPr id="21" name="Image 4" descr="/Users/boddepallinaveen/Desktop/aerodex/docs/sih-2026/build/icons/FaShieldAl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5971032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244584" y="58613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Refuses to publish synthetic data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83080" y="914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AeroDex — A Daily Airfare Price Index for India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9184" y="109728"/>
            <a:ext cx="1280160" cy="7863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09728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AeroDex</a:t>
            </a:r>
            <a:endParaRPr lang="en-US" sz="1200" dirty="0"/>
          </a:p>
        </p:txBody>
      </p:sp>
      <p:pic>
        <p:nvPicPr>
          <p:cNvPr id="5" name="Image 0" descr="Smart India Hackathon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45720"/>
            <a:ext cx="2148840" cy="9966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355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1005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1298448"/>
            <a:ext cx="11365992" cy="786384"/>
          </a:xfrm>
          <a:prstGeom prst="roundRect">
            <a:avLst>
              <a:gd name="adj" fmla="val 9302"/>
            </a:avLst>
          </a:prstGeom>
          <a:solidFill>
            <a:srgbClr val="EAF3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" y="1298448"/>
            <a:ext cx="10972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AeroDex prices a fixed panel of 60 domestic routes at 7 booking horizons, three times a day, and publishes a daily, DGCA-weighted airfare index that anyone can recompute from its published inputs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giving the CPI a sub-monthly, route-level signal it does not have today.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2212848"/>
            <a:ext cx="3794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2860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MEASUREMENT GAP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700784" y="2560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CPI today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2560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AeroDex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" y="2825496"/>
            <a:ext cx="3429000" cy="0"/>
          </a:xfrm>
          <a:prstGeom prst="line">
            <a:avLst/>
          </a:prstGeom>
          <a:noFill/>
          <a:ln w="12700">
            <a:solidFill>
              <a:srgbClr val="D3DD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288950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700784" y="288950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28895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· 3 IST slots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94360" y="3209544"/>
            <a:ext cx="342900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2186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Look-ahead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700784" y="321868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spec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2560320" y="32186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horizons, 1–60 days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94360" y="3538728"/>
            <a:ext cx="342900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4360" y="35478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700784" y="354787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Sampled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2560320" y="35478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routes · 23 airports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94360" y="3867912"/>
            <a:ext cx="342900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4360" y="38770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1700784" y="3877056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level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560320" y="38770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coverage, imputation, hash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4389120" y="22128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389120" y="2487168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17136" y="2615184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35" name="Image 1" descr="/Users/boddepallinaveen/Desktop/aerodex/docs/sih-2026/build/icons/FaSearch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715768"/>
            <a:ext cx="201168" cy="201168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4992624" y="2615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Observe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4517136" y="3127248"/>
            <a:ext cx="14996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routes × 7 horizons</a:t>
            </a:r>
            <a:endParaRPr lang="en-US" sz="1050" dirty="0"/>
          </a:p>
          <a:p>
            <a:pPr algn="l" marL="114300" indent="-1143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fixed IST slots a day</a:t>
            </a:r>
            <a:endParaRPr lang="en-US" sz="1050" dirty="0"/>
          </a:p>
          <a:p>
            <a:pPr algn="l" marL="114300" indent="-1143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 fare, as a traveller sees it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6131052" y="2816352"/>
            <a:ext cx="132588" cy="0"/>
          </a:xfrm>
          <a:prstGeom prst="line">
            <a:avLst/>
          </a:prstGeom>
          <a:noFill/>
          <a:ln w="22225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>
            <a:off x="6272784" y="2487168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400800" y="2615184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41" name="Image 2" descr="/Users/boddepallinaveen/Desktop/aerodex/docs/sih-2026/build/icons/FaBroom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715768"/>
            <a:ext cx="201168" cy="201168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6876288" y="2615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Clean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6400800" y="3127248"/>
            <a:ext cx="14996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Normalise, dedup, tag attributes</a:t>
            </a:r>
            <a:endParaRPr lang="en-US" sz="1050" dirty="0"/>
          </a:p>
          <a:p>
            <a:pPr algn="l" marL="114300" indent="-1143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the all-inclusive fare, as paid</a:t>
            </a:r>
            <a:endParaRPr lang="en-US" sz="1050" dirty="0"/>
          </a:p>
          <a:p>
            <a:pPr algn="l" marL="114300" indent="-1143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Bounds checks, quarantine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8014716" y="2816352"/>
            <a:ext cx="132588" cy="0"/>
          </a:xfrm>
          <a:prstGeom prst="line">
            <a:avLst/>
          </a:prstGeom>
          <a:noFill/>
          <a:ln w="22225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45" name="Shape 40"/>
          <p:cNvSpPr/>
          <p:nvPr/>
        </p:nvSpPr>
        <p:spPr>
          <a:xfrm>
            <a:off x="8156448" y="2487168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284464" y="2615184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47" name="Image 3" descr="/Users/boddepallinaveen/Desktop/aerodex/docs/sih-2026/build/icons/FaChartLin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2715768"/>
            <a:ext cx="201168" cy="201168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8759952" y="2615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Index</a:t>
            </a:r>
            <a:endParaRPr 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8284464" y="3127248"/>
            <a:ext cx="14996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Matched-model Jevons per stratum</a:t>
            </a:r>
            <a:endParaRPr lang="en-US" sz="1050" dirty="0"/>
          </a:p>
          <a:p>
            <a:pPr algn="l" marL="114300" indent="-1143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 aggregation, DGCA weights</a:t>
            </a:r>
            <a:endParaRPr lang="en-US" sz="1050" dirty="0"/>
          </a:p>
          <a:p>
            <a:pPr algn="l" marL="114300" indent="-1143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imputed, capped at 5%</a:t>
            </a:r>
            <a:endParaRPr lang="en-US" sz="1050" dirty="0"/>
          </a:p>
        </p:txBody>
      </p:sp>
      <p:sp>
        <p:nvSpPr>
          <p:cNvPr id="50" name="Shape 44"/>
          <p:cNvSpPr/>
          <p:nvPr/>
        </p:nvSpPr>
        <p:spPr>
          <a:xfrm>
            <a:off x="9898380" y="2816352"/>
            <a:ext cx="132588" cy="0"/>
          </a:xfrm>
          <a:prstGeom prst="line">
            <a:avLst/>
          </a:prstGeom>
          <a:noFill/>
          <a:ln w="22225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51" name="Shape 45"/>
          <p:cNvSpPr/>
          <p:nvPr/>
        </p:nvSpPr>
        <p:spPr>
          <a:xfrm>
            <a:off x="10040112" y="2487168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0168128" y="2615184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53" name="Image 4" descr="/Users/boddepallinaveen/Desktop/aerodex/docs/sih-2026/build/icons/FaFingerprin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712" y="2715768"/>
            <a:ext cx="201168" cy="201168"/>
          </a:xfrm>
          <a:prstGeom prst="rect">
            <a:avLst/>
          </a:prstGeom>
        </p:spPr>
      </p:pic>
      <p:sp>
        <p:nvSpPr>
          <p:cNvPr id="54" name="Text 47"/>
          <p:cNvSpPr txBox="1"/>
          <p:nvPr/>
        </p:nvSpPr>
        <p:spPr>
          <a:xfrm>
            <a:off x="10643616" y="2615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Publish</a:t>
            </a:r>
            <a:endParaRPr lang="en-US" sz="1200" dirty="0"/>
          </a:p>
        </p:txBody>
      </p:sp>
      <p:sp>
        <p:nvSpPr>
          <p:cNvPr id="55" name="Text 48"/>
          <p:cNvSpPr txBox="1"/>
          <p:nvPr/>
        </p:nvSpPr>
        <p:spPr>
          <a:xfrm>
            <a:off x="10168128" y="3127248"/>
            <a:ext cx="14996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and open API</a:t>
            </a:r>
            <a:endParaRPr lang="en-US" sz="1050" dirty="0"/>
          </a:p>
          <a:p>
            <a:pPr algn="l" marL="114300" indent="-1143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Coverage, imputation, hashes on every point</a:t>
            </a:r>
            <a:endParaRPr lang="en-US" sz="1050" dirty="0"/>
          </a:p>
          <a:p>
            <a:pPr algn="l" marL="114300" indent="-1143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aerodex verify re-derives it</a:t>
            </a:r>
            <a:endParaRPr lang="en-US" sz="1050" dirty="0"/>
          </a:p>
        </p:txBody>
      </p:sp>
      <p:sp>
        <p:nvSpPr>
          <p:cNvPr id="56" name="Text 49"/>
          <p:cNvSpPr txBox="1"/>
          <p:nvPr/>
        </p:nvSpPr>
        <p:spPr>
          <a:xfrm>
            <a:off x="411480" y="44439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AND UNIQUENESS</a:t>
            </a:r>
            <a:endParaRPr lang="en-US" sz="1050" dirty="0"/>
          </a:p>
        </p:txBody>
      </p:sp>
      <p:sp>
        <p:nvSpPr>
          <p:cNvPr id="57" name="Shape 50"/>
          <p:cNvSpPr/>
          <p:nvPr/>
        </p:nvSpPr>
        <p:spPr>
          <a:xfrm>
            <a:off x="411480" y="4718304"/>
            <a:ext cx="272491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539496" y="4837176"/>
            <a:ext cx="402336" cy="402336"/>
          </a:xfrm>
          <a:prstGeom prst="ellipse">
            <a:avLst/>
          </a:prstGeom>
          <a:solidFill>
            <a:srgbClr val="138A3E"/>
          </a:solidFill>
          <a:ln/>
        </p:spPr>
      </p:sp>
      <p:pic>
        <p:nvPicPr>
          <p:cNvPr id="59" name="Image 5" descr="/Users/boddepallinaveen/Desktop/aerodex/docs/sih-2026/build/icons/FaFingerprin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37760"/>
            <a:ext cx="201168" cy="201168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1033272" y="48371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by construction</a:t>
            </a:r>
            <a:endParaRPr lang="en-US" sz="1200" dirty="0"/>
          </a:p>
        </p:txBody>
      </p:sp>
      <p:sp>
        <p:nvSpPr>
          <p:cNvPr id="61" name="Text 53"/>
          <p:cNvSpPr txBox="1"/>
          <p:nvPr/>
        </p:nvSpPr>
        <p:spPr>
          <a:xfrm>
            <a:off x="539496" y="53035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pure function: the same archived panel and config always give the same SHA-256. CI re-checks it every night.</a:t>
            </a:r>
            <a:endParaRPr lang="en-US" sz="1050" dirty="0"/>
          </a:p>
        </p:txBody>
      </p:sp>
      <p:sp>
        <p:nvSpPr>
          <p:cNvPr id="62" name="Shape 54"/>
          <p:cNvSpPr/>
          <p:nvPr/>
        </p:nvSpPr>
        <p:spPr>
          <a:xfrm>
            <a:off x="539496" y="5897880"/>
            <a:ext cx="246888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539496" y="591616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aerodex verify → REPRODUCIBLE</a:t>
            </a:r>
            <a:endParaRPr lang="en-US" sz="950" dirty="0"/>
          </a:p>
        </p:txBody>
      </p:sp>
      <p:sp>
        <p:nvSpPr>
          <p:cNvPr id="64" name="Shape 56"/>
          <p:cNvSpPr/>
          <p:nvPr/>
        </p:nvSpPr>
        <p:spPr>
          <a:xfrm>
            <a:off x="3291840" y="4718304"/>
            <a:ext cx="272491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3419856" y="4837176"/>
            <a:ext cx="402336" cy="402336"/>
          </a:xfrm>
          <a:prstGeom prst="ellipse">
            <a:avLst/>
          </a:prstGeom>
          <a:solidFill>
            <a:srgbClr val="E8731A"/>
          </a:solidFill>
          <a:ln/>
        </p:spPr>
      </p:sp>
      <p:pic>
        <p:nvPicPr>
          <p:cNvPr id="66" name="Image 6" descr="/Users/boddepallinaveen/Desktop/aerodex/docs/sih-2026/build/icons/FaBan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4937760"/>
            <a:ext cx="201168" cy="201168"/>
          </a:xfrm>
          <a:prstGeom prst="rect">
            <a:avLst/>
          </a:prstGeom>
        </p:spPr>
      </p:pic>
      <p:sp>
        <p:nvSpPr>
          <p:cNvPr id="67" name="Text 58"/>
          <p:cNvSpPr txBox="1"/>
          <p:nvPr/>
        </p:nvSpPr>
        <p:spPr>
          <a:xfrm>
            <a:off x="3913632" y="48371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Refuses to overstate</a:t>
            </a:r>
            <a:endParaRPr lang="en-US" sz="1200" dirty="0"/>
          </a:p>
        </p:txBody>
      </p:sp>
      <p:sp>
        <p:nvSpPr>
          <p:cNvPr id="68" name="Text 59"/>
          <p:cNvSpPr txBox="1"/>
          <p:nvPr/>
        </p:nvSpPr>
        <p:spPr>
          <a:xfrm>
            <a:off x="3419856" y="53035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synthetic-only runs and any run over 5% imputed weight. Coverage failures are published, never hidden.</a:t>
            </a:r>
            <a:endParaRPr lang="en-US" sz="1050" dirty="0"/>
          </a:p>
        </p:txBody>
      </p:sp>
      <p:sp>
        <p:nvSpPr>
          <p:cNvPr id="69" name="Shape 60"/>
          <p:cNvSpPr/>
          <p:nvPr/>
        </p:nvSpPr>
        <p:spPr>
          <a:xfrm>
            <a:off x="3419856" y="5897880"/>
            <a:ext cx="246888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70" name="Text 61"/>
          <p:cNvSpPr txBox="1"/>
          <p:nvPr/>
        </p:nvSpPr>
        <p:spPr>
          <a:xfrm>
            <a:off x="3419856" y="591616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PUBLICATION REFUSED, exit code 3</a:t>
            </a:r>
            <a:endParaRPr lang="en-US" sz="950" dirty="0"/>
          </a:p>
        </p:txBody>
      </p:sp>
      <p:sp>
        <p:nvSpPr>
          <p:cNvPr id="71" name="Shape 62"/>
          <p:cNvSpPr/>
          <p:nvPr/>
        </p:nvSpPr>
        <p:spPr>
          <a:xfrm>
            <a:off x="6172200" y="4718304"/>
            <a:ext cx="272491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6300216" y="4837176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73" name="Image 7" descr="/Users/boddepallinaveen/Desktop/aerodex/docs/sih-2026/build/icons/FaClock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937760"/>
            <a:ext cx="201168" cy="201168"/>
          </a:xfrm>
          <a:prstGeom prst="rect">
            <a:avLst/>
          </a:prstGeom>
        </p:spPr>
      </p:pic>
      <p:sp>
        <p:nvSpPr>
          <p:cNvPr id="74" name="Text 64"/>
          <p:cNvSpPr txBox="1"/>
          <p:nvPr/>
        </p:nvSpPr>
        <p:spPr>
          <a:xfrm>
            <a:off x="6793992" y="48371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Horizon-controlled</a:t>
            </a:r>
            <a:endParaRPr lang="en-US" sz="1200" dirty="0"/>
          </a:p>
        </p:txBody>
      </p:sp>
      <p:sp>
        <p:nvSpPr>
          <p:cNvPr id="75" name="Text 65"/>
          <p:cNvSpPr txBox="1"/>
          <p:nvPr/>
        </p:nvSpPr>
        <p:spPr>
          <a:xfrm>
            <a:off x="6300216" y="53035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advance-purchase windows separate a real fare rise from late booking, as the IMF TA to MoSPI advised.</a:t>
            </a:r>
            <a:endParaRPr lang="en-US" sz="1050" dirty="0"/>
          </a:p>
        </p:txBody>
      </p:sp>
      <p:sp>
        <p:nvSpPr>
          <p:cNvPr id="76" name="Shape 66"/>
          <p:cNvSpPr/>
          <p:nvPr/>
        </p:nvSpPr>
        <p:spPr>
          <a:xfrm>
            <a:off x="6300216" y="5897880"/>
            <a:ext cx="246888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77" name="Text 67"/>
          <p:cNvSpPr txBox="1"/>
          <p:nvPr/>
        </p:nvSpPr>
        <p:spPr>
          <a:xfrm>
            <a:off x="6300216" y="591616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7 horizons in config/panel.yaml</a:t>
            </a:r>
            <a:endParaRPr lang="en-US" sz="950" dirty="0"/>
          </a:p>
        </p:txBody>
      </p:sp>
      <p:sp>
        <p:nvSpPr>
          <p:cNvPr id="78" name="Shape 68"/>
          <p:cNvSpPr/>
          <p:nvPr/>
        </p:nvSpPr>
        <p:spPr>
          <a:xfrm>
            <a:off x="9052560" y="4718304"/>
            <a:ext cx="272491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9180576" y="4837176"/>
            <a:ext cx="402336" cy="402336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0" name="Image 8" descr="/Users/boddepallinaveen/Desktop/aerodex/docs/sih-2026/build/icons/FaBalanceScale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1160" y="4937760"/>
            <a:ext cx="201168" cy="201168"/>
          </a:xfrm>
          <a:prstGeom prst="rect">
            <a:avLst/>
          </a:prstGeom>
        </p:spPr>
      </p:pic>
      <p:sp>
        <p:nvSpPr>
          <p:cNvPr id="81" name="Text 70"/>
          <p:cNvSpPr txBox="1"/>
          <p:nvPr/>
        </p:nvSpPr>
        <p:spPr>
          <a:xfrm>
            <a:off x="9674352" y="48371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Statistical-office method</a:t>
            </a:r>
            <a:endParaRPr lang="en-US" sz="1200" dirty="0"/>
          </a:p>
        </p:txBody>
      </p:sp>
      <p:sp>
        <p:nvSpPr>
          <p:cNvPr id="82" name="Text 71"/>
          <p:cNvSpPr txBox="1"/>
          <p:nvPr/>
        </p:nvSpPr>
        <p:spPr>
          <a:xfrm>
            <a:off x="9180576" y="53035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Jevons + Lowe, the family MoSPI’s CPI 2024 uses, on DGCA 2025 traffic weights for all 60 routes.</a:t>
            </a:r>
            <a:endParaRPr lang="en-US" sz="1050" dirty="0"/>
          </a:p>
        </p:txBody>
      </p:sp>
      <p:sp>
        <p:nvSpPr>
          <p:cNvPr id="83" name="Shape 72"/>
          <p:cNvSpPr/>
          <p:nvPr/>
        </p:nvSpPr>
        <p:spPr>
          <a:xfrm>
            <a:off x="9180576" y="5897880"/>
            <a:ext cx="246888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84" name="Text 73"/>
          <p:cNvSpPr txBox="1"/>
          <p:nvPr/>
        </p:nvSpPr>
        <p:spPr>
          <a:xfrm>
            <a:off x="9180576" y="591616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60 of 60 DGCA route weights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83080" y="914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9184" y="109728"/>
            <a:ext cx="1280160" cy="7863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09728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AeroDex</a:t>
            </a:r>
            <a:endParaRPr lang="en-US" sz="1200" dirty="0"/>
          </a:p>
        </p:txBody>
      </p:sp>
      <p:pic>
        <p:nvPicPr>
          <p:cNvPr id="5" name="Image 0" descr="Smart India Hackathon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45720"/>
            <a:ext cx="2148840" cy="9966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355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1005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 · status as of 24 Sep 2026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1298448"/>
            <a:ext cx="2834640" cy="1517904"/>
          </a:xfrm>
          <a:prstGeom prst="roundRect">
            <a:avLst>
              <a:gd name="adj" fmla="val 4819"/>
            </a:avLst>
          </a:prstGeom>
          <a:solidFill>
            <a:srgbClr val="F5F9FD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3441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· 3-TIER LADDER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16642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" y="1627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feed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96112" y="18013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MoSPI / DGCA route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450592" y="1700784"/>
            <a:ext cx="694944" cy="210312"/>
          </a:xfrm>
          <a:prstGeom prst="roundRect">
            <a:avLst>
              <a:gd name="adj" fmla="val 50000"/>
            </a:avLst>
          </a:prstGeom>
          <a:solidFill>
            <a:srgbClr val="EDF0F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450592" y="1700784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20482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96112" y="20116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fare API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96112" y="21854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HasData / SerpApi · Duffel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450592" y="2084832"/>
            <a:ext cx="694944" cy="210312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450592" y="2084832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48640" y="24323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96112" y="23957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Fixture, demo only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96112" y="25694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publishable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450592" y="2468880"/>
            <a:ext cx="694944" cy="210312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450592" y="2468880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255264" y="2057400"/>
            <a:ext cx="201168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474720" y="1298448"/>
            <a:ext cx="1097280" cy="151790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66160" y="1389888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56616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3566160" y="1719072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3566160" y="1975104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systemd timers, 3 IST slots ±15 min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566160" y="2542032"/>
            <a:ext cx="731520" cy="210312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566160" y="254203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663440" y="1298448"/>
            <a:ext cx="1097280" cy="151790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754880" y="1389888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75488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1719072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4754880" y="1975104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ladder + robots.txt and rate-limit guard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754880" y="2542032"/>
            <a:ext cx="731520" cy="210312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754880" y="254203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52160" y="1298448"/>
            <a:ext cx="1097280" cy="151790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943600" y="1389888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594360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5943600" y="1719072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</a:t>
            </a:r>
            <a:endParaRPr lang="en-US" sz="1150" dirty="0"/>
          </a:p>
        </p:txBody>
      </p:sp>
      <p:sp>
        <p:nvSpPr>
          <p:cNvPr id="49" name="Text 46"/>
          <p:cNvSpPr txBox="1"/>
          <p:nvPr/>
        </p:nvSpPr>
        <p:spPr>
          <a:xfrm>
            <a:off x="5943600" y="1975104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dedup, attribute tags, all-in fare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943600" y="2542032"/>
            <a:ext cx="731520" cy="210312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5943600" y="254203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7040880" y="1298448"/>
            <a:ext cx="1097280" cy="151790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132320" y="1389888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713232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7132320" y="1719072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7132320" y="1975104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plausibility bounds, quarantine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7132320" y="2542032"/>
            <a:ext cx="731520" cy="210312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7132320" y="254203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8229600" y="1298448"/>
            <a:ext cx="1097280" cy="151790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321040" y="1389888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832104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8321040" y="1719072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150" dirty="0"/>
          </a:p>
        </p:txBody>
      </p:sp>
      <p:sp>
        <p:nvSpPr>
          <p:cNvPr id="63" name="Text 60"/>
          <p:cNvSpPr txBox="1"/>
          <p:nvPr/>
        </p:nvSpPr>
        <p:spPr>
          <a:xfrm>
            <a:off x="8321040" y="1975104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quotes, DB triggers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8321040" y="2542032"/>
            <a:ext cx="731520" cy="210312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8321040" y="254203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9418320" y="1298448"/>
            <a:ext cx="1097280" cy="151790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509760" y="1389888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950976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9509760" y="1719072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150" dirty="0"/>
          </a:p>
        </p:txBody>
      </p:sp>
      <p:sp>
        <p:nvSpPr>
          <p:cNvPr id="70" name="Text 67"/>
          <p:cNvSpPr txBox="1"/>
          <p:nvPr/>
        </p:nvSpPr>
        <p:spPr>
          <a:xfrm>
            <a:off x="9509760" y="1975104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function, Jevons then Lowe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9509760" y="2542032"/>
            <a:ext cx="731520" cy="210312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9509760" y="254203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10607040" y="1298448"/>
            <a:ext cx="1097280" cy="151790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0698480" y="1389888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1069848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76" name="Text 73"/>
          <p:cNvSpPr txBox="1"/>
          <p:nvPr/>
        </p:nvSpPr>
        <p:spPr>
          <a:xfrm>
            <a:off x="10698480" y="1719072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50" dirty="0"/>
          </a:p>
        </p:txBody>
      </p:sp>
      <p:sp>
        <p:nvSpPr>
          <p:cNvPr id="77" name="Text 74"/>
          <p:cNvSpPr txBox="1"/>
          <p:nvPr/>
        </p:nvSpPr>
        <p:spPr>
          <a:xfrm>
            <a:off x="10698480" y="1975104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 gate, JSON artifacts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10698480" y="2542032"/>
            <a:ext cx="731520" cy="210312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10698480" y="254203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3474720" y="2889504"/>
            <a:ext cx="8302752" cy="329184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3566160" y="288950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TimescaleDB  ▸  static JSON artifacts  ▸  FastAPI (11 endpoints)  ▸  Next.js dashboard (9 screens)</a:t>
            </a:r>
            <a:endParaRPr lang="en-US" sz="1050" dirty="0"/>
          </a:p>
        </p:txBody>
      </p:sp>
      <p:sp>
        <p:nvSpPr>
          <p:cNvPr id="82" name="Text 79"/>
          <p:cNvSpPr txBox="1"/>
          <p:nvPr/>
        </p:nvSpPr>
        <p:spPr>
          <a:xfrm>
            <a:off x="411480" y="33467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TO BE USED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411480" y="3621024"/>
            <a:ext cx="3429000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548640" y="3694176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Language, data</a:t>
            </a:r>
            <a:endParaRPr lang="en-US" sz="1000" dirty="0"/>
          </a:p>
        </p:txBody>
      </p:sp>
      <p:sp>
        <p:nvSpPr>
          <p:cNvPr id="85" name="Text 82"/>
          <p:cNvSpPr txBox="1"/>
          <p:nvPr/>
        </p:nvSpPr>
        <p:spPr>
          <a:xfrm>
            <a:off x="1463040" y="369417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 · pandas · NumPy · Pydantic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548640" y="4096512"/>
            <a:ext cx="315468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548640" y="411480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000" dirty="0"/>
          </a:p>
        </p:txBody>
      </p:sp>
      <p:sp>
        <p:nvSpPr>
          <p:cNvPr id="88" name="Text 85"/>
          <p:cNvSpPr txBox="1"/>
          <p:nvPr/>
        </p:nvSpPr>
        <p:spPr>
          <a:xfrm>
            <a:off x="1463040" y="411480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· TimescaleDB · append-only triggers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548640" y="4517136"/>
            <a:ext cx="315468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548640" y="4535424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91" name="Text 88"/>
          <p:cNvSpPr txBox="1"/>
          <p:nvPr/>
        </p:nvSpPr>
        <p:spPr>
          <a:xfrm>
            <a:off x="1463040" y="453542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httpx · own RFC 9309 robots parser · systemd timers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548640" y="4937760"/>
            <a:ext cx="315468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548640" y="495604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</a:t>
            </a:r>
            <a:endParaRPr lang="en-US" sz="1000" dirty="0"/>
          </a:p>
        </p:txBody>
      </p:sp>
      <p:sp>
        <p:nvSpPr>
          <p:cNvPr id="94" name="Text 91"/>
          <p:cNvSpPr txBox="1"/>
          <p:nvPr/>
        </p:nvSpPr>
        <p:spPr>
          <a:xfrm>
            <a:off x="1463040" y="495604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Next.js 16 · React 19 · TypeScript · Recharts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548640" y="5358384"/>
            <a:ext cx="315468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548640" y="537667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</a:t>
            </a:r>
            <a:endParaRPr lang="en-US" sz="1000" dirty="0"/>
          </a:p>
        </p:txBody>
      </p:sp>
      <p:sp>
        <p:nvSpPr>
          <p:cNvPr id="97" name="Text 94"/>
          <p:cNvSpPr txBox="1"/>
          <p:nvPr/>
        </p:nvSpPr>
        <p:spPr>
          <a:xfrm>
            <a:off x="1463040" y="537667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(183) · ruff · mypy · GitHub Actions, nightly hash check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548640" y="5779008"/>
            <a:ext cx="315468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548640" y="5797296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000" dirty="0"/>
          </a:p>
        </p:txBody>
      </p:sp>
      <p:sp>
        <p:nvSpPr>
          <p:cNvPr id="100" name="Text 97"/>
          <p:cNvSpPr txBox="1"/>
          <p:nvPr/>
        </p:nvSpPr>
        <p:spPr>
          <a:xfrm>
            <a:off x="1463040" y="579729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(API live) · Cloudflare R2 + Oracle A1 as the ₹0 target</a:t>
            </a:r>
            <a:endParaRPr lang="en-US" sz="1000" dirty="0"/>
          </a:p>
        </p:txBody>
      </p:sp>
      <p:sp>
        <p:nvSpPr>
          <p:cNvPr id="101" name="Text 98"/>
          <p:cNvSpPr txBox="1"/>
          <p:nvPr/>
        </p:nvSpPr>
        <p:spPr>
          <a:xfrm>
            <a:off x="4023360" y="33467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METHODOLOGY</a:t>
            </a:r>
            <a:endParaRPr lang="en-US" sz="1050" dirty="0"/>
          </a:p>
        </p:txBody>
      </p:sp>
      <p:sp>
        <p:nvSpPr>
          <p:cNvPr id="102" name="Shape 99"/>
          <p:cNvSpPr/>
          <p:nvPr/>
        </p:nvSpPr>
        <p:spPr>
          <a:xfrm>
            <a:off x="4023360" y="3621024"/>
            <a:ext cx="3931920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160520" y="3753612"/>
            <a:ext cx="219456" cy="219456"/>
          </a:xfrm>
          <a:prstGeom prst="ellipse">
            <a:avLst/>
          </a:prstGeom>
          <a:solidFill>
            <a:srgbClr val="138A3E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4160520" y="37536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5" name="Text 102"/>
          <p:cNvSpPr txBox="1"/>
          <p:nvPr/>
        </p:nvSpPr>
        <p:spPr>
          <a:xfrm>
            <a:off x="4480560" y="37124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Stratify route × horizon → 420 strata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7187184" y="3758184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7187184" y="37581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4160520" y="4059936"/>
            <a:ext cx="219456" cy="219456"/>
          </a:xfrm>
          <a:prstGeom prst="ellipse">
            <a:avLst/>
          </a:prstGeom>
          <a:solidFill>
            <a:srgbClr val="138A3E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4160520" y="4059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0" name="Text 107"/>
          <p:cNvSpPr txBox="1"/>
          <p:nvPr/>
        </p:nvSpPr>
        <p:spPr>
          <a:xfrm>
            <a:off x="4480560" y="401878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Matched-model Jevons per stratum</a:t>
            </a:r>
            <a:endParaRPr lang="en-US" sz="1000" dirty="0"/>
          </a:p>
        </p:txBody>
      </p:sp>
      <p:sp>
        <p:nvSpPr>
          <p:cNvPr id="111" name="Shape 108"/>
          <p:cNvSpPr/>
          <p:nvPr/>
        </p:nvSpPr>
        <p:spPr>
          <a:xfrm>
            <a:off x="7187184" y="4064508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7187184" y="40645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113" name="Shape 110"/>
          <p:cNvSpPr/>
          <p:nvPr/>
        </p:nvSpPr>
        <p:spPr>
          <a:xfrm>
            <a:off x="4160520" y="4366260"/>
            <a:ext cx="219456" cy="219456"/>
          </a:xfrm>
          <a:prstGeom prst="ellipse">
            <a:avLst/>
          </a:prstGeom>
          <a:solidFill>
            <a:srgbClr val="138A3E"/>
          </a:solidFill>
          <a:ln/>
        </p:spPr>
      </p:sp>
      <p:sp>
        <p:nvSpPr>
          <p:cNvPr id="114" name="Text 111"/>
          <p:cNvSpPr txBox="1"/>
          <p:nvPr/>
        </p:nvSpPr>
        <p:spPr>
          <a:xfrm>
            <a:off x="4160520" y="43662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15" name="Text 112"/>
          <p:cNvSpPr txBox="1"/>
          <p:nvPr/>
        </p:nvSpPr>
        <p:spPr>
          <a:xfrm>
            <a:off x="4480560" y="432511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 aggregation, DGCA 2025 weights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7187184" y="4370832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7187184" y="43708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118" name="Shape 115"/>
          <p:cNvSpPr/>
          <p:nvPr/>
        </p:nvSpPr>
        <p:spPr>
          <a:xfrm>
            <a:off x="4160520" y="4672584"/>
            <a:ext cx="219456" cy="219456"/>
          </a:xfrm>
          <a:prstGeom prst="ellipse">
            <a:avLst/>
          </a:prstGeom>
          <a:solidFill>
            <a:srgbClr val="138A3E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4160520" y="4672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20" name="Text 117"/>
          <p:cNvSpPr txBox="1"/>
          <p:nvPr/>
        </p:nvSpPr>
        <p:spPr>
          <a:xfrm>
            <a:off x="4480560" y="463143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Group-mean imputation, capped at 5%</a:t>
            </a:r>
            <a:endParaRPr lang="en-US" sz="1000" dirty="0"/>
          </a:p>
        </p:txBody>
      </p:sp>
      <p:sp>
        <p:nvSpPr>
          <p:cNvPr id="121" name="Shape 118"/>
          <p:cNvSpPr/>
          <p:nvPr/>
        </p:nvSpPr>
        <p:spPr>
          <a:xfrm>
            <a:off x="7187184" y="4677156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7187184" y="46771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123" name="Shape 120"/>
          <p:cNvSpPr/>
          <p:nvPr/>
        </p:nvSpPr>
        <p:spPr>
          <a:xfrm>
            <a:off x="4160520" y="4978908"/>
            <a:ext cx="219456" cy="219456"/>
          </a:xfrm>
          <a:prstGeom prst="ellipse">
            <a:avLst/>
          </a:prstGeom>
          <a:solidFill>
            <a:srgbClr val="138A3E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4160520" y="49789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25" name="Text 122"/>
          <p:cNvSpPr txBox="1"/>
          <p:nvPr/>
        </p:nvSpPr>
        <p:spPr>
          <a:xfrm>
            <a:off x="4480560" y="493776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Chained daily series, 2026-09 = 100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7187184" y="4983480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7187184" y="49834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128" name="Shape 125"/>
          <p:cNvSpPr/>
          <p:nvPr/>
        </p:nvSpPr>
        <p:spPr>
          <a:xfrm>
            <a:off x="4160520" y="5285232"/>
            <a:ext cx="219456" cy="219456"/>
          </a:xfrm>
          <a:prstGeom prst="ellipse">
            <a:avLst/>
          </a:prstGeom>
          <a:solidFill>
            <a:srgbClr val="A85F00"/>
          </a:solidFill>
          <a:ln/>
        </p:spPr>
      </p:sp>
      <p:sp>
        <p:nvSpPr>
          <p:cNvPr id="129" name="Text 126"/>
          <p:cNvSpPr txBox="1"/>
          <p:nvPr/>
        </p:nvSpPr>
        <p:spPr>
          <a:xfrm>
            <a:off x="4160520" y="5285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30" name="Text 127"/>
          <p:cNvSpPr txBox="1"/>
          <p:nvPr/>
        </p:nvSpPr>
        <p:spPr>
          <a:xfrm>
            <a:off x="4480560" y="524408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Hedonic quality adjustment (log-fare)</a:t>
            </a:r>
            <a:endParaRPr lang="en-US" sz="1000" dirty="0"/>
          </a:p>
        </p:txBody>
      </p:sp>
      <p:sp>
        <p:nvSpPr>
          <p:cNvPr id="131" name="Shape 128"/>
          <p:cNvSpPr/>
          <p:nvPr/>
        </p:nvSpPr>
        <p:spPr>
          <a:xfrm>
            <a:off x="7187184" y="5289804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/>
        </p:spPr>
      </p:sp>
      <p:sp>
        <p:nvSpPr>
          <p:cNvPr id="132" name="Text 129"/>
          <p:cNvSpPr txBox="1"/>
          <p:nvPr/>
        </p:nvSpPr>
        <p:spPr>
          <a:xfrm>
            <a:off x="7187184" y="52898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133" name="Shape 130"/>
          <p:cNvSpPr/>
          <p:nvPr/>
        </p:nvSpPr>
        <p:spPr>
          <a:xfrm>
            <a:off x="4160520" y="5591556"/>
            <a:ext cx="219456" cy="219456"/>
          </a:xfrm>
          <a:prstGeom prst="ellipse">
            <a:avLst/>
          </a:prstGeom>
          <a:solidFill>
            <a:srgbClr val="6B7683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4160520" y="55915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135" name="Text 132"/>
          <p:cNvSpPr txBox="1"/>
          <p:nvPr/>
        </p:nvSpPr>
        <p:spPr>
          <a:xfrm>
            <a:off x="4480560" y="555040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adjustment (STL / X-13)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7187184" y="5596128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EDF0F3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7187184" y="55961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138" name="Text 135"/>
          <p:cNvSpPr txBox="1"/>
          <p:nvPr/>
        </p:nvSpPr>
        <p:spPr>
          <a:xfrm>
            <a:off x="4160520" y="583387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point ships: value · coverage · imputed share · n quotes · config hash · panel hash</a:t>
            </a:r>
            <a:endParaRPr lang="en-US" sz="950" dirty="0"/>
          </a:p>
        </p:txBody>
      </p:sp>
      <p:sp>
        <p:nvSpPr>
          <p:cNvPr id="139" name="Text 136"/>
          <p:cNvSpPr txBox="1"/>
          <p:nvPr/>
        </p:nvSpPr>
        <p:spPr>
          <a:xfrm>
            <a:off x="813816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1050" dirty="0"/>
          </a:p>
        </p:txBody>
      </p:sp>
      <p:sp>
        <p:nvSpPr>
          <p:cNvPr id="140" name="Shape 137"/>
          <p:cNvSpPr/>
          <p:nvPr/>
        </p:nvSpPr>
        <p:spPr>
          <a:xfrm>
            <a:off x="8138160" y="3621024"/>
            <a:ext cx="3639312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pic>
        <p:nvPicPr>
          <p:cNvPr id="141" name="Image 1" descr="AeroDex dashboard: index time ser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3648456"/>
            <a:ext cx="3584448" cy="1755648"/>
          </a:xfrm>
          <a:prstGeom prst="rect">
            <a:avLst/>
          </a:prstGeom>
        </p:spPr>
      </p:pic>
      <p:sp>
        <p:nvSpPr>
          <p:cNvPr id="142" name="Shape 138"/>
          <p:cNvSpPr/>
          <p:nvPr/>
        </p:nvSpPr>
        <p:spPr>
          <a:xfrm>
            <a:off x="8851392" y="3675888"/>
            <a:ext cx="2862072" cy="219456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/>
        </p:spPr>
      </p:sp>
      <p:sp>
        <p:nvSpPr>
          <p:cNvPr id="143" name="Text 139"/>
          <p:cNvSpPr txBox="1"/>
          <p:nvPr/>
        </p:nvSpPr>
        <p:spPr>
          <a:xfrm>
            <a:off x="8851392" y="3675888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A8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DATA · LABELLED ON EVERY PAGE</a:t>
            </a:r>
            <a:endParaRPr lang="en-US" sz="850" dirty="0"/>
          </a:p>
        </p:txBody>
      </p:sp>
      <p:sp>
        <p:nvSpPr>
          <p:cNvPr id="144" name="Shape 140"/>
          <p:cNvSpPr/>
          <p:nvPr/>
        </p:nvSpPr>
        <p:spPr>
          <a:xfrm>
            <a:off x="8138160" y="5504688"/>
            <a:ext cx="3639312" cy="731520"/>
          </a:xfrm>
          <a:prstGeom prst="roundRect">
            <a:avLst>
              <a:gd name="adj" fmla="val 7500"/>
            </a:avLst>
          </a:prstGeom>
          <a:solidFill>
            <a:srgbClr val="0E1B2E"/>
          </a:solidFill>
          <a:ln/>
        </p:spPr>
      </p:sp>
      <p:sp>
        <p:nvSpPr>
          <p:cNvPr id="145" name="Text 141"/>
          <p:cNvSpPr txBox="1"/>
          <p:nvPr/>
        </p:nvSpPr>
        <p:spPr>
          <a:xfrm>
            <a:off x="8275320" y="554126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FB6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aerodex verify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   c3523b87…ba27   OK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FD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REPRODUCIBLE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83080" y="914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9184" y="109728"/>
            <a:ext cx="1280160" cy="7863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09728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AeroDex</a:t>
            </a:r>
            <a:endParaRPr lang="en-US" sz="1200" dirty="0"/>
          </a:p>
        </p:txBody>
      </p:sp>
      <p:pic>
        <p:nvPicPr>
          <p:cNvPr id="5" name="Image 0" descr="Smart India Hackathon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45720"/>
            <a:ext cx="2148840" cy="9966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355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10058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SIH26056 deliverables — where we stand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1298448"/>
            <a:ext cx="6263640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1527048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15270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335024" y="13716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fare database with metadata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35024" y="160020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/ Timescale schema, append-only quote archive, normalise, validate, quarantine.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1920240"/>
            <a:ext cx="598932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084832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20848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335024" y="1929384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Index-construction module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335024" y="215798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Matched-model Jevons to Lowe on DGCA 2025 weights; imputation gate; 11 golden tests.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2478024"/>
            <a:ext cx="598932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2642616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264261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335024" y="2487168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daily-index dashboard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335024" y="271576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screens over an 11-endpoint API; every page labels fixture data.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3035808"/>
            <a:ext cx="598932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" y="3200400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E3F3E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48640" y="32004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335024" y="3044952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testing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335024" y="327355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 tests passing; API, data-dictionary, operations and methodology docs.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3593592"/>
            <a:ext cx="598932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8640" y="3758184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48640" y="37581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335024" y="3602736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collection engine (Python)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1335024" y="383133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framework, robots and rate-limit guard, 3-tier ladder done; live adapter is next.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8640" y="4151376"/>
            <a:ext cx="598932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8640" y="4315968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48640" y="43159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335024" y="416052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 split: base, taxes, fees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335024" y="438912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shows a labelled estimate from statutory rates; the index uses the all-inclusive fare.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48640" y="4709160"/>
            <a:ext cx="5989320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48640" y="4873752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548640" y="48737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1335024" y="4718304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back-test against DGCA data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335024" y="494690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runs on the fixture panel; a valid back-test needs 30 days of real quotes.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411480" y="5303520"/>
            <a:ext cx="11365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i="1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lists 5 airlines and 6 OTAs. The fixture models all 5 airlines; OTA pages are not scraped, because their terms bar automated access.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6858000" y="10058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and risks → how we overcome them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858000" y="1298448"/>
            <a:ext cx="4919472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995160" y="1463040"/>
            <a:ext cx="329184" cy="329184"/>
          </a:xfrm>
          <a:prstGeom prst="ellipse">
            <a:avLst/>
          </a:prstGeom>
          <a:solidFill>
            <a:srgbClr val="E8731A"/>
          </a:solidFill>
          <a:ln/>
        </p:spPr>
      </p:sp>
      <p:pic>
        <p:nvPicPr>
          <p:cNvPr id="49" name="Image 1" descr="/Users/boddepallinaveen/Desktop/aerodex/docs/sih-2026/build/icons/FaFileContrac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456" y="1545336"/>
            <a:ext cx="164592" cy="164592"/>
          </a:xfrm>
          <a:prstGeom prst="rect">
            <a:avLst/>
          </a:prstGeom>
        </p:spPr>
      </p:pic>
      <p:sp>
        <p:nvSpPr>
          <p:cNvPr id="50" name="Text 46"/>
          <p:cNvSpPr txBox="1"/>
          <p:nvPr/>
        </p:nvSpPr>
        <p:spPr>
          <a:xfrm>
            <a:off x="7452360" y="13716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lawful free fare feed</a:t>
            </a:r>
            <a:endParaRPr lang="en-US" sz="1100" dirty="0"/>
          </a:p>
        </p:txBody>
      </p:sp>
      <p:sp>
        <p:nvSpPr>
          <p:cNvPr id="51" name="Text 47"/>
          <p:cNvSpPr txBox="1"/>
          <p:nvPr/>
        </p:nvSpPr>
        <p:spPr>
          <a:xfrm>
            <a:off x="7452360" y="16184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 terms bar automation; Amadeus self-service closed 17 Jul 2026. Licensed fare-search API for the MVP; MoSPI / DGCA route pursued in parallel.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6995160" y="2130552"/>
            <a:ext cx="4645152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6995160" y="2240280"/>
            <a:ext cx="329184" cy="329184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54" name="Image 2" descr="/Users/boddepallinaveen/Desktop/aerodex/docs/sih-2026/build/icons/FaBa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2322576"/>
            <a:ext cx="164592" cy="164592"/>
          </a:xfrm>
          <a:prstGeom prst="rect">
            <a:avLst/>
          </a:prstGeom>
        </p:spPr>
      </p:pic>
      <p:sp>
        <p:nvSpPr>
          <p:cNvPr id="55" name="Text 50"/>
          <p:cNvSpPr txBox="1"/>
          <p:nvPr/>
        </p:nvSpPr>
        <p:spPr>
          <a:xfrm>
            <a:off x="7452360" y="21488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source blocks or changes</a:t>
            </a:r>
            <a:endParaRPr lang="en-US" sz="1100" dirty="0"/>
          </a:p>
        </p:txBody>
      </p:sp>
      <p:sp>
        <p:nvSpPr>
          <p:cNvPr id="56" name="Text 51"/>
          <p:cNvSpPr txBox="1"/>
          <p:nvPr/>
        </p:nvSpPr>
        <p:spPr>
          <a:xfrm>
            <a:off x="7452360" y="23957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it and publish the coverage ratio. Imputation is capped at 5% or the run is refused.</a:t>
            </a:r>
            <a:endParaRPr lang="en-US" sz="1000" dirty="0"/>
          </a:p>
        </p:txBody>
      </p:sp>
      <p:sp>
        <p:nvSpPr>
          <p:cNvPr id="57" name="Shape 52"/>
          <p:cNvSpPr/>
          <p:nvPr/>
        </p:nvSpPr>
        <p:spPr>
          <a:xfrm>
            <a:off x="6995160" y="2907792"/>
            <a:ext cx="4645152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6995160" y="3017520"/>
            <a:ext cx="329184" cy="329184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59" name="Image 3" descr="/Users/boddepallinaveen/Desktop/aerodex/docs/sih-2026/build/icons/FaTachometerAl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3099816"/>
            <a:ext cx="164592" cy="164592"/>
          </a:xfrm>
          <a:prstGeom prst="rect">
            <a:avLst/>
          </a:prstGeom>
        </p:spPr>
      </p:pic>
      <p:sp>
        <p:nvSpPr>
          <p:cNvPr id="60" name="Text 54"/>
          <p:cNvSpPr txBox="1"/>
          <p:nvPr/>
        </p:nvSpPr>
        <p:spPr>
          <a:xfrm>
            <a:off x="7452360" y="292608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quota and cost</a:t>
            </a:r>
            <a:endParaRPr lang="en-US" sz="1100" dirty="0"/>
          </a:p>
        </p:txBody>
      </p:sp>
      <p:sp>
        <p:nvSpPr>
          <p:cNvPr id="61" name="Text 55"/>
          <p:cNvSpPr txBox="1"/>
          <p:nvPr/>
        </p:nvSpPr>
        <p:spPr>
          <a:xfrm>
            <a:off x="7452360" y="3172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1,260 stratum-slots a day (~1,155 after overlap suppression), sized to a ~$99/month plan.</a:t>
            </a:r>
            <a:endParaRPr lang="en-US" sz="1000" dirty="0"/>
          </a:p>
        </p:txBody>
      </p:sp>
      <p:sp>
        <p:nvSpPr>
          <p:cNvPr id="62" name="Shape 56"/>
          <p:cNvSpPr/>
          <p:nvPr/>
        </p:nvSpPr>
        <p:spPr>
          <a:xfrm>
            <a:off x="6995160" y="3685032"/>
            <a:ext cx="4645152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6995160" y="3794760"/>
            <a:ext cx="329184" cy="329184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64" name="Image 4" descr="/Users/boddepallinaveen/Desktop/aerodex/docs/sih-2026/build/icons/FaTags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56" y="3877056"/>
            <a:ext cx="164592" cy="164592"/>
          </a:xfrm>
          <a:prstGeom prst="rect">
            <a:avLst/>
          </a:prstGeom>
        </p:spPr>
      </p:pic>
      <p:sp>
        <p:nvSpPr>
          <p:cNvPr id="65" name="Text 58"/>
          <p:cNvSpPr txBox="1"/>
          <p:nvPr/>
        </p:nvSpPr>
        <p:spPr>
          <a:xfrm>
            <a:off x="7452360" y="37033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 attributes missing</a:t>
            </a:r>
            <a:endParaRPr lang="en-US" sz="1100" dirty="0"/>
          </a:p>
        </p:txBody>
      </p:sp>
      <p:sp>
        <p:nvSpPr>
          <p:cNvPr id="66" name="Text 59"/>
          <p:cNvSpPr txBox="1"/>
          <p:nvPr/>
        </p:nvSpPr>
        <p:spPr>
          <a:xfrm>
            <a:off x="7452360" y="39502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Hedonic set cut to the fields the source returns; matched-model comparison stays in force.</a:t>
            </a:r>
            <a:endParaRPr lang="en-US" sz="1000" dirty="0"/>
          </a:p>
        </p:txBody>
      </p:sp>
      <p:sp>
        <p:nvSpPr>
          <p:cNvPr id="67" name="Shape 60"/>
          <p:cNvSpPr/>
          <p:nvPr/>
        </p:nvSpPr>
        <p:spPr>
          <a:xfrm>
            <a:off x="6995160" y="4462272"/>
            <a:ext cx="4645152" cy="0"/>
          </a:xfrm>
          <a:prstGeom prst="line">
            <a:avLst/>
          </a:prstGeom>
          <a:noFill/>
          <a:ln w="9525">
            <a:solidFill>
              <a:srgbClr val="E6ECF3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6995160" y="4572000"/>
            <a:ext cx="329184" cy="329184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69" name="Image 5" descr="/Users/boddepallinaveen/Desktop/aerodex/docs/sih-2026/build/icons/FaShieldAl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4654296"/>
            <a:ext cx="164592" cy="164592"/>
          </a:xfrm>
          <a:prstGeom prst="rect">
            <a:avLst/>
          </a:prstGeom>
        </p:spPr>
      </p:pic>
      <p:sp>
        <p:nvSpPr>
          <p:cNvPr id="70" name="Text 62"/>
          <p:cNvSpPr txBox="1"/>
          <p:nvPr/>
        </p:nvSpPr>
        <p:spPr>
          <a:xfrm>
            <a:off x="7452360" y="44805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read as a measurement</a:t>
            </a:r>
            <a:endParaRPr lang="en-US" sz="1100" dirty="0"/>
          </a:p>
        </p:txBody>
      </p:sp>
      <p:sp>
        <p:nvSpPr>
          <p:cNvPr id="71" name="Text 63"/>
          <p:cNvSpPr txBox="1"/>
          <p:nvPr/>
        </p:nvSpPr>
        <p:spPr>
          <a:xfrm>
            <a:off x="7452360" y="47274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data_source tag on every API response, banner on every page, refusal in the publisher.</a:t>
            </a:r>
            <a:endParaRPr lang="en-US" sz="1000" dirty="0"/>
          </a:p>
        </p:txBody>
      </p:sp>
      <p:sp>
        <p:nvSpPr>
          <p:cNvPr id="72" name="Text 64"/>
          <p:cNvSpPr txBox="1"/>
          <p:nvPr/>
        </p:nvSpPr>
        <p:spPr>
          <a:xfrm>
            <a:off x="411480" y="56327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</a:t>
            </a:r>
            <a:endParaRPr lang="en-US" sz="1050" dirty="0"/>
          </a:p>
        </p:txBody>
      </p:sp>
      <p:sp>
        <p:nvSpPr>
          <p:cNvPr id="73" name="Shape 65"/>
          <p:cNvSpPr/>
          <p:nvPr/>
        </p:nvSpPr>
        <p:spPr>
          <a:xfrm>
            <a:off x="1325880" y="5596128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F5F9FD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4" name="Shape 66"/>
          <p:cNvSpPr/>
          <p:nvPr/>
        </p:nvSpPr>
        <p:spPr>
          <a:xfrm>
            <a:off x="1417320" y="5705856"/>
            <a:ext cx="329184" cy="329184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75" name="Image 6" descr="/Users/boddepallinaveen/Desktop/aerodex/docs/sih-2026/build/icons/FaRupeeSign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5788152"/>
            <a:ext cx="164592" cy="164592"/>
          </a:xfrm>
          <a:prstGeom prst="rect">
            <a:avLst/>
          </a:prstGeom>
        </p:spPr>
      </p:pic>
      <p:sp>
        <p:nvSpPr>
          <p:cNvPr id="76" name="Text 67"/>
          <p:cNvSpPr txBox="1"/>
          <p:nvPr/>
        </p:nvSpPr>
        <p:spPr>
          <a:xfrm>
            <a:off x="1819656" y="561441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30-day demo run ≈ $25; the full 60-route panel ≈ $99/month (provider pages, 25 Aug 2026).</a:t>
            </a:r>
            <a:endParaRPr lang="en-US" sz="950" dirty="0"/>
          </a:p>
        </p:txBody>
      </p:sp>
      <p:sp>
        <p:nvSpPr>
          <p:cNvPr id="77" name="Shape 68"/>
          <p:cNvSpPr/>
          <p:nvPr/>
        </p:nvSpPr>
        <p:spPr>
          <a:xfrm>
            <a:off x="4818888" y="5596128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F5F9FD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>
            <a:off x="4910328" y="5705856"/>
            <a:ext cx="329184" cy="329184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79" name="Image 7" descr="/Users/boddepallinaveen/Desktop/aerodex/docs/sih-2026/build/icons/FaLandmark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4" y="5788152"/>
            <a:ext cx="164592" cy="164592"/>
          </a:xfrm>
          <a:prstGeom prst="rect">
            <a:avLst/>
          </a:prstGeom>
        </p:spPr>
      </p:pic>
      <p:sp>
        <p:nvSpPr>
          <p:cNvPr id="80" name="Text 70"/>
          <p:cNvSpPr txBox="1"/>
          <p:nvPr/>
        </p:nvSpPr>
        <p:spPr>
          <a:xfrm>
            <a:off x="5312664" y="561441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₹0-recurring configuration on free tiers is kept for a ministry handover.</a:t>
            </a:r>
            <a:endParaRPr lang="en-US" sz="950" dirty="0"/>
          </a:p>
        </p:txBody>
      </p:sp>
      <p:sp>
        <p:nvSpPr>
          <p:cNvPr id="81" name="Shape 71"/>
          <p:cNvSpPr/>
          <p:nvPr/>
        </p:nvSpPr>
        <p:spPr>
          <a:xfrm>
            <a:off x="8311896" y="5596128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F5F9FD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8403336" y="5705856"/>
            <a:ext cx="329184" cy="329184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83" name="Image 8" descr="/Users/boddepallinaveen/Desktop/aerodex/docs/sih-2026/build/icons/FaRoute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5632" y="5788152"/>
            <a:ext cx="164592" cy="164592"/>
          </a:xfrm>
          <a:prstGeom prst="rect">
            <a:avLst/>
          </a:prstGeom>
        </p:spPr>
      </p:pic>
      <p:sp>
        <p:nvSpPr>
          <p:cNvPr id="84" name="Text 73"/>
          <p:cNvSpPr txBox="1"/>
          <p:nvPr/>
        </p:nvSpPr>
        <p:spPr>
          <a:xfrm>
            <a:off x="8805672" y="561441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Now: pipeline + dashboard. Next: licensed adapter, 30 real days. Later: hedonic, seasonal, institutional feed.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83080" y="914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9184" y="109728"/>
            <a:ext cx="1280160" cy="7863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09728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AeroDex</a:t>
            </a:r>
            <a:endParaRPr lang="en-US" sz="1200" dirty="0"/>
          </a:p>
        </p:txBody>
      </p:sp>
      <p:pic>
        <p:nvPicPr>
          <p:cNvPr id="5" name="Image 0" descr="Smart India Hackathon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45720"/>
            <a:ext cx="2148840" cy="9966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355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100584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impact on the target audience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1298448"/>
            <a:ext cx="5669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1499616"/>
            <a:ext cx="438912" cy="438912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12" name="Image 1" descr="/Users/boddepallinaveen/Desktop/aerodex/docs/sih-2026/build/icons/FaLandmar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934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13624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MoSPI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60934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daily, route-level series beneath the monthly CPI airfare item, with coverage and imputation disclosed for every point.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1480" y="2212848"/>
            <a:ext cx="5669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2414016"/>
            <a:ext cx="438912" cy="438912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17" name="Image 2" descr="/Users/boddepallinaveen/Desktop/aerodex/docs/sih-2026/build/icons/FaPlaneDepartur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2374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43000" y="22768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DGCA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252374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Tariff spot checks become a continuous, horizon-controlled series: which routes move, how early, and why.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11480" y="3127248"/>
            <a:ext cx="5669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3328416"/>
            <a:ext cx="438912" cy="438912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22" name="Image 3" descr="/Users/boddepallinaveen/Desktop/aerodex/docs/sih-2026/build/icons/FaUs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438144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43000" y="31912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Travellers and researchers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43000" y="343814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dashboard, API and method: what a festival window costs, how far ahead to book, LCC against full-service.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11480" y="4041648"/>
            <a:ext cx="5669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48640" y="4242816"/>
            <a:ext cx="438912" cy="438912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27" name="Image 4" descr="/Users/boddepallinaveen/Desktop/aerodex/docs/sih-2026/build/icons/FaCodeBranch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352544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43000" y="41056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wider statistical system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143000" y="435254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archive, hashed config, pure function and golden tests are reusable for any high-frequency price.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6263640" y="1005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the solution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263640" y="1298448"/>
            <a:ext cx="2724912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391656" y="1417320"/>
            <a:ext cx="365760" cy="36576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33" name="Image 5" descr="/Users/boddepallinaveen/Desktop/aerodex/docs/sih-2026/build/icons/FaUsers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1508760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48856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6391656" y="1901952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lnSpc>
                <a:spcPct val="97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through a disclosed method and open code</a:t>
            </a:r>
            <a:endParaRPr lang="en-US" sz="1050" dirty="0"/>
          </a:p>
          <a:p>
            <a:pPr algn="l" marL="114300" indent="-114300">
              <a:lnSpc>
                <a:spcPct val="97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Better-informed travel decisions</a:t>
            </a:r>
            <a:endParaRPr lang="en-US" sz="1050" dirty="0"/>
          </a:p>
          <a:p>
            <a:pPr algn="l" marL="114300" indent="-114300">
              <a:lnSpc>
                <a:spcPct val="97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price people feel, measured in public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9052560" y="1298448"/>
            <a:ext cx="2724912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9180576" y="1417320"/>
            <a:ext cx="365760" cy="365760"/>
          </a:xfrm>
          <a:prstGeom prst="ellipse">
            <a:avLst/>
          </a:prstGeom>
          <a:solidFill>
            <a:srgbClr val="138A3E"/>
          </a:solidFill>
          <a:ln/>
        </p:spPr>
      </p:sp>
      <p:pic>
        <p:nvPicPr>
          <p:cNvPr id="38" name="Image 6" descr="/Users/boddepallinaveen/Desktop/aerodex/docs/sih-2026/build/icons/FaRupeeSign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2016" y="1508760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637776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250" dirty="0"/>
          </a:p>
        </p:txBody>
      </p:sp>
      <p:sp>
        <p:nvSpPr>
          <p:cNvPr id="40" name="Text 31"/>
          <p:cNvSpPr txBox="1"/>
          <p:nvPr/>
        </p:nvSpPr>
        <p:spPr>
          <a:xfrm>
            <a:off x="9180576" y="1901952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lnSpc>
                <a:spcPct val="97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demo ≈ $25; full panel ≈ $99/month</a:t>
            </a:r>
            <a:endParaRPr lang="en-US" sz="1050" dirty="0"/>
          </a:p>
          <a:p>
            <a:pPr algn="l" marL="114300" indent="-114300">
              <a:lnSpc>
                <a:spcPct val="97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₹0-recurring handover configuration</a:t>
            </a:r>
            <a:endParaRPr lang="en-US" sz="1050" dirty="0"/>
          </a:p>
          <a:p>
            <a:pPr algn="l" marL="114300" indent="-114300">
              <a:lnSpc>
                <a:spcPct val="97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read on transport prices for policy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263640" y="3127248"/>
            <a:ext cx="2724912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6391656" y="3246120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43" name="Image 7" descr="/Users/boddepallinaveen/Desktop/aerodex/docs/sih-2026/build/icons/FaMicrochip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3096" y="3337560"/>
            <a:ext cx="182880" cy="18288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6848856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Technological</a:t>
            </a:r>
            <a:endParaRPr lang="en-US" sz="1250" dirty="0"/>
          </a:p>
        </p:txBody>
      </p:sp>
      <p:sp>
        <p:nvSpPr>
          <p:cNvPr id="45" name="Text 35"/>
          <p:cNvSpPr txBox="1"/>
          <p:nvPr/>
        </p:nvSpPr>
        <p:spPr>
          <a:xfrm>
            <a:off x="6391656" y="3730752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lnSpc>
                <a:spcPct val="97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API and a reproducible pipeline pattern</a:t>
            </a:r>
            <a:endParaRPr lang="en-US" sz="1050" dirty="0"/>
          </a:p>
          <a:p>
            <a:pPr algn="l" marL="114300" indent="-114300">
              <a:lnSpc>
                <a:spcPct val="97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Pure-function index, golden tests, hash verify</a:t>
            </a:r>
            <a:endParaRPr lang="en-US" sz="1050" dirty="0"/>
          </a:p>
          <a:p>
            <a:pPr algn="l" marL="114300" indent="-114300">
              <a:lnSpc>
                <a:spcPct val="97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engine extends to other high-frequency prices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9052560" y="3127248"/>
            <a:ext cx="2724912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9180576" y="3246120"/>
            <a:ext cx="365760" cy="365760"/>
          </a:xfrm>
          <a:prstGeom prst="ellipse">
            <a:avLst/>
          </a:prstGeom>
          <a:solidFill>
            <a:srgbClr val="E8731A"/>
          </a:solidFill>
          <a:ln/>
        </p:spPr>
      </p:sp>
      <p:pic>
        <p:nvPicPr>
          <p:cNvPr id="48" name="Image 8" descr="/Users/boddepallinaveen/Desktop/aerodex/docs/sih-2026/build/icons/FaLeaf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2016" y="3337560"/>
            <a:ext cx="182880" cy="18288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637776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1250" dirty="0"/>
          </a:p>
        </p:txBody>
      </p:sp>
      <p:sp>
        <p:nvSpPr>
          <p:cNvPr id="50" name="Text 39"/>
          <p:cNvSpPr txBox="1"/>
          <p:nvPr/>
        </p:nvSpPr>
        <p:spPr>
          <a:xfrm>
            <a:off x="9180576" y="3730752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lnSpc>
                <a:spcPct val="97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collection replaces field visits for this item</a:t>
            </a:r>
            <a:endParaRPr lang="en-US" sz="1050" dirty="0"/>
          </a:p>
          <a:p>
            <a:pPr algn="l" marL="114300" indent="-114300">
              <a:lnSpc>
                <a:spcPct val="97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Sized for one small VM: 2 OCPU, 12 GB</a:t>
            </a:r>
            <a:endParaRPr lang="en-US" sz="1050" dirty="0"/>
          </a:p>
          <a:p>
            <a:pPr algn="l" marL="114300" indent="-114300">
              <a:lnSpc>
                <a:spcPct val="97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modest benefit, stated plainly</a:t>
            </a:r>
            <a:endParaRPr lang="en-US" sz="1050" dirty="0"/>
          </a:p>
        </p:txBody>
      </p:sp>
      <p:sp>
        <p:nvSpPr>
          <p:cNvPr id="51" name="Text 40"/>
          <p:cNvSpPr txBox="1"/>
          <p:nvPr/>
        </p:nvSpPr>
        <p:spPr>
          <a:xfrm>
            <a:off x="411480" y="5029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INDEPENDENTLY CORROBORATED BY MoSPI’s OWN RECORD</a:t>
            </a:r>
            <a:endParaRPr lang="en-US" sz="1050" dirty="0"/>
          </a:p>
        </p:txBody>
      </p:sp>
      <p:sp>
        <p:nvSpPr>
          <p:cNvPr id="52" name="Shape 41"/>
          <p:cNvSpPr/>
          <p:nvPr/>
        </p:nvSpPr>
        <p:spPr>
          <a:xfrm>
            <a:off x="411480" y="5285232"/>
            <a:ext cx="3721608" cy="566928"/>
          </a:xfrm>
          <a:prstGeom prst="roundRect">
            <a:avLst>
              <a:gd name="adj" fmla="val 12903"/>
            </a:avLst>
          </a:prstGeom>
          <a:solidFill>
            <a:srgbClr val="F5F9FD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3" name="Text 42"/>
          <p:cNvSpPr txBox="1"/>
          <p:nvPr/>
        </p:nvSpPr>
        <p:spPr>
          <a:xfrm>
            <a:off x="521208" y="528523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CPI 2024 FAQ, Q20–21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Jevons for elementary indices, Young / modified Laspeyres above — the same family AeroDex uses.</a:t>
            </a:r>
            <a:endParaRPr lang="en-US" sz="950" dirty="0"/>
          </a:p>
        </p:txBody>
      </p:sp>
      <p:sp>
        <p:nvSpPr>
          <p:cNvPr id="54" name="Shape 43"/>
          <p:cNvSpPr/>
          <p:nvPr/>
        </p:nvSpPr>
        <p:spPr>
          <a:xfrm>
            <a:off x="4233672" y="5285232"/>
            <a:ext cx="3721608" cy="566928"/>
          </a:xfrm>
          <a:prstGeom prst="roundRect">
            <a:avLst>
              <a:gd name="adj" fmla="val 12903"/>
            </a:avLst>
          </a:prstGeom>
          <a:solidFill>
            <a:srgbClr val="F5F9FD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4343400" y="528523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IMF TA, Recommendation 11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Wider advance-purchase timings (14 and 21 days) and the airline as a price-determining characteristic.</a:t>
            </a:r>
            <a:endParaRPr lang="en-US" sz="950" dirty="0"/>
          </a:p>
        </p:txBody>
      </p:sp>
      <p:sp>
        <p:nvSpPr>
          <p:cNvPr id="56" name="Shape 45"/>
          <p:cNvSpPr/>
          <p:nvPr/>
        </p:nvSpPr>
        <p:spPr>
          <a:xfrm>
            <a:off x="8055864" y="5285232"/>
            <a:ext cx="3721608" cy="566928"/>
          </a:xfrm>
          <a:prstGeom prst="roundRect">
            <a:avLst>
              <a:gd name="adj" fmla="val 12903"/>
            </a:avLst>
          </a:prstGeom>
          <a:solidFill>
            <a:srgbClr val="F5F9FD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7" name="Text 46"/>
          <p:cNvSpPr txBox="1"/>
          <p:nvPr/>
        </p:nvSpPr>
        <p:spPr>
          <a:xfrm>
            <a:off x="8165592" y="528523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Group, Rec. 11(a)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DGCA already holds min / max tariff data for all routes — a documented institutional route to data.</a:t>
            </a:r>
            <a:endParaRPr lang="en-US" sz="950" dirty="0"/>
          </a:p>
        </p:txBody>
      </p:sp>
      <p:sp>
        <p:nvSpPr>
          <p:cNvPr id="58" name="Shape 47"/>
          <p:cNvSpPr/>
          <p:nvPr/>
        </p:nvSpPr>
        <p:spPr>
          <a:xfrm>
            <a:off x="411480" y="5925312"/>
            <a:ext cx="2761488" cy="329184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59" name="Text 48"/>
          <p:cNvSpPr txBox="1"/>
          <p:nvPr/>
        </p:nvSpPr>
        <p:spPr>
          <a:xfrm>
            <a:off x="411480" y="592531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17.18 · timely, reliable data</a:t>
            </a:r>
            <a:endParaRPr lang="en-US" sz="1000" dirty="0"/>
          </a:p>
        </p:txBody>
      </p:sp>
      <p:sp>
        <p:nvSpPr>
          <p:cNvPr id="60" name="Shape 49"/>
          <p:cNvSpPr/>
          <p:nvPr/>
        </p:nvSpPr>
        <p:spPr>
          <a:xfrm>
            <a:off x="3282696" y="5925312"/>
            <a:ext cx="2761488" cy="329184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61" name="Text 50"/>
          <p:cNvSpPr txBox="1"/>
          <p:nvPr/>
        </p:nvSpPr>
        <p:spPr>
          <a:xfrm>
            <a:off x="3282696" y="592531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9 · innovation, infrastructure</a:t>
            </a:r>
            <a:endParaRPr lang="en-US" sz="1000" dirty="0"/>
          </a:p>
        </p:txBody>
      </p:sp>
      <p:sp>
        <p:nvSpPr>
          <p:cNvPr id="62" name="Shape 51"/>
          <p:cNvSpPr/>
          <p:nvPr/>
        </p:nvSpPr>
        <p:spPr>
          <a:xfrm>
            <a:off x="6153912" y="5925312"/>
            <a:ext cx="2761488" cy="329184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63" name="Text 52"/>
          <p:cNvSpPr txBox="1"/>
          <p:nvPr/>
        </p:nvSpPr>
        <p:spPr>
          <a:xfrm>
            <a:off x="6153912" y="592531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India</a:t>
            </a:r>
            <a:endParaRPr lang="en-US" sz="1000" dirty="0"/>
          </a:p>
        </p:txBody>
      </p:sp>
      <p:sp>
        <p:nvSpPr>
          <p:cNvPr id="64" name="Shape 53"/>
          <p:cNvSpPr/>
          <p:nvPr/>
        </p:nvSpPr>
        <p:spPr>
          <a:xfrm>
            <a:off x="9025128" y="5925312"/>
            <a:ext cx="2761488" cy="329184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65" name="Text 54"/>
          <p:cNvSpPr txBox="1"/>
          <p:nvPr/>
        </p:nvSpPr>
        <p:spPr>
          <a:xfrm>
            <a:off x="9025128" y="592531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Atmanirbhar Bharat · open source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83080" y="914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9184" y="109728"/>
            <a:ext cx="1280160" cy="7863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09728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AeroDex</a:t>
            </a:r>
            <a:endParaRPr lang="en-US" sz="1200" dirty="0"/>
          </a:p>
        </p:txBody>
      </p:sp>
      <p:pic>
        <p:nvPicPr>
          <p:cNvPr id="5" name="Image 0" descr="Smart India Hackathon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45720"/>
            <a:ext cx="2148840" cy="9966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355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10058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others build an airfare index — and where AeroDex sits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1298448"/>
            <a:ext cx="7543800" cy="310896"/>
          </a:xfrm>
          <a:prstGeom prst="roundRect">
            <a:avLst>
              <a:gd name="adj" fmla="val 14706"/>
            </a:avLst>
          </a:prstGeom>
          <a:solidFill>
            <a:srgbClr val="0B25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2920" y="12984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783080" y="12984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fares are obtained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12984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12984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 AeroDex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1480" y="1627632"/>
            <a:ext cx="75438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DD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627632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</a:t>
            </a:r>
            <a:endParaRPr lang="en-US" sz="10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CAAC · TravelSky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783080" y="16276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state reservation system sees every domestic fare; the regulator sets fare bands.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389120" y="162763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ticket-price index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16276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rails: India needs a data mandate.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2249424"/>
            <a:ext cx="7543800" cy="594360"/>
          </a:xfrm>
          <a:prstGeom prst="roundRect">
            <a:avLst>
              <a:gd name="adj" fmla="val 6154"/>
            </a:avLst>
          </a:prstGeom>
          <a:solidFill>
            <a:srgbClr val="F5F9FD"/>
          </a:solidFill>
          <a:ln w="9525">
            <a:solidFill>
              <a:srgbClr val="D3DD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2249424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</a:t>
            </a:r>
            <a:endParaRPr lang="en-US" sz="10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· DOT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783080" y="22494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mandatory ticket sample (14 CFR 241) selects routes; BLS prices them from a fare database.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389120" y="224942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CPI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224942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routes from real tickets; fixed advance-purchase specs.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11480" y="2871216"/>
            <a:ext cx="75438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DDE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2871216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· Australia</a:t>
            </a:r>
            <a:endParaRPr lang="en-US" sz="10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4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783080" y="28712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statistics office runs its own web-scraping unit on a fixed route panel.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4389120" y="287121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Monthly, priced N days ahead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0" y="287121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panel and fixed windows: AeroDex’s design.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11480" y="3493008"/>
            <a:ext cx="7543800" cy="594360"/>
          </a:xfrm>
          <a:prstGeom prst="roundRect">
            <a:avLst>
              <a:gd name="adj" fmla="val 6154"/>
            </a:avLst>
          </a:prstGeom>
          <a:solidFill>
            <a:srgbClr val="F5F9FD"/>
          </a:solidFill>
          <a:ln w="9525">
            <a:solidFill>
              <a:srgbClr val="D3DD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3493008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today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1783080" y="34930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CPI 2024 collects airfare from online platforms; airlines refused DGCA’s passenger-level data request (Mar 2026).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4389120" y="349300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0" y="34930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PS SIH26056 targets.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4114800"/>
            <a:ext cx="75438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DDE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4114800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scraper prototype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1783080" y="4114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OTA scraping against site terms; breaks when the page layout changes.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4389120" y="411480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hoc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0" y="4114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reproducible or defensible as an official statistic.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11480" y="4736592"/>
            <a:ext cx="7543800" cy="594360"/>
          </a:xfrm>
          <a:prstGeom prst="roundRect">
            <a:avLst>
              <a:gd name="adj" fmla="val 6154"/>
            </a:avLst>
          </a:prstGeom>
          <a:solidFill>
            <a:srgbClr val="EAF3FB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02920" y="4736592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AeroDex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1783080" y="47365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fare API now, institutional feed as the target; fixed 60 × 7 panel.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4389120" y="473659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Daily, 3 IST slots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0" y="47365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reproducible bridge to a mandate-based feed.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411480" y="54315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RESEARCH RECORD (docs/research/ in the repository)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11480" y="5705856"/>
            <a:ext cx="1810512" cy="566928"/>
          </a:xfrm>
          <a:prstGeom prst="roundRect">
            <a:avLst>
              <a:gd name="adj" fmla="val 12903"/>
            </a:avLst>
          </a:prstGeom>
          <a:solidFill>
            <a:srgbClr val="F5F9FD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57200" y="570585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1280160" y="5705856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passes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2313432" y="5705856"/>
            <a:ext cx="1810512" cy="566928"/>
          </a:xfrm>
          <a:prstGeom prst="roundRect">
            <a:avLst>
              <a:gd name="adj" fmla="val 12903"/>
            </a:avLst>
          </a:prstGeom>
          <a:solidFill>
            <a:srgbClr val="F5F9FD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359152" y="570585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3182112" y="5705856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reviewed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215384" y="5705856"/>
            <a:ext cx="1810512" cy="566928"/>
          </a:xfrm>
          <a:prstGeom prst="roundRect">
            <a:avLst>
              <a:gd name="adj" fmla="val 12903"/>
            </a:avLst>
          </a:prstGeom>
          <a:solidFill>
            <a:srgbClr val="F5F9FD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261104" y="570585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× 29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5084064" y="5705856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× axes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6117336" y="5705856"/>
            <a:ext cx="1810512" cy="566928"/>
          </a:xfrm>
          <a:prstGeom prst="roundRect">
            <a:avLst>
              <a:gd name="adj" fmla="val 12903"/>
            </a:avLst>
          </a:prstGeom>
          <a:solidFill>
            <a:srgbClr val="F5F9FD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163056" y="570585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6986016" y="5705856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verdicts revised, all kept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8138160" y="1005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8138160" y="1298448"/>
            <a:ext cx="3639312" cy="4956048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275320" y="1389888"/>
            <a:ext cx="338328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MoSPI, FAQs on CPI 2024 series (Q20–21, Q27) — 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u="sng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mospi.gov.in</a:t>
            </a:r>
            <a:endParaRPr lang="en-US" sz="1000" dirty="0"/>
          </a:p>
          <a:p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MoSPI, Expert Group Report on CPI updation (IMF TA Rec. 11; Rec. 11(a)) — 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u="sng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mospi.gov.in</a:t>
            </a:r>
            <a:endParaRPr lang="en-US" sz="1000" dirty="0"/>
          </a:p>
          <a:p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ILO / IMF / OECD / UNECE / World Bank, Consumer Price Index Manual: Concepts and Methods</a:t>
            </a:r>
            <a:endParaRPr lang="en-US" sz="1000" dirty="0"/>
          </a:p>
          <a:p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Eurostat, Practical guidelines on web scraping for the HICP (2020)</a:t>
            </a:r>
            <a:endParaRPr lang="en-US" sz="1000" dirty="0"/>
          </a:p>
          <a:p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 BLS, CPI airline fares — 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u="sng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bls.gov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DOT O&amp;D Survey, 14 CFR Part 241</a:t>
            </a:r>
            <a:endParaRPr lang="en-US" sz="1000" dirty="0"/>
          </a:p>
          <a:p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UK ONS and ABS, web scraping in consumer price statistics</a:t>
            </a:r>
            <a:endParaRPr lang="en-US" sz="1000" dirty="0"/>
          </a:p>
          <a:p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DGCA city-pair traffic — 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u="sng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Vonter/india-aviation-traffic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(ODbL)</a:t>
            </a:r>
            <a:endParaRPr lang="en-US" sz="1000" dirty="0"/>
          </a:p>
          <a:p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Collection of Statistics Act, 2008 — 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u="sng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mospi.gov.in</a:t>
            </a:r>
            <a:endParaRPr lang="en-US" sz="1000" dirty="0"/>
          </a:p>
          <a:p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RFC 9309, Robots Exclusion Protocol — 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u="sng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rfc-editor.org</a:t>
            </a:r>
            <a:endParaRPr lang="en-US" sz="1000" dirty="0"/>
          </a:p>
          <a:p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MoSPI, CPI: changes in the revised series (base 2012 = 100) — 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u="sng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cpi.mospi.gov.in</a:t>
            </a:r>
            <a:endParaRPr lang="en-US" sz="1000" dirty="0"/>
          </a:p>
          <a:p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Code, tests and decision log — </a:t>
            </a:r>
            <a:pPr algn="l" indent="0" marL="0">
              <a:lnSpc>
                <a:spcPct val="97000"/>
              </a:lnSpc>
              <a:spcAft>
                <a:spcPts val="600"/>
              </a:spcAft>
              <a:buNone/>
            </a:pPr>
            <a:r>
              <a:rPr lang="en-US" sz="1000" u="sng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github.com/Naveen-Boddepalli/aerodex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Smart India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AeroDex — SIH 2026 Idea Submission (PS SIH26056)</dc:title>
  <dc:subject>Real-time Airfare Price Index for India</dc:subject>
  <dc:creator>AeroDex</dc:creator>
  <cp:lastModifiedBy>AeroDex</cp:lastModifiedBy>
  <cp:revision>1</cp:revision>
  <dcterms:created xsi:type="dcterms:W3CDTF">2026-09-24T08:03:58Z</dcterms:created>
  <dcterms:modified xsi:type="dcterms:W3CDTF">2026-09-24T08:03:58Z</dcterms:modified>
</cp:coreProperties>
</file>